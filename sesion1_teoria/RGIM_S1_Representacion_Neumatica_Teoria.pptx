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Bienvenida. Esta semana es la única dedicada a neumática: hoy aprendemos a LEER y DIBUJAR esquemas neumáticos (norma ISO 1219); en la práctica dirigida los construiremos y simularemos en FluidSim. El foco es la representación, no el dimensionamiento.</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 Dejar claro el alcance. Lo que NO veremos (y sí se ve en cursos de automatización): cálculo de consumo de aire, dimensionamiento de válvulas, electroneumática, PLC, Karnaugh/Grafcet.</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Contexto rápido. Mencionar ejemplos: pinzas de robots, prensas de estampado, puertas de bus, clasificadores en fajas (como el ejercicio de la práctica). Idea clave de KU Leuven: el aire comprimido es CARO (fugas) y PELIGROSO (energía almacenada) – por eso se dibuja y se verifica con cuidado.</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Recorrer de izquierda a derecha. En los esquemas de FluidSim NO dibujamos toda la red: cada puerto 1 lleva un símbolo de fuente (círculo con triángulo) que representa la alimentación ya tratada por la unidad de mantenimiento.</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Bloque de 30 min. Mensaje: un símbolo describe la FUNCIÓN, no la construcción.</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Simple efecto: el aire empuja en un sentido y el resorte retorna; un solo puerto. Doble efecto: dos puertos, el aire mueve en ambos sentidos – es el que usaremos en casi todos los ejercicios. Convención: cilindros horizontales, dibujados RETRAÍDOS (posición de reposo).</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(6 min) Explicar con calma: cada cuadro es una posición estable; las flechas indican el paso de aire, la T es un puerto bloqueado. Los puertos (líneas externas) se dibujan SOLO en el cuadro de reposo. Para 'ver' la otra posición imaginar que el cuadro se desliza hasta quedar bajo los puertos. Pedir a los alumnos que digan qué pasa con 4 y 2 al pilotar 14.</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min) 3/2 = 3 vías (puertos de trabajo) y 2 posiciones. Recalcar 3/2 NC (normalmente cerrada) como 'válvula de señal' típica y 5/2 como válvula de potencia de cilindros de doble efecto. La 4/2 del enunciado de la cuchara es funcionalmente igual a una 5/2 con los escapes unidos. El número del pilotaje dice qué une: 14 → une 1 con 4; 12 → une 1 con 2.</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min) Manuales (pulsador, palanca, pedal), mecánicos (rodillo; rodillo escamoteable que solo actúa en un sentido; resorte) y neumáticos (pilotaje). El rodillo es el 'final de carrera' neumático: se dibuja en la válvula y su nombre (a1) se pone también como marca sobre el vástago del cilindro.</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Clave para los ejercicios: la válvula biestable 'recuerda' la última orden aunque la señal desaparezca. Por eso basta un PULSO en 14 para que el cilindro salga y quede afuera. Pregunta: ¿qué pasa si llegan señales a 12 y 14 al mismo tiempo? → la válvula no cambia: esa es la semilla de las 'señales bloqueadas'.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Reguladora unidireccional = estrangulación + antirretorno en paralelo: regula en un sentido y deja paso libre en el otro. Selectora (O, 'shuttle'): sale aire si llega por cualquiera de las dos entradas. Simultaneidad (Y): solo sale aire si llega por las dos. Alternativa a la Y: poner dos válvulas en serie.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Bloque de 30 min. Cada circuito de este bloque es una 'pieza' que reaparece en los ejercicios de la práctica.</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min) Estas reglas son las que se evaluarán en la práctica. Los esquemas se leen de abajo (señales) hacia arriba (actuadores), igual que fluye la información.</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La válvula accionada por el operario alimenta directamente al cilindro. Sencillo, pero: el operario debe estar junto al cilindro, la válvula debe ser grande (caudal de potencia) y al soltar el pulsador el cilindro regresa. Pregunta: ¿qué pasa si suelto S1 a mitad de carrera?</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min) Separar potencia y señal: la válvula de potencia VA (5/2 biestable) está junto al cilindro; las válvulas de señal (pequeñas) pueden estar lejos — justo lo que piden los enunciados ('el operador controla a distancia', 'pulsador alejado de la zona de doblado'). Un pulso en S1 extiende y el cilindro se queda afuera hasta un pulso en S2.</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min) En neumática se regula estrangulando el ESCAPE (meter-out): el aire atrapado en la cámara que se vacía hace de 'colchón' y el movimiento es estable. Estrangular la entrada produce movimiento a saltos (stick-slip). Para regular la salida del vástago se coloca la reguladora en el lado vástago, con el antirretorno dejando pasar libre HACIA el cilindro.</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min) O: dos lugares para dar la misma orden (puerta del garaje: interior O exterior; prensa: pedal O pulsador). Y: seguridad a dos manos, o 'solo arranca si el ciclo terminó' (S Y a0 Y b0 …). La Y también se logra poniendo válvulas en serie: la salida de una alimenta el puerto 1 de la siguiente.</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S1 da la orden A+; cuando el vástago llega al final pisa el rodillo a1, que pilota 12 y el cilindro regresa (A−). Es el esqueleto del ejercicio de la cuchara. Preguntar: ¿qué pasa si el operario MANTIENE presionado S1 cuando el vástago llega a a1? → la válvula recibe 14 y 12 a la vez y no retrocede. Gancho para el bloque 3.</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Bloque de 40 min. Es el corazón de lo que piden los enunciados de la práctica 11.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(6 min) A+ = sale el vástago de A; A− = entra. Paréntesis = movimientos simultáneos: (A− B−). El diagrama espacio-fase dibuja cada cilindro entre 0 (retraído) y 1 (extendido) a lo largo de las fases; arriba se anota qué señal dispara cada fase. Abajo: cuándo está activo cada final de carrera. Construirlo en la pizarra junto con los alumnos.</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min) Cada señal del diagrama se convierte en una válvula de rodillo que pilota la válvula del siguiente movimiento: S·b0 → 14 de VA; a1 → 14 de VB; b1 → 12 de VA; a0 → 12 de VB. b0 y a0 están pisados en reposo: se dibujan accionados. La serie b0 → S es una Y: solo arranca si B está en casa. En esta secuencia NO hay señales bloqueadas, por eso no necesitamos nada más.</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(6 min) Cambiando el orden a A+ B+ B− A− aparece el problema: en la fase 3 queremos B− (señal b1) pero a1 sigue pisado mandando B+ → la válvula VB recibe 12 y 14 a la vez y no cambia. Lo mismo en la fase 1 con b0 (mando A−) mientras pedimos A+. Una señal está 'bloqueada' (o 'permanente') cuando sigue activa cuando hay que dar la orden contraria. Cómo detectarlo: en el diagrama, una barra de sensor que sigue activa cuando el mismo cilindro debe invertir.</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Tres caminos (KU Leuven los presenta todos). En este curso usamos el rodillo escamoteable para casos sencillos y el método cascada como método sistemático. Temporizadores y electroneumática/PLC se ven en cursos de automatización.</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(8 min) Hacerlo con A+ B+ B− A− en la pizarra. 1) Escribir la secuencia y cortar cada vez que una letra se repetiría: A+ B+ | B− A−. 2) N.º de grupos = 2 → 1 válvula selectora de grupo VG (5/2 biestable). 3) Cada grupo es una línea de alimentación; solo una tiene presión. 4) El PRIMER movimiento de cada grupo sale directo de su línea. 5) Los demás los dispara el final de carrera del movimiento anterior, alimentado por la línea del grupo. 6) El ÚLTIMO final de carrera de un grupo conmuta VG al siguiente grupo. 7) El arranque S va en serie en la última línea (la que está activa en reposo).</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(6 min) Recorrer el circuito siguiendo los colores. Reposo: VG en 12 → línea II (naranja) con aire. S·a0 pilota VG14 → línea I (verde): A+ directo. a1 (alimentado por I) → B+. b1 (por I) → VG12: cambia a línea II → B− directo. b0 (por II) → A−. a0 y S quedan listos para el siguiente ciclo. Como la línea I queda SIN aire, a1 ya no puede bloquear B−.</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min) Pedir a los alumnos que agrupen en 1 minuto cada secuencia. Respuestas: A+B+A−B− → no hay bloqueo, pero en cascada sería A+B+ | A−B− (2). A+B+C+(A−B−C−) → A+B+C+ | (A−B−C−): 2 grupos, 1 VG. (A+B+) A− B− → (A+B+) | A− B−: 2 grupos. A+ B+ (A−B−) C+ C− → A+B+ | (A−B−) C+ | C−: 3 grupos, PERO el último grupo puede fusionarse con el primero (C− A+ B+) porque no repite letra → 2 grupos. Estas tres últimas son las secuencias de la práctica dirigida 11.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(5 min) Esta es la receta que seguiremos en la práctica dirigida para TODOS los ejercicios. Pedir que la copien o tengan a mano.</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 Cerrar. En la práctica: 30' FluidSim, calentamiento y luego los enunciados 10 y 11. Traer la receta de cascada.</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trada" type="blank">
  <p:cSld name="BLANK">
    <p:spTree>
      <p:nvGrpSpPr>
        <p:cNvPr id="14" name="Shape 14"/>
        <p:cNvGrpSpPr/>
        <p:nvPr/>
      </p:nvGrpSpPr>
      <p:grpSpPr>
        <a:xfrm>
          <a:off x="0" y="0"/>
          <a:ext cx="0" cy="0"/>
          <a:chOff x="0" y="0"/>
          <a:chExt cx="0" cy="0"/>
        </a:xfrm>
      </p:grpSpPr>
      <p:sp>
        <p:nvSpPr>
          <p:cNvPr id="15" name="Google Shape;15;p2"/>
          <p:cNvSpPr/>
          <p:nvPr/>
        </p:nvSpPr>
        <p:spPr>
          <a:xfrm>
            <a:off x="0"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6" name="Google Shape;16;p2"/>
          <p:cNvPicPr preferRelativeResize="0"/>
          <p:nvPr/>
        </p:nvPicPr>
        <p:blipFill rotWithShape="1">
          <a:blip r:embed="rId2">
            <a:alphaModFix/>
          </a:blip>
          <a:srcRect b="0" l="0" r="0" t="0"/>
          <a:stretch/>
        </p:blipFill>
        <p:spPr>
          <a:xfrm>
            <a:off x="4195484" y="2571381"/>
            <a:ext cx="4143972" cy="137334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4844521" y="5547936"/>
            <a:ext cx="2504546" cy="826405"/>
          </a:xfrm>
          <a:prstGeom prst="rect">
            <a:avLst/>
          </a:prstGeom>
          <a:noFill/>
          <a:ln>
            <a:noFill/>
          </a:ln>
        </p:spPr>
      </p:pic>
      <p:sp>
        <p:nvSpPr>
          <p:cNvPr id="19" name="Google Shape;19;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2"/>
              </a:buClr>
              <a:buSzPts val="4800"/>
              <a:buFont typeface="Arial"/>
              <a:buNone/>
              <a:defRPr b="1" sz="48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648585"/>
              </a:buClr>
              <a:buSzPts val="2400"/>
              <a:buNone/>
              <a:defRPr i="1" sz="2400">
                <a:solidFill>
                  <a:srgbClr val="64858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p:cSld name="Título y objetos">
    <p:spTree>
      <p:nvGrpSpPr>
        <p:cNvPr id="21" name="Shape 21"/>
        <p:cNvGrpSpPr/>
        <p:nvPr/>
      </p:nvGrpSpPr>
      <p:grpSpPr>
        <a:xfrm>
          <a:off x="0" y="0"/>
          <a:ext cx="0" cy="0"/>
          <a:chOff x="0" y="0"/>
          <a:chExt cx="0" cy="0"/>
        </a:xfrm>
      </p:grpSpPr>
      <p:grpSp>
        <p:nvGrpSpPr>
          <p:cNvPr id="22" name="Google Shape;22;p4"/>
          <p:cNvGrpSpPr/>
          <p:nvPr/>
        </p:nvGrpSpPr>
        <p:grpSpPr>
          <a:xfrm>
            <a:off x="0" y="5716598"/>
            <a:ext cx="11959674" cy="939388"/>
            <a:chOff x="0" y="5716598"/>
            <a:chExt cx="11959674" cy="939388"/>
          </a:xfrm>
        </p:grpSpPr>
        <p:pic>
          <p:nvPicPr>
            <p:cNvPr id="23" name="Google Shape;23;p4"/>
            <p:cNvPicPr preferRelativeResize="0"/>
            <p:nvPr/>
          </p:nvPicPr>
          <p:blipFill rotWithShape="1">
            <a:blip r:embed="rId2">
              <a:alphaModFix/>
            </a:blip>
            <a:srcRect b="0" l="0" r="0" t="0"/>
            <a:stretch/>
          </p:blipFill>
          <p:spPr>
            <a:xfrm>
              <a:off x="0" y="5716598"/>
              <a:ext cx="11034643" cy="939388"/>
            </a:xfrm>
            <a:prstGeom prst="rect">
              <a:avLst/>
            </a:prstGeom>
            <a:noFill/>
            <a:ln>
              <a:noFill/>
            </a:ln>
          </p:spPr>
        </p:pic>
        <p:sp>
          <p:nvSpPr>
            <p:cNvPr id="24" name="Google Shape;24;p4"/>
            <p:cNvSpPr/>
            <p:nvPr/>
          </p:nvSpPr>
          <p:spPr>
            <a:xfrm>
              <a:off x="11020286" y="5716598"/>
              <a:ext cx="939388" cy="939388"/>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25" name="Google Shape;25;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 type="body"/>
          </p:nvPr>
        </p:nvSpPr>
        <p:spPr>
          <a:xfrm>
            <a:off x="838200" y="1825626"/>
            <a:ext cx="10515600" cy="38688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2" type="sldNum"/>
          </p:nvPr>
        </p:nvSpPr>
        <p:spPr>
          <a:xfrm>
            <a:off x="11194770" y="6004476"/>
            <a:ext cx="624696"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s-ES"/>
              <a:t>‹#›</a:t>
            </a:fld>
            <a:endParaRPr/>
          </a:p>
        </p:txBody>
      </p:sp>
      <p:sp>
        <p:nvSpPr>
          <p:cNvPr id="28" name="Google Shape;28;p4"/>
          <p:cNvSpPr/>
          <p:nvPr/>
        </p:nvSpPr>
        <p:spPr>
          <a:xfrm>
            <a:off x="237434" y="6004476"/>
            <a:ext cx="5680765" cy="347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lt1"/>
                </a:solidFill>
                <a:latin typeface="Arial"/>
                <a:ea typeface="Arial"/>
                <a:cs typeface="Arial"/>
                <a:sym typeface="Arial"/>
              </a:rPr>
              <a:t>Representación neumática · RGIM</a:t>
            </a:r>
            <a:endParaRPr b="1" i="0" sz="1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29" name="Shape 29"/>
        <p:cNvGrpSpPr/>
        <p:nvPr/>
      </p:nvGrpSpPr>
      <p:grpSpPr>
        <a:xfrm>
          <a:off x="0" y="0"/>
          <a:ext cx="0" cy="0"/>
          <a:chOff x="0" y="0"/>
          <a:chExt cx="0" cy="0"/>
        </a:xfrm>
      </p:grpSpPr>
      <p:grpSp>
        <p:nvGrpSpPr>
          <p:cNvPr id="30" name="Google Shape;30;p5"/>
          <p:cNvGrpSpPr/>
          <p:nvPr/>
        </p:nvGrpSpPr>
        <p:grpSpPr>
          <a:xfrm>
            <a:off x="0" y="5716598"/>
            <a:ext cx="11959674" cy="939388"/>
            <a:chOff x="0" y="5716598"/>
            <a:chExt cx="11959674" cy="939388"/>
          </a:xfrm>
        </p:grpSpPr>
        <p:pic>
          <p:nvPicPr>
            <p:cNvPr id="31" name="Google Shape;31;p5"/>
            <p:cNvPicPr preferRelativeResize="0"/>
            <p:nvPr/>
          </p:nvPicPr>
          <p:blipFill rotWithShape="1">
            <a:blip r:embed="rId2">
              <a:alphaModFix/>
            </a:blip>
            <a:srcRect b="0" l="0" r="0" t="0"/>
            <a:stretch/>
          </p:blipFill>
          <p:spPr>
            <a:xfrm>
              <a:off x="0" y="5716598"/>
              <a:ext cx="11034643" cy="939388"/>
            </a:xfrm>
            <a:prstGeom prst="rect">
              <a:avLst/>
            </a:prstGeom>
            <a:noFill/>
            <a:ln>
              <a:noFill/>
            </a:ln>
          </p:spPr>
        </p:pic>
        <p:sp>
          <p:nvSpPr>
            <p:cNvPr id="32" name="Google Shape;32;p5"/>
            <p:cNvSpPr/>
            <p:nvPr/>
          </p:nvSpPr>
          <p:spPr>
            <a:xfrm>
              <a:off x="11020286" y="5716598"/>
              <a:ext cx="939388" cy="939388"/>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33" name="Google Shape;33;p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5" name="Google Shape;35;p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6" name="Google Shape;36;p5"/>
          <p:cNvSpPr txBox="1"/>
          <p:nvPr>
            <p:ph idx="12" type="sldNum"/>
          </p:nvPr>
        </p:nvSpPr>
        <p:spPr>
          <a:xfrm>
            <a:off x="11194770" y="6004476"/>
            <a:ext cx="624696"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s-ES"/>
              <a:t>‹#›</a:t>
            </a:fld>
            <a:endParaRPr/>
          </a:p>
        </p:txBody>
      </p:sp>
      <p:sp>
        <p:nvSpPr>
          <p:cNvPr id="37" name="Google Shape;37;p5"/>
          <p:cNvSpPr/>
          <p:nvPr/>
        </p:nvSpPr>
        <p:spPr>
          <a:xfrm>
            <a:off x="237434" y="6004476"/>
            <a:ext cx="5680765" cy="347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lt1"/>
                </a:solidFill>
                <a:latin typeface="Arial"/>
                <a:ea typeface="Arial"/>
                <a:cs typeface="Arial"/>
                <a:sym typeface="Arial"/>
              </a:rPr>
              <a:t>Representación neumática · RGIM</a:t>
            </a:r>
            <a:endParaRPr b="1" i="0" sz="1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8" name="Shape 38"/>
        <p:cNvGrpSpPr/>
        <p:nvPr/>
      </p:nvGrpSpPr>
      <p:grpSpPr>
        <a:xfrm>
          <a:off x="0" y="0"/>
          <a:ext cx="0" cy="0"/>
          <a:chOff x="0" y="0"/>
          <a:chExt cx="0" cy="0"/>
        </a:xfrm>
      </p:grpSpPr>
      <p:grpSp>
        <p:nvGrpSpPr>
          <p:cNvPr id="39" name="Google Shape;39;p6"/>
          <p:cNvGrpSpPr/>
          <p:nvPr/>
        </p:nvGrpSpPr>
        <p:grpSpPr>
          <a:xfrm>
            <a:off x="0" y="5716598"/>
            <a:ext cx="11959674" cy="939388"/>
            <a:chOff x="0" y="5716598"/>
            <a:chExt cx="11959674" cy="939388"/>
          </a:xfrm>
        </p:grpSpPr>
        <p:pic>
          <p:nvPicPr>
            <p:cNvPr id="40" name="Google Shape;40;p6"/>
            <p:cNvPicPr preferRelativeResize="0"/>
            <p:nvPr/>
          </p:nvPicPr>
          <p:blipFill rotWithShape="1">
            <a:blip r:embed="rId2">
              <a:alphaModFix/>
            </a:blip>
            <a:srcRect b="0" l="0" r="0" t="0"/>
            <a:stretch/>
          </p:blipFill>
          <p:spPr>
            <a:xfrm>
              <a:off x="0" y="5716598"/>
              <a:ext cx="11034643" cy="939388"/>
            </a:xfrm>
            <a:prstGeom prst="rect">
              <a:avLst/>
            </a:prstGeom>
            <a:noFill/>
            <a:ln>
              <a:noFill/>
            </a:ln>
          </p:spPr>
        </p:pic>
        <p:sp>
          <p:nvSpPr>
            <p:cNvPr id="41" name="Google Shape;41;p6"/>
            <p:cNvSpPr/>
            <p:nvPr/>
          </p:nvSpPr>
          <p:spPr>
            <a:xfrm>
              <a:off x="11020286" y="5716598"/>
              <a:ext cx="939388" cy="939388"/>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42" name="Google Shape;42;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6"/>
          <p:cNvSpPr txBox="1"/>
          <p:nvPr>
            <p:ph idx="12" type="sldNum"/>
          </p:nvPr>
        </p:nvSpPr>
        <p:spPr>
          <a:xfrm>
            <a:off x="11194770" y="6004476"/>
            <a:ext cx="624696"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s-ES"/>
              <a:t>‹#›</a:t>
            </a:fld>
            <a:endParaRPr/>
          </a:p>
        </p:txBody>
      </p:sp>
      <p:sp>
        <p:nvSpPr>
          <p:cNvPr id="46" name="Google Shape;46;p6"/>
          <p:cNvSpPr/>
          <p:nvPr/>
        </p:nvSpPr>
        <p:spPr>
          <a:xfrm>
            <a:off x="237434" y="6004476"/>
            <a:ext cx="5680765" cy="347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lt1"/>
                </a:solidFill>
                <a:latin typeface="Arial"/>
                <a:ea typeface="Arial"/>
                <a:cs typeface="Arial"/>
                <a:sym typeface="Arial"/>
              </a:rPr>
              <a:t>Representación neumática · RGIM</a:t>
            </a:r>
            <a:endParaRPr b="1" i="0" sz="1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7" name="Shape 47"/>
        <p:cNvGrpSpPr/>
        <p:nvPr/>
      </p:nvGrpSpPr>
      <p:grpSpPr>
        <a:xfrm>
          <a:off x="0" y="0"/>
          <a:ext cx="0" cy="0"/>
          <a:chOff x="0" y="0"/>
          <a:chExt cx="0" cy="0"/>
        </a:xfrm>
      </p:grpSpPr>
      <p:grpSp>
        <p:nvGrpSpPr>
          <p:cNvPr id="48" name="Google Shape;48;p7"/>
          <p:cNvGrpSpPr/>
          <p:nvPr/>
        </p:nvGrpSpPr>
        <p:grpSpPr>
          <a:xfrm>
            <a:off x="0" y="5716598"/>
            <a:ext cx="11959674" cy="939388"/>
            <a:chOff x="0" y="5716598"/>
            <a:chExt cx="11959674" cy="939388"/>
          </a:xfrm>
        </p:grpSpPr>
        <p:pic>
          <p:nvPicPr>
            <p:cNvPr id="49" name="Google Shape;49;p7"/>
            <p:cNvPicPr preferRelativeResize="0"/>
            <p:nvPr/>
          </p:nvPicPr>
          <p:blipFill rotWithShape="1">
            <a:blip r:embed="rId2">
              <a:alphaModFix/>
            </a:blip>
            <a:srcRect b="0" l="0" r="0" t="0"/>
            <a:stretch/>
          </p:blipFill>
          <p:spPr>
            <a:xfrm>
              <a:off x="0" y="5716598"/>
              <a:ext cx="11034643" cy="939388"/>
            </a:xfrm>
            <a:prstGeom prst="rect">
              <a:avLst/>
            </a:prstGeom>
            <a:noFill/>
            <a:ln>
              <a:noFill/>
            </a:ln>
          </p:spPr>
        </p:pic>
        <p:sp>
          <p:nvSpPr>
            <p:cNvPr id="50" name="Google Shape;50;p7"/>
            <p:cNvSpPr/>
            <p:nvPr/>
          </p:nvSpPr>
          <p:spPr>
            <a:xfrm>
              <a:off x="11020286" y="5716598"/>
              <a:ext cx="939388" cy="939388"/>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51" name="Google Shape;5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7"/>
          <p:cNvSpPr txBox="1"/>
          <p:nvPr>
            <p:ph idx="12" type="sldNum"/>
          </p:nvPr>
        </p:nvSpPr>
        <p:spPr>
          <a:xfrm>
            <a:off x="11194770" y="6004476"/>
            <a:ext cx="624696"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s-ES"/>
              <a:t>‹#›</a:t>
            </a:fld>
            <a:endParaRPr/>
          </a:p>
        </p:txBody>
      </p:sp>
      <p:sp>
        <p:nvSpPr>
          <p:cNvPr id="57" name="Google Shape;57;p7"/>
          <p:cNvSpPr/>
          <p:nvPr/>
        </p:nvSpPr>
        <p:spPr>
          <a:xfrm>
            <a:off x="237434" y="6004476"/>
            <a:ext cx="5680765" cy="347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lt1"/>
                </a:solidFill>
                <a:latin typeface="Arial"/>
                <a:ea typeface="Arial"/>
                <a:cs typeface="Arial"/>
                <a:sym typeface="Arial"/>
              </a:rPr>
              <a:t>Representación neumática · RGIM</a:t>
            </a:r>
            <a:endParaRPr b="1" i="0" sz="1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8" name="Shape 58"/>
        <p:cNvGrpSpPr/>
        <p:nvPr/>
      </p:nvGrpSpPr>
      <p:grpSpPr>
        <a:xfrm>
          <a:off x="0" y="0"/>
          <a:ext cx="0" cy="0"/>
          <a:chOff x="0" y="0"/>
          <a:chExt cx="0" cy="0"/>
        </a:xfrm>
      </p:grpSpPr>
      <p:grpSp>
        <p:nvGrpSpPr>
          <p:cNvPr id="59" name="Google Shape;59;p8"/>
          <p:cNvGrpSpPr/>
          <p:nvPr/>
        </p:nvGrpSpPr>
        <p:grpSpPr>
          <a:xfrm>
            <a:off x="0" y="5716598"/>
            <a:ext cx="11959674" cy="939388"/>
            <a:chOff x="0" y="5716598"/>
            <a:chExt cx="11959674" cy="939388"/>
          </a:xfrm>
        </p:grpSpPr>
        <p:pic>
          <p:nvPicPr>
            <p:cNvPr id="60" name="Google Shape;60;p8"/>
            <p:cNvPicPr preferRelativeResize="0"/>
            <p:nvPr/>
          </p:nvPicPr>
          <p:blipFill rotWithShape="1">
            <a:blip r:embed="rId2">
              <a:alphaModFix/>
            </a:blip>
            <a:srcRect b="0" l="0" r="0" t="0"/>
            <a:stretch/>
          </p:blipFill>
          <p:spPr>
            <a:xfrm>
              <a:off x="0" y="5716598"/>
              <a:ext cx="11034643" cy="939388"/>
            </a:xfrm>
            <a:prstGeom prst="rect">
              <a:avLst/>
            </a:prstGeom>
            <a:noFill/>
            <a:ln>
              <a:noFill/>
            </a:ln>
          </p:spPr>
        </p:pic>
        <p:sp>
          <p:nvSpPr>
            <p:cNvPr id="61" name="Google Shape;61;p8"/>
            <p:cNvSpPr/>
            <p:nvPr/>
          </p:nvSpPr>
          <p:spPr>
            <a:xfrm>
              <a:off x="11020286" y="5716598"/>
              <a:ext cx="939388" cy="939388"/>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62" name="Google Shape;6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8"/>
          <p:cNvSpPr txBox="1"/>
          <p:nvPr>
            <p:ph idx="12" type="sldNum"/>
          </p:nvPr>
        </p:nvSpPr>
        <p:spPr>
          <a:xfrm>
            <a:off x="11194770" y="6004476"/>
            <a:ext cx="624696"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s-ES"/>
              <a:t>‹#›</a:t>
            </a:fld>
            <a:endParaRPr/>
          </a:p>
        </p:txBody>
      </p:sp>
      <p:sp>
        <p:nvSpPr>
          <p:cNvPr id="64" name="Google Shape;64;p8"/>
          <p:cNvSpPr/>
          <p:nvPr/>
        </p:nvSpPr>
        <p:spPr>
          <a:xfrm>
            <a:off x="237434" y="6004476"/>
            <a:ext cx="5680765" cy="347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lt1"/>
                </a:solidFill>
                <a:latin typeface="Arial"/>
                <a:ea typeface="Arial"/>
                <a:cs typeface="Arial"/>
                <a:sym typeface="Arial"/>
              </a:rPr>
              <a:t>Representación neumática · RGIM</a:t>
            </a:r>
            <a:endParaRPr b="1" i="0" sz="1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p:cSld name="En blanco">
    <p:spTree>
      <p:nvGrpSpPr>
        <p:cNvPr id="65" name="Shape 6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6" name="Shape 66"/>
        <p:cNvGrpSpPr/>
        <p:nvPr/>
      </p:nvGrpSpPr>
      <p:grpSpPr>
        <a:xfrm>
          <a:off x="0" y="0"/>
          <a:ext cx="0" cy="0"/>
          <a:chOff x="0" y="0"/>
          <a:chExt cx="0" cy="0"/>
        </a:xfrm>
      </p:grpSpPr>
      <p:grpSp>
        <p:nvGrpSpPr>
          <p:cNvPr id="67" name="Google Shape;67;p10"/>
          <p:cNvGrpSpPr/>
          <p:nvPr/>
        </p:nvGrpSpPr>
        <p:grpSpPr>
          <a:xfrm>
            <a:off x="0" y="5716598"/>
            <a:ext cx="11959674" cy="939388"/>
            <a:chOff x="0" y="5716598"/>
            <a:chExt cx="11959674" cy="939388"/>
          </a:xfrm>
        </p:grpSpPr>
        <p:pic>
          <p:nvPicPr>
            <p:cNvPr id="68" name="Google Shape;68;p10"/>
            <p:cNvPicPr preferRelativeResize="0"/>
            <p:nvPr/>
          </p:nvPicPr>
          <p:blipFill rotWithShape="1">
            <a:blip r:embed="rId2">
              <a:alphaModFix/>
            </a:blip>
            <a:srcRect b="0" l="0" r="0" t="0"/>
            <a:stretch/>
          </p:blipFill>
          <p:spPr>
            <a:xfrm>
              <a:off x="0" y="5716598"/>
              <a:ext cx="11034643" cy="939388"/>
            </a:xfrm>
            <a:prstGeom prst="rect">
              <a:avLst/>
            </a:prstGeom>
            <a:noFill/>
            <a:ln>
              <a:noFill/>
            </a:ln>
          </p:spPr>
        </p:pic>
        <p:sp>
          <p:nvSpPr>
            <p:cNvPr id="69" name="Google Shape;69;p10"/>
            <p:cNvSpPr/>
            <p:nvPr/>
          </p:nvSpPr>
          <p:spPr>
            <a:xfrm>
              <a:off x="11020286" y="5716598"/>
              <a:ext cx="939388" cy="939388"/>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70" name="Google Shape;70;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p:nvPr>
            <p:ph idx="2" type="pic"/>
          </p:nvPr>
        </p:nvSpPr>
        <p:spPr>
          <a:xfrm>
            <a:off x="5183188" y="987426"/>
            <a:ext cx="6172200" cy="4541308"/>
          </a:xfrm>
          <a:prstGeom prst="rect">
            <a:avLst/>
          </a:prstGeom>
          <a:noFill/>
          <a:ln>
            <a:noFill/>
          </a:ln>
        </p:spPr>
      </p:sp>
      <p:sp>
        <p:nvSpPr>
          <p:cNvPr id="72" name="Google Shape;72;p10"/>
          <p:cNvSpPr txBox="1"/>
          <p:nvPr>
            <p:ph idx="1" type="body"/>
          </p:nvPr>
        </p:nvSpPr>
        <p:spPr>
          <a:xfrm>
            <a:off x="839788" y="2057400"/>
            <a:ext cx="3932237" cy="35516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10"/>
          <p:cNvSpPr txBox="1"/>
          <p:nvPr>
            <p:ph idx="12" type="sldNum"/>
          </p:nvPr>
        </p:nvSpPr>
        <p:spPr>
          <a:xfrm>
            <a:off x="11194770" y="6004476"/>
            <a:ext cx="624696"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s-ES"/>
              <a:t>‹#›</a:t>
            </a:fld>
            <a:endParaRPr/>
          </a:p>
        </p:txBody>
      </p:sp>
      <p:sp>
        <p:nvSpPr>
          <p:cNvPr id="74" name="Google Shape;74;p10"/>
          <p:cNvSpPr/>
          <p:nvPr/>
        </p:nvSpPr>
        <p:spPr>
          <a:xfrm>
            <a:off x="237434" y="6004476"/>
            <a:ext cx="5680765" cy="347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lt1"/>
                </a:solidFill>
                <a:latin typeface="Arial"/>
                <a:ea typeface="Arial"/>
                <a:cs typeface="Arial"/>
                <a:sym typeface="Arial"/>
              </a:rPr>
              <a:t>Representación neumática · RGIM</a:t>
            </a:r>
            <a:endParaRPr b="1" i="0" sz="1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5" name="Shape 75"/>
        <p:cNvGrpSpPr/>
        <p:nvPr/>
      </p:nvGrpSpPr>
      <p:grpSpPr>
        <a:xfrm>
          <a:off x="0" y="0"/>
          <a:ext cx="0" cy="0"/>
          <a:chOff x="0" y="0"/>
          <a:chExt cx="0" cy="0"/>
        </a:xfrm>
      </p:grpSpPr>
      <p:grpSp>
        <p:nvGrpSpPr>
          <p:cNvPr id="76" name="Google Shape;76;p11"/>
          <p:cNvGrpSpPr/>
          <p:nvPr/>
        </p:nvGrpSpPr>
        <p:grpSpPr>
          <a:xfrm>
            <a:off x="0" y="5716598"/>
            <a:ext cx="11959674" cy="939388"/>
            <a:chOff x="0" y="5716598"/>
            <a:chExt cx="11959674" cy="939388"/>
          </a:xfrm>
        </p:grpSpPr>
        <p:pic>
          <p:nvPicPr>
            <p:cNvPr id="77" name="Google Shape;77;p11"/>
            <p:cNvPicPr preferRelativeResize="0"/>
            <p:nvPr/>
          </p:nvPicPr>
          <p:blipFill rotWithShape="1">
            <a:blip r:embed="rId2">
              <a:alphaModFix/>
            </a:blip>
            <a:srcRect b="0" l="0" r="0" t="0"/>
            <a:stretch/>
          </p:blipFill>
          <p:spPr>
            <a:xfrm>
              <a:off x="0" y="5716598"/>
              <a:ext cx="11034643" cy="939388"/>
            </a:xfrm>
            <a:prstGeom prst="rect">
              <a:avLst/>
            </a:prstGeom>
            <a:noFill/>
            <a:ln>
              <a:noFill/>
            </a:ln>
          </p:spPr>
        </p:pic>
        <p:sp>
          <p:nvSpPr>
            <p:cNvPr id="78" name="Google Shape;78;p11"/>
            <p:cNvSpPr/>
            <p:nvPr/>
          </p:nvSpPr>
          <p:spPr>
            <a:xfrm>
              <a:off x="11020286" y="5716598"/>
              <a:ext cx="939388" cy="939388"/>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79" name="Google Shape;7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1"/>
          <p:cNvSpPr txBox="1"/>
          <p:nvPr>
            <p:ph idx="1" type="body"/>
          </p:nvPr>
        </p:nvSpPr>
        <p:spPr>
          <a:xfrm rot="5400000">
            <a:off x="4161556" y="-1497730"/>
            <a:ext cx="386888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1"/>
          <p:cNvSpPr txBox="1"/>
          <p:nvPr>
            <p:ph idx="12" type="sldNum"/>
          </p:nvPr>
        </p:nvSpPr>
        <p:spPr>
          <a:xfrm>
            <a:off x="11194770" y="6004476"/>
            <a:ext cx="624696"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s-ES"/>
              <a:t>‹#›</a:t>
            </a:fld>
            <a:endParaRPr/>
          </a:p>
        </p:txBody>
      </p:sp>
      <p:sp>
        <p:nvSpPr>
          <p:cNvPr id="82" name="Google Shape;82;p11"/>
          <p:cNvSpPr/>
          <p:nvPr/>
        </p:nvSpPr>
        <p:spPr>
          <a:xfrm>
            <a:off x="237434" y="6004476"/>
            <a:ext cx="5680765" cy="347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lt1"/>
                </a:solidFill>
                <a:latin typeface="Arial"/>
                <a:ea typeface="Arial"/>
                <a:cs typeface="Arial"/>
                <a:sym typeface="Arial"/>
              </a:rPr>
              <a:t>Representación neumática · RGIM</a:t>
            </a:r>
            <a:endParaRPr b="1" i="0" sz="1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3" name="Shape 83"/>
        <p:cNvGrpSpPr/>
        <p:nvPr/>
      </p:nvGrpSpPr>
      <p:grpSpPr>
        <a:xfrm>
          <a:off x="0" y="0"/>
          <a:ext cx="0" cy="0"/>
          <a:chOff x="0" y="0"/>
          <a:chExt cx="0" cy="0"/>
        </a:xfrm>
      </p:grpSpPr>
      <p:grpSp>
        <p:nvGrpSpPr>
          <p:cNvPr id="84" name="Google Shape;84;p12"/>
          <p:cNvGrpSpPr/>
          <p:nvPr/>
        </p:nvGrpSpPr>
        <p:grpSpPr>
          <a:xfrm>
            <a:off x="0" y="5716598"/>
            <a:ext cx="11959674" cy="939388"/>
            <a:chOff x="0" y="5716598"/>
            <a:chExt cx="11959674" cy="939388"/>
          </a:xfrm>
        </p:grpSpPr>
        <p:pic>
          <p:nvPicPr>
            <p:cNvPr id="85" name="Google Shape;85;p12"/>
            <p:cNvPicPr preferRelativeResize="0"/>
            <p:nvPr/>
          </p:nvPicPr>
          <p:blipFill rotWithShape="1">
            <a:blip r:embed="rId2">
              <a:alphaModFix/>
            </a:blip>
            <a:srcRect b="0" l="0" r="0" t="0"/>
            <a:stretch/>
          </p:blipFill>
          <p:spPr>
            <a:xfrm>
              <a:off x="0" y="5716598"/>
              <a:ext cx="11034643" cy="939388"/>
            </a:xfrm>
            <a:prstGeom prst="rect">
              <a:avLst/>
            </a:prstGeom>
            <a:noFill/>
            <a:ln>
              <a:noFill/>
            </a:ln>
          </p:spPr>
        </p:pic>
        <p:sp>
          <p:nvSpPr>
            <p:cNvPr id="86" name="Google Shape;86;p12"/>
            <p:cNvSpPr/>
            <p:nvPr/>
          </p:nvSpPr>
          <p:spPr>
            <a:xfrm>
              <a:off x="11020286" y="5716598"/>
              <a:ext cx="939388" cy="939388"/>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87" name="Google Shape;87;p12"/>
          <p:cNvSpPr txBox="1"/>
          <p:nvPr>
            <p:ph type="title"/>
          </p:nvPr>
        </p:nvSpPr>
        <p:spPr>
          <a:xfrm rot="5400000">
            <a:off x="7363614" y="1726412"/>
            <a:ext cx="5351473"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2"/>
          <p:cNvSpPr txBox="1"/>
          <p:nvPr>
            <p:ph idx="1" type="body"/>
          </p:nvPr>
        </p:nvSpPr>
        <p:spPr>
          <a:xfrm rot="5400000">
            <a:off x="2029614" y="-826288"/>
            <a:ext cx="5351473"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12"/>
          <p:cNvSpPr txBox="1"/>
          <p:nvPr>
            <p:ph idx="12" type="sldNum"/>
          </p:nvPr>
        </p:nvSpPr>
        <p:spPr>
          <a:xfrm>
            <a:off x="11194770" y="6004476"/>
            <a:ext cx="624696"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s-ES"/>
              <a:t>‹#›</a:t>
            </a:fld>
            <a:endParaRPr/>
          </a:p>
        </p:txBody>
      </p:sp>
      <p:sp>
        <p:nvSpPr>
          <p:cNvPr id="90" name="Google Shape;90;p12"/>
          <p:cNvSpPr/>
          <p:nvPr/>
        </p:nvSpPr>
        <p:spPr>
          <a:xfrm>
            <a:off x="237434" y="6004476"/>
            <a:ext cx="5680765" cy="347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lt1"/>
                </a:solidFill>
                <a:latin typeface="Arial"/>
                <a:ea typeface="Arial"/>
                <a:cs typeface="Arial"/>
                <a:sym typeface="Arial"/>
              </a:rPr>
              <a:t>Representación neumática · RGIM</a:t>
            </a:r>
            <a:endParaRPr b="1" i="0" sz="160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Arial"/>
              <a:buNone/>
              <a:defRPr b="1" i="0" sz="44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6"/>
            <a:ext cx="10515600" cy="386888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1" type="ftr"/>
          </p:nvPr>
        </p:nvSpPr>
        <p:spPr>
          <a:xfrm>
            <a:off x="237435" y="6013034"/>
            <a:ext cx="6070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2" type="sldNum"/>
          </p:nvPr>
        </p:nvSpPr>
        <p:spPr>
          <a:xfrm>
            <a:off x="11194770" y="6004476"/>
            <a:ext cx="624696" cy="36512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1600"/>
              <a:buFont typeface="Arial"/>
              <a:buNone/>
              <a:defRPr b="1" i="0" sz="16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a:solidFill>
                  <a:srgbClr val="042254"/>
                </a:solidFill>
              </a:rPr>
              <a:t>Representación neumática</a:t>
            </a:r>
          </a:p>
        </p:txBody>
      </p:sp>
      <p:sp>
        <p:nvSpPr>
          <p:cNvPr id="3" name="Subtitle 2"/>
          <p:cNvSpPr>
            <a:spLocks noGrp="1"/>
          </p:cNvSpPr>
          <p:nvPr>
            <p:ph type="subTitle" idx="1"/>
          </p:nvPr>
        </p:nvSpPr>
        <p:spPr/>
        <p:txBody>
          <a:bodyPr/>
          <a:lstStyle/>
          <a:p>
            <a:r>
              <a:rPr sz="2000">
                <a:solidFill>
                  <a:srgbClr val="555F6D"/>
                </a:solidFill>
              </a:rPr>
              <a:t>Representación Gráfica para Ingeniería Mecatrónica</a:t>
            </a:r>
          </a:p>
          <a:p>
            <a:r>
              <a:rPr sz="2000">
                <a:solidFill>
                  <a:srgbClr val="555F6D"/>
                </a:solidFill>
              </a:rPr>
              <a:t>Sesión teórica · 2 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Al terminar la semana podrás…</a:t>
            </a:r>
          </a:p>
        </p:txBody>
      </p:sp>
      <p:sp>
        <p:nvSpPr>
          <p:cNvPr id="3" name="Slide Number Placeholder 2"/>
          <p:cNvSpPr>
            <a:spLocks noGrp="1"/>
          </p:cNvSpPr>
          <p:nvPr>
            <p:ph type="sldNum" idx="12"/>
          </p:nvPr>
        </p:nvSpPr>
        <p:spPr/>
        <p:txBody>
          <a:bodyPr/>
          <a:p>
            <a:fld id="{9935A6F8-07BF-4942-9596-F43248152F9F}" type="slidenum">
              <a:rPr lang="es-PE"/>
              <a:t>3</a:t>
            </a:fld>
          </a:p>
        </p:txBody>
      </p:sp>
      <p:sp>
        <p:nvSpPr>
          <p:cNvPr id="4" name="Oval 3"/>
          <p:cNvSpPr/>
          <p:nvPr/>
        </p:nvSpPr>
        <p:spPr>
          <a:xfrm>
            <a:off x="731520" y="1536192"/>
            <a:ext cx="566928" cy="566928"/>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5" name="TextBox 4"/>
          <p:cNvSpPr txBox="1"/>
          <p:nvPr/>
        </p:nvSpPr>
        <p:spPr>
          <a:xfrm>
            <a:off x="1508760" y="1463040"/>
            <a:ext cx="4754880" cy="411480"/>
          </a:xfrm>
          <a:prstGeom prst="rect">
            <a:avLst/>
          </a:prstGeom>
          <a:noFill/>
        </p:spPr>
        <p:txBody>
          <a:bodyPr wrap="square" lIns="45720" rIns="45720" tIns="27432" bIns="27432" anchor="t">
            <a:spAutoFit/>
          </a:bodyPr>
          <a:lstStyle/>
          <a:p>
            <a:pPr algn="l">
              <a:spcAft>
                <a:spcPts val="600"/>
              </a:spcAft>
            </a:pPr>
            <a:r>
              <a:rPr sz="1900" b="1" i="0">
                <a:solidFill>
                  <a:srgbClr val="042254"/>
                </a:solidFill>
              </a:rPr>
              <a:t>Leer un esquema</a:t>
            </a:r>
          </a:p>
        </p:txBody>
      </p:sp>
      <p:sp>
        <p:nvSpPr>
          <p:cNvPr id="6" name="TextBox 5"/>
          <p:cNvSpPr txBox="1"/>
          <p:nvPr/>
        </p:nvSpPr>
        <p:spPr>
          <a:xfrm>
            <a:off x="1508760" y="1874520"/>
            <a:ext cx="5120640" cy="548640"/>
          </a:xfrm>
          <a:prstGeom prst="rect">
            <a:avLst/>
          </a:prstGeom>
          <a:noFill/>
        </p:spPr>
        <p:txBody>
          <a:bodyPr wrap="square" lIns="45720" rIns="45720" tIns="27432" bIns="27432" anchor="t">
            <a:spAutoFit/>
          </a:bodyPr>
          <a:lstStyle/>
          <a:p>
            <a:pPr algn="l">
              <a:spcAft>
                <a:spcPts val="600"/>
              </a:spcAft>
            </a:pPr>
            <a:r>
              <a:rPr sz="1400" b="0" i="0">
                <a:solidFill>
                  <a:srgbClr val="555F6D"/>
                </a:solidFill>
              </a:rPr>
              <a:t>Reconocer los símbolos ISO 1219 de cilindros, válvulas y accesorios.</a:t>
            </a:r>
          </a:p>
        </p:txBody>
      </p:sp>
      <p:sp>
        <p:nvSpPr>
          <p:cNvPr id="7" name="Oval 6"/>
          <p:cNvSpPr/>
          <p:nvPr/>
        </p:nvSpPr>
        <p:spPr>
          <a:xfrm>
            <a:off x="731520" y="2523744"/>
            <a:ext cx="566928" cy="566928"/>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8" name="TextBox 7"/>
          <p:cNvSpPr txBox="1"/>
          <p:nvPr/>
        </p:nvSpPr>
        <p:spPr>
          <a:xfrm>
            <a:off x="1508760" y="2450592"/>
            <a:ext cx="4754880" cy="411480"/>
          </a:xfrm>
          <a:prstGeom prst="rect">
            <a:avLst/>
          </a:prstGeom>
          <a:noFill/>
        </p:spPr>
        <p:txBody>
          <a:bodyPr wrap="square" lIns="45720" rIns="45720" tIns="27432" bIns="27432" anchor="t">
            <a:spAutoFit/>
          </a:bodyPr>
          <a:lstStyle/>
          <a:p>
            <a:pPr algn="l">
              <a:spcAft>
                <a:spcPts val="600"/>
              </a:spcAft>
            </a:pPr>
            <a:r>
              <a:rPr sz="1900" b="1" i="0">
                <a:solidFill>
                  <a:srgbClr val="042254"/>
                </a:solidFill>
              </a:rPr>
              <a:t>Dibujar un circuito</a:t>
            </a:r>
          </a:p>
        </p:txBody>
      </p:sp>
      <p:sp>
        <p:nvSpPr>
          <p:cNvPr id="9" name="TextBox 8"/>
          <p:cNvSpPr txBox="1"/>
          <p:nvPr/>
        </p:nvSpPr>
        <p:spPr>
          <a:xfrm>
            <a:off x="1508760" y="2862072"/>
            <a:ext cx="5120640" cy="548640"/>
          </a:xfrm>
          <a:prstGeom prst="rect">
            <a:avLst/>
          </a:prstGeom>
          <a:noFill/>
        </p:spPr>
        <p:txBody>
          <a:bodyPr wrap="square" lIns="45720" rIns="45720" tIns="27432" bIns="27432" anchor="t">
            <a:spAutoFit/>
          </a:bodyPr>
          <a:lstStyle/>
          <a:p>
            <a:pPr algn="l">
              <a:spcAft>
                <a:spcPts val="600"/>
              </a:spcAft>
            </a:pPr>
            <a:r>
              <a:rPr sz="1400" b="0" i="0">
                <a:solidFill>
                  <a:srgbClr val="555F6D"/>
                </a:solidFill>
              </a:rPr>
              <a:t>Representarlo en posición de reposo, por niveles y con la nomenclatura correcta.</a:t>
            </a:r>
          </a:p>
        </p:txBody>
      </p:sp>
      <p:sp>
        <p:nvSpPr>
          <p:cNvPr id="10" name="Oval 9"/>
          <p:cNvSpPr/>
          <p:nvPr/>
        </p:nvSpPr>
        <p:spPr>
          <a:xfrm>
            <a:off x="731520" y="3511296"/>
            <a:ext cx="566928" cy="566928"/>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11" name="TextBox 10"/>
          <p:cNvSpPr txBox="1"/>
          <p:nvPr/>
        </p:nvSpPr>
        <p:spPr>
          <a:xfrm>
            <a:off x="1508760" y="3438144"/>
            <a:ext cx="4754880" cy="411480"/>
          </a:xfrm>
          <a:prstGeom prst="rect">
            <a:avLst/>
          </a:prstGeom>
          <a:noFill/>
        </p:spPr>
        <p:txBody>
          <a:bodyPr wrap="square" lIns="45720" rIns="45720" tIns="27432" bIns="27432" anchor="t">
            <a:spAutoFit/>
          </a:bodyPr>
          <a:lstStyle/>
          <a:p>
            <a:pPr algn="l">
              <a:spcAft>
                <a:spcPts val="600"/>
              </a:spcAft>
            </a:pPr>
            <a:r>
              <a:rPr sz="1900" b="1" i="0">
                <a:solidFill>
                  <a:srgbClr val="042254"/>
                </a:solidFill>
              </a:rPr>
              <a:t>Describir una secuencia</a:t>
            </a:r>
          </a:p>
        </p:txBody>
      </p:sp>
      <p:sp>
        <p:nvSpPr>
          <p:cNvPr id="12" name="TextBox 11"/>
          <p:cNvSpPr txBox="1"/>
          <p:nvPr/>
        </p:nvSpPr>
        <p:spPr>
          <a:xfrm>
            <a:off x="1508760" y="3849624"/>
            <a:ext cx="5120640" cy="548640"/>
          </a:xfrm>
          <a:prstGeom prst="rect">
            <a:avLst/>
          </a:prstGeom>
          <a:noFill/>
        </p:spPr>
        <p:txBody>
          <a:bodyPr wrap="square" lIns="45720" rIns="45720" tIns="27432" bIns="27432" anchor="t">
            <a:spAutoFit/>
          </a:bodyPr>
          <a:lstStyle/>
          <a:p>
            <a:pPr algn="l">
              <a:spcAft>
                <a:spcPts val="600"/>
              </a:spcAft>
            </a:pPr>
            <a:r>
              <a:rPr sz="1400" b="0" i="0">
                <a:solidFill>
                  <a:srgbClr val="555F6D"/>
                </a:solidFill>
              </a:rPr>
              <a:t>Con notación A+ B+ … y con el diagrama espacio-fase.</a:t>
            </a:r>
          </a:p>
        </p:txBody>
      </p:sp>
      <p:sp>
        <p:nvSpPr>
          <p:cNvPr id="13" name="Oval 12"/>
          <p:cNvSpPr/>
          <p:nvPr/>
        </p:nvSpPr>
        <p:spPr>
          <a:xfrm>
            <a:off x="731520" y="4498848"/>
            <a:ext cx="566928" cy="566928"/>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14" name="TextBox 13"/>
          <p:cNvSpPr txBox="1"/>
          <p:nvPr/>
        </p:nvSpPr>
        <p:spPr>
          <a:xfrm>
            <a:off x="1508760" y="4425696"/>
            <a:ext cx="4754880" cy="411480"/>
          </a:xfrm>
          <a:prstGeom prst="rect">
            <a:avLst/>
          </a:prstGeom>
          <a:noFill/>
        </p:spPr>
        <p:txBody>
          <a:bodyPr wrap="square" lIns="45720" rIns="45720" tIns="27432" bIns="27432" anchor="t">
            <a:spAutoFit/>
          </a:bodyPr>
          <a:lstStyle/>
          <a:p>
            <a:pPr algn="l">
              <a:spcAft>
                <a:spcPts val="600"/>
              </a:spcAft>
            </a:pPr>
            <a:r>
              <a:rPr sz="1900" b="1" i="0">
                <a:solidFill>
                  <a:srgbClr val="042254"/>
                </a:solidFill>
              </a:rPr>
              <a:t>Resolver un enunciado</a:t>
            </a:r>
          </a:p>
        </p:txBody>
      </p:sp>
      <p:sp>
        <p:nvSpPr>
          <p:cNvPr id="15" name="TextBox 14"/>
          <p:cNvSpPr txBox="1"/>
          <p:nvPr/>
        </p:nvSpPr>
        <p:spPr>
          <a:xfrm>
            <a:off x="1508760" y="4837176"/>
            <a:ext cx="5120640" cy="548640"/>
          </a:xfrm>
          <a:prstGeom prst="rect">
            <a:avLst/>
          </a:prstGeom>
          <a:noFill/>
        </p:spPr>
        <p:txBody>
          <a:bodyPr wrap="square" lIns="45720" rIns="45720" tIns="27432" bIns="27432" anchor="t">
            <a:spAutoFit/>
          </a:bodyPr>
          <a:lstStyle/>
          <a:p>
            <a:pPr algn="l">
              <a:spcAft>
                <a:spcPts val="600"/>
              </a:spcAft>
            </a:pPr>
            <a:r>
              <a:rPr sz="1400" b="0" i="0">
                <a:solidFill>
                  <a:srgbClr val="555F6D"/>
                </a:solidFill>
              </a:rPr>
              <a:t>Del texto al circuito en FluidSim, detectando y resolviendo señales bloqueadas (cascada).</a:t>
            </a:r>
          </a:p>
        </p:txBody>
      </p:sp>
      <p:sp>
        <p:nvSpPr>
          <p:cNvPr id="16" name="Rounded Rectangle 15"/>
          <p:cNvSpPr/>
          <p:nvPr/>
        </p:nvSpPr>
        <p:spPr>
          <a:xfrm>
            <a:off x="6949440" y="1463040"/>
            <a:ext cx="4663440" cy="393192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178040" y="1600200"/>
            <a:ext cx="4297680" cy="411480"/>
          </a:xfrm>
          <a:prstGeom prst="rect">
            <a:avLst/>
          </a:prstGeom>
          <a:noFill/>
        </p:spPr>
        <p:txBody>
          <a:bodyPr wrap="square" lIns="45720" rIns="45720" tIns="27432" bIns="27432" anchor="t">
            <a:spAutoFit/>
          </a:bodyPr>
          <a:lstStyle/>
          <a:p>
            <a:pPr algn="l">
              <a:spcAft>
                <a:spcPts val="600"/>
              </a:spcAft>
            </a:pPr>
            <a:r>
              <a:rPr sz="1800" b="1" i="0">
                <a:solidFill>
                  <a:srgbClr val="042254"/>
                </a:solidFill>
              </a:rPr>
              <a:t>Agenda de hoy (120 min)</a:t>
            </a:r>
          </a:p>
        </p:txBody>
      </p:sp>
      <p:sp>
        <p:nvSpPr>
          <p:cNvPr id="18" name="TextBox 17"/>
          <p:cNvSpPr txBox="1"/>
          <p:nvPr/>
        </p:nvSpPr>
        <p:spPr>
          <a:xfrm>
            <a:off x="7178040" y="2148840"/>
            <a:ext cx="731520" cy="457200"/>
          </a:xfrm>
          <a:prstGeom prst="rect">
            <a:avLst/>
          </a:prstGeom>
          <a:noFill/>
        </p:spPr>
        <p:txBody>
          <a:bodyPr wrap="square" lIns="45720" rIns="45720" tIns="27432" bIns="27432" anchor="t">
            <a:spAutoFit/>
          </a:bodyPr>
          <a:lstStyle/>
          <a:p>
            <a:pPr algn="l">
              <a:spcAft>
                <a:spcPts val="600"/>
              </a:spcAft>
            </a:pPr>
            <a:r>
              <a:rPr sz="1600" b="1" i="0">
                <a:solidFill>
                  <a:srgbClr val="0B7A53"/>
                </a:solidFill>
              </a:rPr>
              <a:t>10'</a:t>
            </a:r>
          </a:p>
        </p:txBody>
      </p:sp>
      <p:sp>
        <p:nvSpPr>
          <p:cNvPr id="19" name="TextBox 18"/>
          <p:cNvSpPr txBox="1"/>
          <p:nvPr/>
        </p:nvSpPr>
        <p:spPr>
          <a:xfrm>
            <a:off x="7909560" y="2148840"/>
            <a:ext cx="3566160" cy="548640"/>
          </a:xfrm>
          <a:prstGeom prst="rect">
            <a:avLst/>
          </a:prstGeom>
          <a:noFill/>
        </p:spPr>
        <p:txBody>
          <a:bodyPr wrap="square" lIns="45720" rIns="45720" tIns="27432" bIns="27432" anchor="t">
            <a:spAutoFit/>
          </a:bodyPr>
          <a:lstStyle/>
          <a:p>
            <a:pPr algn="l">
              <a:spcAft>
                <a:spcPts val="600"/>
              </a:spcAft>
            </a:pPr>
            <a:r>
              <a:rPr sz="1500" b="0" i="0">
                <a:solidFill>
                  <a:srgbClr val="1A1A1A"/>
                </a:solidFill>
              </a:rPr>
              <a:t>¿Por qué neumática? Cadena de energía</a:t>
            </a:r>
          </a:p>
        </p:txBody>
      </p:sp>
      <p:sp>
        <p:nvSpPr>
          <p:cNvPr id="20" name="TextBox 19"/>
          <p:cNvSpPr txBox="1"/>
          <p:nvPr/>
        </p:nvSpPr>
        <p:spPr>
          <a:xfrm>
            <a:off x="7178040" y="2770632"/>
            <a:ext cx="731520" cy="457200"/>
          </a:xfrm>
          <a:prstGeom prst="rect">
            <a:avLst/>
          </a:prstGeom>
          <a:noFill/>
        </p:spPr>
        <p:txBody>
          <a:bodyPr wrap="square" lIns="45720" rIns="45720" tIns="27432" bIns="27432" anchor="t">
            <a:spAutoFit/>
          </a:bodyPr>
          <a:lstStyle/>
          <a:p>
            <a:pPr algn="l">
              <a:spcAft>
                <a:spcPts val="600"/>
              </a:spcAft>
            </a:pPr>
            <a:r>
              <a:rPr sz="1600" b="1" i="0">
                <a:solidFill>
                  <a:srgbClr val="0B7A53"/>
                </a:solidFill>
              </a:rPr>
              <a:t>30'</a:t>
            </a:r>
          </a:p>
        </p:txBody>
      </p:sp>
      <p:sp>
        <p:nvSpPr>
          <p:cNvPr id="21" name="TextBox 20"/>
          <p:cNvSpPr txBox="1"/>
          <p:nvPr/>
        </p:nvSpPr>
        <p:spPr>
          <a:xfrm>
            <a:off x="7909560" y="2770632"/>
            <a:ext cx="3566160" cy="548640"/>
          </a:xfrm>
          <a:prstGeom prst="rect">
            <a:avLst/>
          </a:prstGeom>
          <a:noFill/>
        </p:spPr>
        <p:txBody>
          <a:bodyPr wrap="square" lIns="45720" rIns="45720" tIns="27432" bIns="27432" anchor="t">
            <a:spAutoFit/>
          </a:bodyPr>
          <a:lstStyle/>
          <a:p>
            <a:pPr algn="l">
              <a:spcAft>
                <a:spcPts val="600"/>
              </a:spcAft>
            </a:pPr>
            <a:r>
              <a:rPr sz="1500" b="0" i="0">
                <a:solidFill>
                  <a:srgbClr val="1A1A1A"/>
                </a:solidFill>
              </a:rPr>
              <a:t>Símbolos ISO 1219</a:t>
            </a:r>
          </a:p>
        </p:txBody>
      </p:sp>
      <p:sp>
        <p:nvSpPr>
          <p:cNvPr id="22" name="TextBox 21"/>
          <p:cNvSpPr txBox="1"/>
          <p:nvPr/>
        </p:nvSpPr>
        <p:spPr>
          <a:xfrm>
            <a:off x="7178040" y="3392424"/>
            <a:ext cx="731520" cy="457200"/>
          </a:xfrm>
          <a:prstGeom prst="rect">
            <a:avLst/>
          </a:prstGeom>
          <a:noFill/>
        </p:spPr>
        <p:txBody>
          <a:bodyPr wrap="square" lIns="45720" rIns="45720" tIns="27432" bIns="27432" anchor="t">
            <a:spAutoFit/>
          </a:bodyPr>
          <a:lstStyle/>
          <a:p>
            <a:pPr algn="l">
              <a:spcAft>
                <a:spcPts val="600"/>
              </a:spcAft>
            </a:pPr>
            <a:r>
              <a:rPr sz="1600" b="1" i="0">
                <a:solidFill>
                  <a:srgbClr val="0B7A53"/>
                </a:solidFill>
              </a:rPr>
              <a:t>30'</a:t>
            </a:r>
          </a:p>
        </p:txBody>
      </p:sp>
      <p:sp>
        <p:nvSpPr>
          <p:cNvPr id="23" name="TextBox 22"/>
          <p:cNvSpPr txBox="1"/>
          <p:nvPr/>
        </p:nvSpPr>
        <p:spPr>
          <a:xfrm>
            <a:off x="7909560" y="3392424"/>
            <a:ext cx="3566160" cy="548640"/>
          </a:xfrm>
          <a:prstGeom prst="rect">
            <a:avLst/>
          </a:prstGeom>
          <a:noFill/>
        </p:spPr>
        <p:txBody>
          <a:bodyPr wrap="square" lIns="45720" rIns="45720" tIns="27432" bIns="27432" anchor="t">
            <a:spAutoFit/>
          </a:bodyPr>
          <a:lstStyle/>
          <a:p>
            <a:pPr algn="l">
              <a:spcAft>
                <a:spcPts val="600"/>
              </a:spcAft>
            </a:pPr>
            <a:r>
              <a:rPr sz="1500" b="0" i="0">
                <a:solidFill>
                  <a:srgbClr val="1A1A1A"/>
                </a:solidFill>
              </a:rPr>
              <a:t>Circuitos básicos: mando, velocidad, lógica</a:t>
            </a:r>
          </a:p>
        </p:txBody>
      </p:sp>
      <p:sp>
        <p:nvSpPr>
          <p:cNvPr id="24" name="TextBox 23"/>
          <p:cNvSpPr txBox="1"/>
          <p:nvPr/>
        </p:nvSpPr>
        <p:spPr>
          <a:xfrm>
            <a:off x="7178040" y="4014216"/>
            <a:ext cx="731520" cy="457200"/>
          </a:xfrm>
          <a:prstGeom prst="rect">
            <a:avLst/>
          </a:prstGeom>
          <a:noFill/>
        </p:spPr>
        <p:txBody>
          <a:bodyPr wrap="square" lIns="45720" rIns="45720" tIns="27432" bIns="27432" anchor="t">
            <a:spAutoFit/>
          </a:bodyPr>
          <a:lstStyle/>
          <a:p>
            <a:pPr algn="l">
              <a:spcAft>
                <a:spcPts val="600"/>
              </a:spcAft>
            </a:pPr>
            <a:r>
              <a:rPr sz="1600" b="1" i="0">
                <a:solidFill>
                  <a:srgbClr val="0B7A53"/>
                </a:solidFill>
              </a:rPr>
              <a:t>40'</a:t>
            </a:r>
          </a:p>
        </p:txBody>
      </p:sp>
      <p:sp>
        <p:nvSpPr>
          <p:cNvPr id="25" name="TextBox 24"/>
          <p:cNvSpPr txBox="1"/>
          <p:nvPr/>
        </p:nvSpPr>
        <p:spPr>
          <a:xfrm>
            <a:off x="7909560" y="4014216"/>
            <a:ext cx="3566160" cy="548640"/>
          </a:xfrm>
          <a:prstGeom prst="rect">
            <a:avLst/>
          </a:prstGeom>
          <a:noFill/>
        </p:spPr>
        <p:txBody>
          <a:bodyPr wrap="square" lIns="45720" rIns="45720" tIns="27432" bIns="27432" anchor="t">
            <a:spAutoFit/>
          </a:bodyPr>
          <a:lstStyle/>
          <a:p>
            <a:pPr algn="l">
              <a:spcAft>
                <a:spcPts val="600"/>
              </a:spcAft>
            </a:pPr>
            <a:r>
              <a:rPr sz="1500" b="0" i="0">
                <a:solidFill>
                  <a:srgbClr val="1A1A1A"/>
                </a:solidFill>
              </a:rPr>
              <a:t>Secuencias, señales bloqueadas y cascada</a:t>
            </a:r>
          </a:p>
        </p:txBody>
      </p:sp>
      <p:sp>
        <p:nvSpPr>
          <p:cNvPr id="26" name="TextBox 25"/>
          <p:cNvSpPr txBox="1"/>
          <p:nvPr/>
        </p:nvSpPr>
        <p:spPr>
          <a:xfrm>
            <a:off x="7178040" y="4636008"/>
            <a:ext cx="731520" cy="457200"/>
          </a:xfrm>
          <a:prstGeom prst="rect">
            <a:avLst/>
          </a:prstGeom>
          <a:noFill/>
        </p:spPr>
        <p:txBody>
          <a:bodyPr wrap="square" lIns="45720" rIns="45720" tIns="27432" bIns="27432" anchor="t">
            <a:spAutoFit/>
          </a:bodyPr>
          <a:lstStyle/>
          <a:p>
            <a:pPr algn="l">
              <a:spcAft>
                <a:spcPts val="600"/>
              </a:spcAft>
            </a:pPr>
            <a:r>
              <a:rPr sz="1600" b="1" i="0">
                <a:solidFill>
                  <a:srgbClr val="0B7A53"/>
                </a:solidFill>
              </a:rPr>
              <a:t>10'</a:t>
            </a:r>
          </a:p>
        </p:txBody>
      </p:sp>
      <p:sp>
        <p:nvSpPr>
          <p:cNvPr id="27" name="TextBox 26"/>
          <p:cNvSpPr txBox="1"/>
          <p:nvPr/>
        </p:nvSpPr>
        <p:spPr>
          <a:xfrm>
            <a:off x="7909560" y="4636008"/>
            <a:ext cx="3566160" cy="548640"/>
          </a:xfrm>
          <a:prstGeom prst="rect">
            <a:avLst/>
          </a:prstGeom>
          <a:noFill/>
        </p:spPr>
        <p:txBody>
          <a:bodyPr wrap="square" lIns="45720" rIns="45720" tIns="27432" bIns="27432" anchor="t">
            <a:spAutoFit/>
          </a:bodyPr>
          <a:lstStyle/>
          <a:p>
            <a:pPr algn="l">
              <a:spcAft>
                <a:spcPts val="600"/>
              </a:spcAft>
            </a:pPr>
            <a:r>
              <a:rPr sz="1500" b="0" i="0">
                <a:solidFill>
                  <a:srgbClr val="1A1A1A"/>
                </a:solidFill>
              </a:rPr>
              <a:t>Metodología y cierre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¿Por qué neumática en mecatrónica?</a:t>
            </a:r>
          </a:p>
        </p:txBody>
      </p:sp>
      <p:sp>
        <p:nvSpPr>
          <p:cNvPr id="3" name="Slide Number Placeholder 2"/>
          <p:cNvSpPr>
            <a:spLocks noGrp="1"/>
          </p:cNvSpPr>
          <p:nvPr>
            <p:ph type="sldNum" idx="12"/>
          </p:nvPr>
        </p:nvSpPr>
        <p:spPr/>
        <p:txBody>
          <a:bodyPr/>
          <a:p>
            <a:fld id="{1BB82810-7C6C-4A47-83C0-2AFA42F7D40B}" type="slidenum">
              <a:rPr lang="es-PE"/>
              <a:t>4</a:t>
            </a:fld>
          </a:p>
        </p:txBody>
      </p:sp>
      <p:sp>
        <p:nvSpPr>
          <p:cNvPr id="4" name="Rounded Rectangle 3"/>
          <p:cNvSpPr/>
          <p:nvPr/>
        </p:nvSpPr>
        <p:spPr>
          <a:xfrm>
            <a:off x="548640" y="1463040"/>
            <a:ext cx="3566160" cy="297180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600200"/>
            <a:ext cx="3200400" cy="411480"/>
          </a:xfrm>
          <a:prstGeom prst="rect">
            <a:avLst/>
          </a:prstGeom>
          <a:noFill/>
        </p:spPr>
        <p:txBody>
          <a:bodyPr wrap="square" lIns="45720" rIns="45720" tIns="27432" bIns="27432" anchor="t">
            <a:spAutoFit/>
          </a:bodyPr>
          <a:lstStyle/>
          <a:p>
            <a:pPr algn="l">
              <a:spcAft>
                <a:spcPts val="600"/>
              </a:spcAft>
            </a:pPr>
            <a:r>
              <a:rPr sz="1800" b="1" i="0">
                <a:solidFill>
                  <a:srgbClr val="0B7A53"/>
                </a:solidFill>
              </a:rPr>
              <a:t>Ventajas</a:t>
            </a:r>
          </a:p>
        </p:txBody>
      </p:sp>
      <p:sp>
        <p:nvSpPr>
          <p:cNvPr id="6" name="TextBox 5"/>
          <p:cNvSpPr txBox="1"/>
          <p:nvPr/>
        </p:nvSpPr>
        <p:spPr>
          <a:xfrm>
            <a:off x="731520" y="2103120"/>
            <a:ext cx="3200400" cy="2240280"/>
          </a:xfrm>
          <a:prstGeom prst="rect">
            <a:avLst/>
          </a:prstGeom>
          <a:noFill/>
        </p:spPr>
        <p:txBody>
          <a:bodyPr wrap="square" lIns="45720" rIns="45720" tIns="27432" bIns="27432" anchor="t">
            <a:spAutoFit/>
          </a:bodyPr>
          <a:lstStyle/>
          <a:p>
            <a:pPr algn="l" marL="256032" indent="-219456">
              <a:spcAft>
                <a:spcPts val="800"/>
              </a:spcAft>
              <a:buClr>
                <a:srgbClr val="16C78E"/>
              </a:buClr>
              <a:buChar char="•"/>
            </a:pPr>
            <a:r>
              <a:rPr sz="1600" b="0" i="0">
                <a:solidFill>
                  <a:srgbClr val="1A1A1A"/>
                </a:solidFill>
              </a:rPr>
              <a:t>Movimientos lineales rápidos y simples</a:t>
            </a:r>
          </a:p>
          <a:p>
            <a:pPr algn="l" marL="256032" indent="-219456">
              <a:spcAft>
                <a:spcPts val="800"/>
              </a:spcAft>
              <a:buClr>
                <a:srgbClr val="16C78E"/>
              </a:buClr>
              <a:buChar char="•"/>
            </a:pPr>
            <a:r>
              <a:rPr sz="1600" b="0" i="0">
                <a:solidFill>
                  <a:srgbClr val="1A1A1A"/>
                </a:solidFill>
              </a:rPr>
              <a:t>Aire disponible y limpio; escape a la atmósfera</a:t>
            </a:r>
          </a:p>
          <a:p>
            <a:pPr algn="l" marL="256032" indent="-219456">
              <a:spcAft>
                <a:spcPts val="800"/>
              </a:spcAft>
              <a:buClr>
                <a:srgbClr val="16C78E"/>
              </a:buClr>
              <a:buChar char="•"/>
            </a:pPr>
            <a:r>
              <a:rPr sz="1600" b="0" i="0">
                <a:solidFill>
                  <a:srgbClr val="1A1A1A"/>
                </a:solidFill>
              </a:rPr>
              <a:t>Seguro en ambientes explosivos</a:t>
            </a:r>
          </a:p>
          <a:p>
            <a:pPr algn="l" marL="256032" indent="-219456">
              <a:spcAft>
                <a:spcPts val="800"/>
              </a:spcAft>
              <a:buClr>
                <a:srgbClr val="16C78E"/>
              </a:buClr>
              <a:buChar char="•"/>
            </a:pPr>
            <a:r>
              <a:rPr sz="1600" b="0" i="0">
                <a:solidFill>
                  <a:srgbClr val="1A1A1A"/>
                </a:solidFill>
              </a:rPr>
              <a:t>Tolera sobrecargas (el cilindro se detiene)</a:t>
            </a:r>
          </a:p>
        </p:txBody>
      </p:sp>
      <p:sp>
        <p:nvSpPr>
          <p:cNvPr id="7" name="Rounded Rectangle 6"/>
          <p:cNvSpPr/>
          <p:nvPr/>
        </p:nvSpPr>
        <p:spPr>
          <a:xfrm>
            <a:off x="4315968" y="1463040"/>
            <a:ext cx="3566160" cy="297180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98848" y="1600200"/>
            <a:ext cx="3200400" cy="411480"/>
          </a:xfrm>
          <a:prstGeom prst="rect">
            <a:avLst/>
          </a:prstGeom>
          <a:noFill/>
        </p:spPr>
        <p:txBody>
          <a:bodyPr wrap="square" lIns="45720" rIns="45720" tIns="27432" bIns="27432" anchor="t">
            <a:spAutoFit/>
          </a:bodyPr>
          <a:lstStyle/>
          <a:p>
            <a:pPr algn="l">
              <a:spcAft>
                <a:spcPts val="600"/>
              </a:spcAft>
            </a:pPr>
            <a:r>
              <a:rPr sz="1800" b="1" i="0">
                <a:solidFill>
                  <a:srgbClr val="042254"/>
                </a:solidFill>
              </a:rPr>
              <a:t>Limitaciones</a:t>
            </a:r>
          </a:p>
        </p:txBody>
      </p:sp>
      <p:sp>
        <p:nvSpPr>
          <p:cNvPr id="9" name="TextBox 8"/>
          <p:cNvSpPr txBox="1"/>
          <p:nvPr/>
        </p:nvSpPr>
        <p:spPr>
          <a:xfrm>
            <a:off x="4498848" y="2103120"/>
            <a:ext cx="3200400" cy="2240280"/>
          </a:xfrm>
          <a:prstGeom prst="rect">
            <a:avLst/>
          </a:prstGeom>
          <a:noFill/>
        </p:spPr>
        <p:txBody>
          <a:bodyPr wrap="square" lIns="45720" rIns="45720" tIns="27432" bIns="27432" anchor="t">
            <a:spAutoFit/>
          </a:bodyPr>
          <a:lstStyle/>
          <a:p>
            <a:pPr algn="l" marL="256032" indent="-219456">
              <a:spcAft>
                <a:spcPts val="800"/>
              </a:spcAft>
              <a:buClr>
                <a:srgbClr val="16C78E"/>
              </a:buClr>
              <a:buChar char="•"/>
            </a:pPr>
            <a:r>
              <a:rPr sz="1600" b="0" i="0">
                <a:solidFill>
                  <a:srgbClr val="1A1A1A"/>
                </a:solidFill>
              </a:rPr>
              <a:t>Aire compresible: difícil posicionar en puntos intermedios</a:t>
            </a:r>
          </a:p>
          <a:p>
            <a:pPr algn="l" marL="256032" indent="-219456">
              <a:spcAft>
                <a:spcPts val="800"/>
              </a:spcAft>
              <a:buClr>
                <a:srgbClr val="16C78E"/>
              </a:buClr>
              <a:buChar char="•"/>
            </a:pPr>
            <a:r>
              <a:rPr sz="1600" b="0" i="0">
                <a:solidFill>
                  <a:srgbClr val="1A1A1A"/>
                </a:solidFill>
              </a:rPr>
              <a:t>Fuerzas moderadas (≈ 6 bar)</a:t>
            </a:r>
          </a:p>
          <a:p>
            <a:pPr algn="l" marL="256032" indent="-219456">
              <a:spcAft>
                <a:spcPts val="800"/>
              </a:spcAft>
              <a:buClr>
                <a:srgbClr val="16C78E"/>
              </a:buClr>
              <a:buChar char="•"/>
            </a:pPr>
            <a:r>
              <a:rPr sz="1600" b="0" i="0">
                <a:solidFill>
                  <a:srgbClr val="1A1A1A"/>
                </a:solidFill>
              </a:rPr>
              <a:t>Ruido en escapes</a:t>
            </a:r>
          </a:p>
          <a:p>
            <a:pPr algn="l" marL="256032" indent="-219456">
              <a:spcAft>
                <a:spcPts val="800"/>
              </a:spcAft>
              <a:buClr>
                <a:srgbClr val="16C78E"/>
              </a:buClr>
              <a:buChar char="•"/>
            </a:pPr>
            <a:r>
              <a:rPr sz="1600" b="0" i="0">
                <a:solidFill>
                  <a:srgbClr val="1A1A1A"/>
                </a:solidFill>
              </a:rPr>
              <a:t>Energía cara: las fugas cuestan</a:t>
            </a:r>
          </a:p>
        </p:txBody>
      </p:sp>
      <p:sp>
        <p:nvSpPr>
          <p:cNvPr id="10" name="Rounded Rectangle 9"/>
          <p:cNvSpPr/>
          <p:nvPr/>
        </p:nvSpPr>
        <p:spPr>
          <a:xfrm>
            <a:off x="8092440" y="1463040"/>
            <a:ext cx="3566160" cy="297180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75319" y="1600200"/>
            <a:ext cx="3200400" cy="411480"/>
          </a:xfrm>
          <a:prstGeom prst="rect">
            <a:avLst/>
          </a:prstGeom>
          <a:noFill/>
        </p:spPr>
        <p:txBody>
          <a:bodyPr wrap="square" lIns="45720" rIns="45720" tIns="27432" bIns="27432" anchor="t">
            <a:spAutoFit/>
          </a:bodyPr>
          <a:lstStyle/>
          <a:p>
            <a:pPr algn="l">
              <a:spcAft>
                <a:spcPts val="600"/>
              </a:spcAft>
            </a:pPr>
            <a:r>
              <a:rPr sz="1800" b="1" i="0">
                <a:solidFill>
                  <a:srgbClr val="042254"/>
                </a:solidFill>
              </a:rPr>
              <a:t>Dónde lo verás</a:t>
            </a:r>
          </a:p>
        </p:txBody>
      </p:sp>
      <p:sp>
        <p:nvSpPr>
          <p:cNvPr id="12" name="TextBox 11"/>
          <p:cNvSpPr txBox="1"/>
          <p:nvPr/>
        </p:nvSpPr>
        <p:spPr>
          <a:xfrm>
            <a:off x="8275319" y="2103120"/>
            <a:ext cx="3200400" cy="2240280"/>
          </a:xfrm>
          <a:prstGeom prst="rect">
            <a:avLst/>
          </a:prstGeom>
          <a:noFill/>
        </p:spPr>
        <p:txBody>
          <a:bodyPr wrap="square" lIns="45720" rIns="45720" tIns="27432" bIns="27432" anchor="t">
            <a:spAutoFit/>
          </a:bodyPr>
          <a:lstStyle/>
          <a:p>
            <a:pPr algn="l" marL="256032" indent="-219456">
              <a:spcAft>
                <a:spcPts val="800"/>
              </a:spcAft>
              <a:buClr>
                <a:srgbClr val="16C78E"/>
              </a:buClr>
              <a:buChar char="•"/>
            </a:pPr>
            <a:r>
              <a:rPr sz="1600" b="0" i="0">
                <a:solidFill>
                  <a:srgbClr val="1A1A1A"/>
                </a:solidFill>
              </a:rPr>
              <a:t>Pinzas y garras de robots</a:t>
            </a:r>
          </a:p>
          <a:p>
            <a:pPr algn="l" marL="256032" indent="-219456">
              <a:spcAft>
                <a:spcPts val="800"/>
              </a:spcAft>
              <a:buClr>
                <a:srgbClr val="16C78E"/>
              </a:buClr>
              <a:buChar char="•"/>
            </a:pPr>
            <a:r>
              <a:rPr sz="1600" b="0" i="0">
                <a:solidFill>
                  <a:srgbClr val="1A1A1A"/>
                </a:solidFill>
              </a:rPr>
              <a:t>Prensas, estampado y doblado</a:t>
            </a:r>
          </a:p>
          <a:p>
            <a:pPr algn="l" marL="256032" indent="-219456">
              <a:spcAft>
                <a:spcPts val="800"/>
              </a:spcAft>
              <a:buClr>
                <a:srgbClr val="16C78E"/>
              </a:buClr>
              <a:buChar char="•"/>
            </a:pPr>
            <a:r>
              <a:rPr sz="1600" b="0" i="0">
                <a:solidFill>
                  <a:srgbClr val="1A1A1A"/>
                </a:solidFill>
              </a:rPr>
              <a:t>Clasificadores en fajas transportadoras</a:t>
            </a:r>
          </a:p>
          <a:p>
            <a:pPr algn="l" marL="256032" indent="-219456">
              <a:spcAft>
                <a:spcPts val="800"/>
              </a:spcAft>
              <a:buClr>
                <a:srgbClr val="16C78E"/>
              </a:buClr>
              <a:buChar char="•"/>
            </a:pPr>
            <a:r>
              <a:rPr sz="1600" b="0" i="0">
                <a:solidFill>
                  <a:srgbClr val="1A1A1A"/>
                </a:solidFill>
              </a:rPr>
              <a:t>Puertas automáticas</a:t>
            </a:r>
          </a:p>
        </p:txBody>
      </p:sp>
      <p:sp>
        <p:nvSpPr>
          <p:cNvPr id="13" name="Rounded Rectangle 12"/>
          <p:cNvSpPr/>
          <p:nvPr/>
        </p:nvSpPr>
        <p:spPr>
          <a:xfrm>
            <a:off x="548640" y="4617720"/>
            <a:ext cx="11109960" cy="82296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663440"/>
            <a:ext cx="10698480" cy="731520"/>
          </a:xfrm>
          <a:prstGeom prst="rect">
            <a:avLst/>
          </a:prstGeom>
          <a:noFill/>
        </p:spPr>
        <p:txBody>
          <a:bodyPr wrap="square" lIns="45720" rIns="45720" tIns="27432" bIns="27432" anchor="ctr">
            <a:spAutoFit/>
          </a:bodyPr>
          <a:lstStyle/>
          <a:p>
            <a:pPr algn="l">
              <a:spcAft>
                <a:spcPts val="600"/>
              </a:spcAft>
            </a:pPr>
            <a:r>
              <a:rPr sz="1700" b="1" i="0">
                <a:solidFill>
                  <a:srgbClr val="C0392B"/>
                </a:solidFill>
              </a:rPr>
              <a:t>El aire comprimido es caro y peligroso: </a:t>
            </a:r>
            <a:r>
              <a:rPr sz="1700" b="0" i="0">
                <a:solidFill>
                  <a:srgbClr val="1A1A1A"/>
                </a:solidFill>
              </a:rPr>
              <a:t>por eso el circuito se dibuja y se simula antes de montarlo.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La cadena de energía neumática</a:t>
            </a:r>
          </a:p>
        </p:txBody>
      </p:sp>
      <p:sp>
        <p:nvSpPr>
          <p:cNvPr id="3" name="Slide Number Placeholder 2"/>
          <p:cNvSpPr>
            <a:spLocks noGrp="1"/>
          </p:cNvSpPr>
          <p:nvPr>
            <p:ph type="sldNum" idx="12"/>
          </p:nvPr>
        </p:nvSpPr>
        <p:spPr/>
        <p:txBody>
          <a:bodyPr/>
          <a:p>
            <a:fld id="{332654F8-28AC-4733-BDA5-98CBD843A1E1}" type="slidenum">
              <a:rPr lang="es-PE"/>
              <a:t>5</a:t>
            </a:fld>
          </a:p>
        </p:txBody>
      </p:sp>
      <p:sp>
        <p:nvSpPr>
          <p:cNvPr id="4" name="Rounded Rectangle 3"/>
          <p:cNvSpPr/>
          <p:nvPr/>
        </p:nvSpPr>
        <p:spPr>
          <a:xfrm>
            <a:off x="548640" y="1508760"/>
            <a:ext cx="2514600" cy="132588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1600200"/>
            <a:ext cx="2240280" cy="457200"/>
          </a:xfrm>
          <a:prstGeom prst="rect">
            <a:avLst/>
          </a:prstGeom>
          <a:noFill/>
        </p:spPr>
        <p:txBody>
          <a:bodyPr wrap="square" lIns="45720" rIns="45720" tIns="27432" bIns="27432" anchor="t">
            <a:spAutoFit/>
          </a:bodyPr>
          <a:lstStyle/>
          <a:p>
            <a:pPr algn="ctr">
              <a:spcAft>
                <a:spcPts val="600"/>
              </a:spcAft>
            </a:pPr>
            <a:r>
              <a:rPr sz="1600" b="1" i="0">
                <a:solidFill>
                  <a:srgbClr val="042254"/>
                </a:solidFill>
              </a:rPr>
              <a:t>Compresor</a:t>
            </a:r>
          </a:p>
        </p:txBody>
      </p:sp>
      <p:sp>
        <p:nvSpPr>
          <p:cNvPr id="6" name="TextBox 5"/>
          <p:cNvSpPr txBox="1"/>
          <p:nvPr/>
        </p:nvSpPr>
        <p:spPr>
          <a:xfrm>
            <a:off x="685800" y="2103120"/>
            <a:ext cx="2240280" cy="640080"/>
          </a:xfrm>
          <a:prstGeom prst="rect">
            <a:avLst/>
          </a:prstGeom>
          <a:noFill/>
        </p:spPr>
        <p:txBody>
          <a:bodyPr wrap="square" lIns="45720" rIns="45720" tIns="27432" bIns="27432" anchor="t">
            <a:spAutoFit/>
          </a:bodyPr>
          <a:lstStyle/>
          <a:p>
            <a:pPr algn="ctr">
              <a:spcAft>
                <a:spcPts val="600"/>
              </a:spcAft>
            </a:pPr>
            <a:r>
              <a:rPr sz="1300" b="0" i="0">
                <a:solidFill>
                  <a:srgbClr val="555F6D"/>
                </a:solidFill>
              </a:rPr>
              <a:t>genera aire a presión</a:t>
            </a:r>
          </a:p>
        </p:txBody>
      </p:sp>
      <p:sp>
        <p:nvSpPr>
          <p:cNvPr id="7" name="TextBox 6"/>
          <p:cNvSpPr txBox="1"/>
          <p:nvPr/>
        </p:nvSpPr>
        <p:spPr>
          <a:xfrm>
            <a:off x="3035808" y="1874519"/>
            <a:ext cx="365760" cy="457200"/>
          </a:xfrm>
          <a:prstGeom prst="rect">
            <a:avLst/>
          </a:prstGeom>
          <a:noFill/>
        </p:spPr>
        <p:txBody>
          <a:bodyPr wrap="square" lIns="45720" rIns="45720" tIns="27432" bIns="27432" anchor="t">
            <a:spAutoFit/>
          </a:bodyPr>
          <a:lstStyle/>
          <a:p>
            <a:pPr algn="ctr">
              <a:spcAft>
                <a:spcPts val="600"/>
              </a:spcAft>
            </a:pPr>
            <a:r>
              <a:rPr sz="2400" b="1" i="0">
                <a:solidFill>
                  <a:srgbClr val="16C78E"/>
                </a:solidFill>
              </a:rPr>
              <a:t>→</a:t>
            </a:r>
          </a:p>
        </p:txBody>
      </p:sp>
      <p:sp>
        <p:nvSpPr>
          <p:cNvPr id="8" name="Rounded Rectangle 7"/>
          <p:cNvSpPr/>
          <p:nvPr/>
        </p:nvSpPr>
        <p:spPr>
          <a:xfrm>
            <a:off x="3364992" y="1508760"/>
            <a:ext cx="2514600" cy="132588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02152" y="1600200"/>
            <a:ext cx="2240280" cy="457200"/>
          </a:xfrm>
          <a:prstGeom prst="rect">
            <a:avLst/>
          </a:prstGeom>
          <a:noFill/>
        </p:spPr>
        <p:txBody>
          <a:bodyPr wrap="square" lIns="45720" rIns="45720" tIns="27432" bIns="27432" anchor="t">
            <a:spAutoFit/>
          </a:bodyPr>
          <a:lstStyle/>
          <a:p>
            <a:pPr algn="ctr">
              <a:spcAft>
                <a:spcPts val="600"/>
              </a:spcAft>
            </a:pPr>
            <a:r>
              <a:rPr sz="1600" b="1" i="0">
                <a:solidFill>
                  <a:srgbClr val="042254"/>
                </a:solidFill>
              </a:rPr>
              <a:t>Unidad de mantenimiento</a:t>
            </a:r>
          </a:p>
        </p:txBody>
      </p:sp>
      <p:sp>
        <p:nvSpPr>
          <p:cNvPr id="10" name="TextBox 9"/>
          <p:cNvSpPr txBox="1"/>
          <p:nvPr/>
        </p:nvSpPr>
        <p:spPr>
          <a:xfrm>
            <a:off x="3502152" y="2103120"/>
            <a:ext cx="2240280" cy="640080"/>
          </a:xfrm>
          <a:prstGeom prst="rect">
            <a:avLst/>
          </a:prstGeom>
          <a:noFill/>
        </p:spPr>
        <p:txBody>
          <a:bodyPr wrap="square" lIns="45720" rIns="45720" tIns="27432" bIns="27432" anchor="t">
            <a:spAutoFit/>
          </a:bodyPr>
          <a:lstStyle/>
          <a:p>
            <a:pPr algn="ctr">
              <a:spcAft>
                <a:spcPts val="600"/>
              </a:spcAft>
            </a:pPr>
            <a:r>
              <a:rPr sz="1300" b="0" i="0">
                <a:solidFill>
                  <a:srgbClr val="555F6D"/>
                </a:solidFill>
              </a:rPr>
              <a:t>filtra, regula y (lubrica)</a:t>
            </a:r>
          </a:p>
        </p:txBody>
      </p:sp>
      <p:sp>
        <p:nvSpPr>
          <p:cNvPr id="11" name="TextBox 10"/>
          <p:cNvSpPr txBox="1"/>
          <p:nvPr/>
        </p:nvSpPr>
        <p:spPr>
          <a:xfrm>
            <a:off x="5852160" y="1874519"/>
            <a:ext cx="365760" cy="457200"/>
          </a:xfrm>
          <a:prstGeom prst="rect">
            <a:avLst/>
          </a:prstGeom>
          <a:noFill/>
        </p:spPr>
        <p:txBody>
          <a:bodyPr wrap="square" lIns="45720" rIns="45720" tIns="27432" bIns="27432" anchor="t">
            <a:spAutoFit/>
          </a:bodyPr>
          <a:lstStyle/>
          <a:p>
            <a:pPr algn="ctr">
              <a:spcAft>
                <a:spcPts val="600"/>
              </a:spcAft>
            </a:pPr>
            <a:r>
              <a:rPr sz="2400" b="1" i="0">
                <a:solidFill>
                  <a:srgbClr val="16C78E"/>
                </a:solidFill>
              </a:rPr>
              <a:t>→</a:t>
            </a:r>
          </a:p>
        </p:txBody>
      </p:sp>
      <p:sp>
        <p:nvSpPr>
          <p:cNvPr id="12" name="Rounded Rectangle 11"/>
          <p:cNvSpPr/>
          <p:nvPr/>
        </p:nvSpPr>
        <p:spPr>
          <a:xfrm>
            <a:off x="6181344" y="1508760"/>
            <a:ext cx="2514600" cy="132588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18504" y="1600200"/>
            <a:ext cx="2240280" cy="457200"/>
          </a:xfrm>
          <a:prstGeom prst="rect">
            <a:avLst/>
          </a:prstGeom>
          <a:noFill/>
        </p:spPr>
        <p:txBody>
          <a:bodyPr wrap="square" lIns="45720" rIns="45720" tIns="27432" bIns="27432" anchor="t">
            <a:spAutoFit/>
          </a:bodyPr>
          <a:lstStyle/>
          <a:p>
            <a:pPr algn="ctr">
              <a:spcAft>
                <a:spcPts val="600"/>
              </a:spcAft>
            </a:pPr>
            <a:r>
              <a:rPr sz="1600" b="1" i="0">
                <a:solidFill>
                  <a:srgbClr val="042254"/>
                </a:solidFill>
              </a:rPr>
              <a:t>Válvulas</a:t>
            </a:r>
          </a:p>
        </p:txBody>
      </p:sp>
      <p:sp>
        <p:nvSpPr>
          <p:cNvPr id="14" name="TextBox 13"/>
          <p:cNvSpPr txBox="1"/>
          <p:nvPr/>
        </p:nvSpPr>
        <p:spPr>
          <a:xfrm>
            <a:off x="6318504" y="2103120"/>
            <a:ext cx="2240280" cy="640080"/>
          </a:xfrm>
          <a:prstGeom prst="rect">
            <a:avLst/>
          </a:prstGeom>
          <a:noFill/>
        </p:spPr>
        <p:txBody>
          <a:bodyPr wrap="square" lIns="45720" rIns="45720" tIns="27432" bIns="27432" anchor="t">
            <a:spAutoFit/>
          </a:bodyPr>
          <a:lstStyle/>
          <a:p>
            <a:pPr algn="ctr">
              <a:spcAft>
                <a:spcPts val="600"/>
              </a:spcAft>
            </a:pPr>
            <a:r>
              <a:rPr sz="1300" b="0" i="0">
                <a:solidFill>
                  <a:srgbClr val="555F6D"/>
                </a:solidFill>
              </a:rPr>
              <a:t>deciden a dónde va el aire</a:t>
            </a:r>
          </a:p>
        </p:txBody>
      </p:sp>
      <p:sp>
        <p:nvSpPr>
          <p:cNvPr id="15" name="TextBox 14"/>
          <p:cNvSpPr txBox="1"/>
          <p:nvPr/>
        </p:nvSpPr>
        <p:spPr>
          <a:xfrm>
            <a:off x="8668512" y="1874519"/>
            <a:ext cx="365760" cy="457200"/>
          </a:xfrm>
          <a:prstGeom prst="rect">
            <a:avLst/>
          </a:prstGeom>
          <a:noFill/>
        </p:spPr>
        <p:txBody>
          <a:bodyPr wrap="square" lIns="45720" rIns="45720" tIns="27432" bIns="27432" anchor="t">
            <a:spAutoFit/>
          </a:bodyPr>
          <a:lstStyle/>
          <a:p>
            <a:pPr algn="ctr">
              <a:spcAft>
                <a:spcPts val="600"/>
              </a:spcAft>
            </a:pPr>
            <a:r>
              <a:rPr sz="2400" b="1" i="0">
                <a:solidFill>
                  <a:srgbClr val="16C78E"/>
                </a:solidFill>
              </a:rPr>
              <a:t>→</a:t>
            </a:r>
          </a:p>
        </p:txBody>
      </p:sp>
      <p:sp>
        <p:nvSpPr>
          <p:cNvPr id="16" name="Rounded Rectangle 15"/>
          <p:cNvSpPr/>
          <p:nvPr/>
        </p:nvSpPr>
        <p:spPr>
          <a:xfrm>
            <a:off x="8997696" y="1508760"/>
            <a:ext cx="2514600" cy="132588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34856" y="1600200"/>
            <a:ext cx="2240280" cy="457200"/>
          </a:xfrm>
          <a:prstGeom prst="rect">
            <a:avLst/>
          </a:prstGeom>
          <a:noFill/>
        </p:spPr>
        <p:txBody>
          <a:bodyPr wrap="square" lIns="45720" rIns="45720" tIns="27432" bIns="27432" anchor="t">
            <a:spAutoFit/>
          </a:bodyPr>
          <a:lstStyle/>
          <a:p>
            <a:pPr algn="ctr">
              <a:spcAft>
                <a:spcPts val="600"/>
              </a:spcAft>
            </a:pPr>
            <a:r>
              <a:rPr sz="1600" b="1" i="0">
                <a:solidFill>
                  <a:srgbClr val="042254"/>
                </a:solidFill>
              </a:rPr>
              <a:t>Actuadores</a:t>
            </a:r>
          </a:p>
        </p:txBody>
      </p:sp>
      <p:sp>
        <p:nvSpPr>
          <p:cNvPr id="18" name="TextBox 17"/>
          <p:cNvSpPr txBox="1"/>
          <p:nvPr/>
        </p:nvSpPr>
        <p:spPr>
          <a:xfrm>
            <a:off x="9134856" y="2103120"/>
            <a:ext cx="2240280" cy="640080"/>
          </a:xfrm>
          <a:prstGeom prst="rect">
            <a:avLst/>
          </a:prstGeom>
          <a:noFill/>
        </p:spPr>
        <p:txBody>
          <a:bodyPr wrap="square" lIns="45720" rIns="45720" tIns="27432" bIns="27432" anchor="t">
            <a:spAutoFit/>
          </a:bodyPr>
          <a:lstStyle/>
          <a:p>
            <a:pPr algn="ctr">
              <a:spcAft>
                <a:spcPts val="600"/>
              </a:spcAft>
            </a:pPr>
            <a:r>
              <a:rPr sz="1300" b="0" i="0">
                <a:solidFill>
                  <a:srgbClr val="555F6D"/>
                </a:solidFill>
              </a:rPr>
              <a:t>convierten la presión en movimiento</a:t>
            </a:r>
          </a:p>
        </p:txBody>
      </p:sp>
      <p:pic>
        <p:nvPicPr>
          <p:cNvPr id="19" name="sym_unidad" descr="sym_unidad.png"/>
          <p:cNvPicPr>
            <a:picLocks noChangeAspect="1"/>
          </p:cNvPicPr>
          <p:nvPr/>
        </p:nvPicPr>
        <p:blipFill>
          <a:blip r:embed="rId3"/>
          <a:stretch>
            <a:fillRect/>
          </a:stretch>
        </p:blipFill>
        <p:spPr>
          <a:xfrm>
            <a:off x="731520" y="3272279"/>
            <a:ext cx="4206240" cy="1593601"/>
          </a:xfrm>
          <a:prstGeom prst="rect">
            <a:avLst/>
          </a:prstGeom>
        </p:spPr>
      </p:pic>
      <p:sp>
        <p:nvSpPr>
          <p:cNvPr id="20" name="TextBox 19"/>
          <p:cNvSpPr txBox="1"/>
          <p:nvPr/>
        </p:nvSpPr>
        <p:spPr>
          <a:xfrm>
            <a:off x="731520" y="4937760"/>
            <a:ext cx="4206240" cy="320040"/>
          </a:xfrm>
          <a:prstGeom prst="rect">
            <a:avLst/>
          </a:prstGeom>
          <a:noFill/>
        </p:spPr>
        <p:txBody>
          <a:bodyPr wrap="square" lIns="45720" rIns="45720" tIns="27432" bIns="27432" anchor="t">
            <a:spAutoFit/>
          </a:bodyPr>
          <a:lstStyle/>
          <a:p>
            <a:pPr algn="ctr">
              <a:spcAft>
                <a:spcPts val="600"/>
              </a:spcAft>
            </a:pPr>
            <a:r>
              <a:rPr sz="1100" b="0" i="0">
                <a:solidFill>
                  <a:srgbClr val="555F6D"/>
                </a:solidFill>
              </a:rPr>
              <a:t>Fuente + unidad de mantenimiento (símbolo simplificado)</a:t>
            </a:r>
          </a:p>
        </p:txBody>
      </p:sp>
      <p:pic>
        <p:nvPicPr>
          <p:cNvPr id="21" name="sym_fuente" descr="sym_fuente.png"/>
          <p:cNvPicPr>
            <a:picLocks noChangeAspect="1"/>
          </p:cNvPicPr>
          <p:nvPr/>
        </p:nvPicPr>
        <p:blipFill>
          <a:blip r:embed="rId4"/>
          <a:stretch>
            <a:fillRect/>
          </a:stretch>
        </p:blipFill>
        <p:spPr>
          <a:xfrm>
            <a:off x="5394960" y="3364495"/>
            <a:ext cx="1463040" cy="1043408"/>
          </a:xfrm>
          <a:prstGeom prst="rect">
            <a:avLst/>
          </a:prstGeom>
        </p:spPr>
      </p:pic>
      <p:sp>
        <p:nvSpPr>
          <p:cNvPr id="22" name="TextBox 21"/>
          <p:cNvSpPr txBox="1"/>
          <p:nvPr/>
        </p:nvSpPr>
        <p:spPr>
          <a:xfrm>
            <a:off x="5120640" y="4572000"/>
            <a:ext cx="2011680" cy="320040"/>
          </a:xfrm>
          <a:prstGeom prst="rect">
            <a:avLst/>
          </a:prstGeom>
          <a:noFill/>
        </p:spPr>
        <p:txBody>
          <a:bodyPr wrap="square" lIns="45720" rIns="45720" tIns="27432" bIns="27432" anchor="t">
            <a:spAutoFit/>
          </a:bodyPr>
          <a:lstStyle/>
          <a:p>
            <a:pPr algn="ctr">
              <a:spcAft>
                <a:spcPts val="600"/>
              </a:spcAft>
            </a:pPr>
            <a:r>
              <a:rPr sz="1100" b="0" i="0">
                <a:solidFill>
                  <a:srgbClr val="555F6D"/>
                </a:solidFill>
              </a:rPr>
              <a:t>Fuente de aire
(en cada puerto 1)</a:t>
            </a:r>
          </a:p>
        </p:txBody>
      </p:sp>
      <p:pic>
        <p:nvPicPr>
          <p:cNvPr id="23" name="sym_escape" descr="sym_escape.png"/>
          <p:cNvPicPr>
            <a:picLocks noChangeAspect="1"/>
          </p:cNvPicPr>
          <p:nvPr/>
        </p:nvPicPr>
        <p:blipFill>
          <a:blip r:embed="rId5"/>
          <a:stretch>
            <a:fillRect/>
          </a:stretch>
        </p:blipFill>
        <p:spPr>
          <a:xfrm>
            <a:off x="7498079" y="3364495"/>
            <a:ext cx="1463040" cy="1043408"/>
          </a:xfrm>
          <a:prstGeom prst="rect">
            <a:avLst/>
          </a:prstGeom>
        </p:spPr>
      </p:pic>
      <p:sp>
        <p:nvSpPr>
          <p:cNvPr id="24" name="TextBox 23"/>
          <p:cNvSpPr txBox="1"/>
          <p:nvPr/>
        </p:nvSpPr>
        <p:spPr>
          <a:xfrm>
            <a:off x="7223760" y="4572000"/>
            <a:ext cx="2011680" cy="320040"/>
          </a:xfrm>
          <a:prstGeom prst="rect">
            <a:avLst/>
          </a:prstGeom>
          <a:noFill/>
        </p:spPr>
        <p:txBody>
          <a:bodyPr wrap="square" lIns="45720" rIns="45720" tIns="27432" bIns="27432" anchor="t">
            <a:spAutoFit/>
          </a:bodyPr>
          <a:lstStyle/>
          <a:p>
            <a:pPr algn="ctr">
              <a:spcAft>
                <a:spcPts val="600"/>
              </a:spcAft>
            </a:pPr>
            <a:r>
              <a:rPr sz="1100" b="0" i="0">
                <a:solidFill>
                  <a:srgbClr val="555F6D"/>
                </a:solidFill>
              </a:rPr>
              <a:t>Escape a la
atmósfera</a:t>
            </a:r>
          </a:p>
        </p:txBody>
      </p:sp>
      <p:sp>
        <p:nvSpPr>
          <p:cNvPr id="25" name="Rounded Rectangle 24"/>
          <p:cNvSpPr/>
          <p:nvPr/>
        </p:nvSpPr>
        <p:spPr>
          <a:xfrm>
            <a:off x="9235440" y="3246120"/>
            <a:ext cx="2423160" cy="205740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72600" y="3337560"/>
            <a:ext cx="2194560" cy="1920240"/>
          </a:xfrm>
          <a:prstGeom prst="rect">
            <a:avLst/>
          </a:prstGeom>
          <a:noFill/>
        </p:spPr>
        <p:txBody>
          <a:bodyPr wrap="square" lIns="45720" rIns="45720" tIns="27432" bIns="27432" anchor="t">
            <a:spAutoFit/>
          </a:bodyPr>
          <a:lstStyle/>
          <a:p>
            <a:pPr algn="l">
              <a:spcAft>
                <a:spcPts val="600"/>
              </a:spcAft>
            </a:pPr>
            <a:r>
              <a:rPr sz="1300" b="1" i="0">
                <a:solidFill>
                  <a:srgbClr val="0B7A53"/>
                </a:solidFill>
              </a:rPr>
              <a:t>Convención FluidSim: </a:t>
            </a:r>
            <a:r>
              <a:rPr sz="1300" b="0" i="0">
                <a:solidFill>
                  <a:srgbClr val="1A1A1A"/>
                </a:solidFill>
              </a:rPr>
              <a:t>no se dibuja la tubería de alimentación; cada válvula lleva su fuente.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a:solidFill>
                  <a:srgbClr val="16C78E"/>
                </a:solidFill>
              </a:rPr>
              <a:t>1  </a:t>
            </a:r>
            <a:r>
              <a:rPr b="1">
                <a:solidFill>
                  <a:srgbClr val="042254"/>
                </a:solidFill>
              </a:rPr>
              <a:t>Símbolos ISO 1219</a:t>
            </a:r>
          </a:p>
        </p:txBody>
      </p:sp>
      <p:sp>
        <p:nvSpPr>
          <p:cNvPr id="3" name="Subtitle 2"/>
          <p:cNvSpPr>
            <a:spLocks noGrp="1"/>
          </p:cNvSpPr>
          <p:nvPr>
            <p:ph type="subTitle" idx="1"/>
          </p:nvPr>
        </p:nvSpPr>
        <p:spPr/>
        <p:txBody>
          <a:bodyPr/>
          <a:lstStyle/>
          <a:p>
            <a:r>
              <a:rPr sz="2000">
                <a:solidFill>
                  <a:srgbClr val="555F6D"/>
                </a:solidFill>
              </a:rPr>
              <a:t>Actuadores, válvulas, accionamientos y accesorios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Actuadores lineales: cilindros</a:t>
            </a:r>
          </a:p>
        </p:txBody>
      </p:sp>
      <p:sp>
        <p:nvSpPr>
          <p:cNvPr id="3" name="Slide Number Placeholder 2"/>
          <p:cNvSpPr>
            <a:spLocks noGrp="1"/>
          </p:cNvSpPr>
          <p:nvPr>
            <p:ph type="sldNum" idx="12"/>
          </p:nvPr>
        </p:nvSpPr>
        <p:spPr/>
        <p:txBody>
          <a:bodyPr/>
          <a:p>
            <a:fld id="{B76DBDE9-2A51-497B-932B-6BB199C2EEE0}" type="slidenum">
              <a:rPr lang="es-PE"/>
              <a:t>7</a:t>
            </a:fld>
          </a:p>
        </p:txBody>
      </p:sp>
      <p:pic>
        <p:nvPicPr>
          <p:cNvPr id="4" name="sym_cil_se" descr="sym_cil_se.png"/>
          <p:cNvPicPr>
            <a:picLocks noChangeAspect="1"/>
          </p:cNvPicPr>
          <p:nvPr/>
        </p:nvPicPr>
        <p:blipFill>
          <a:blip r:embed="rId3"/>
          <a:stretch>
            <a:fillRect/>
          </a:stretch>
        </p:blipFill>
        <p:spPr>
          <a:xfrm>
            <a:off x="648080" y="1554480"/>
            <a:ext cx="5104638" cy="2011680"/>
          </a:xfrm>
          <a:prstGeom prst="rect">
            <a:avLst/>
          </a:prstGeom>
        </p:spPr>
      </p:pic>
      <p:sp>
        <p:nvSpPr>
          <p:cNvPr id="5" name="TextBox 4"/>
          <p:cNvSpPr txBox="1"/>
          <p:nvPr/>
        </p:nvSpPr>
        <p:spPr>
          <a:xfrm>
            <a:off x="731520" y="3611880"/>
            <a:ext cx="4937760" cy="411480"/>
          </a:xfrm>
          <a:prstGeom prst="rect">
            <a:avLst/>
          </a:prstGeom>
          <a:noFill/>
        </p:spPr>
        <p:txBody>
          <a:bodyPr wrap="square" lIns="45720" rIns="45720" tIns="27432" bIns="27432" anchor="t">
            <a:spAutoFit/>
          </a:bodyPr>
          <a:lstStyle/>
          <a:p>
            <a:pPr algn="l">
              <a:spcAft>
                <a:spcPts val="600"/>
              </a:spcAft>
            </a:pPr>
            <a:r>
              <a:rPr sz="1800" b="1" i="0">
                <a:solidFill>
                  <a:srgbClr val="042254"/>
                </a:solidFill>
              </a:rPr>
              <a:t>Cilindro de simple efecto</a:t>
            </a:r>
          </a:p>
        </p:txBody>
      </p:sp>
      <p:sp>
        <p:nvSpPr>
          <p:cNvPr id="6" name="TextBox 5"/>
          <p:cNvSpPr txBox="1"/>
          <p:nvPr/>
        </p:nvSpPr>
        <p:spPr>
          <a:xfrm>
            <a:off x="731520" y="4069080"/>
            <a:ext cx="4937760" cy="1371600"/>
          </a:xfrm>
          <a:prstGeom prst="rect">
            <a:avLst/>
          </a:prstGeom>
          <a:noFill/>
        </p:spPr>
        <p:txBody>
          <a:bodyPr wrap="square" lIns="45720" rIns="45720" tIns="27432" bIns="27432" anchor="t">
            <a:spAutoFit/>
          </a:bodyPr>
          <a:lstStyle/>
          <a:p>
            <a:pPr algn="l" marL="256032" indent="-219456">
              <a:spcAft>
                <a:spcPts val="600"/>
              </a:spcAft>
              <a:buClr>
                <a:srgbClr val="16C78E"/>
              </a:buClr>
              <a:buChar char="•"/>
            </a:pPr>
            <a:r>
              <a:rPr sz="1400" b="0" i="0">
                <a:solidFill>
                  <a:srgbClr val="1A1A1A"/>
                </a:solidFill>
              </a:rPr>
              <a:t>Un puerto de trabajo</a:t>
            </a:r>
          </a:p>
          <a:p>
            <a:pPr algn="l" marL="256032" indent="-219456">
              <a:spcAft>
                <a:spcPts val="600"/>
              </a:spcAft>
              <a:buClr>
                <a:srgbClr val="16C78E"/>
              </a:buClr>
              <a:buChar char="•"/>
            </a:pPr>
            <a:r>
              <a:rPr sz="1400" b="0" i="0">
                <a:solidFill>
                  <a:srgbClr val="1A1A1A"/>
                </a:solidFill>
              </a:rPr>
              <a:t>Retorno por resorte</a:t>
            </a:r>
          </a:p>
          <a:p>
            <a:pPr algn="l" marL="256032" indent="-219456">
              <a:spcAft>
                <a:spcPts val="600"/>
              </a:spcAft>
              <a:buClr>
                <a:srgbClr val="16C78E"/>
              </a:buClr>
              <a:buChar char="•"/>
            </a:pPr>
            <a:r>
              <a:rPr sz="1400" b="0" i="0">
                <a:solidFill>
                  <a:srgbClr val="1A1A1A"/>
                </a:solidFill>
              </a:rPr>
              <a:t>Fuerza útil solo en un sentido</a:t>
            </a:r>
          </a:p>
        </p:txBody>
      </p:sp>
      <p:pic>
        <p:nvPicPr>
          <p:cNvPr id="7" name="sym_cil_de" descr="sym_cil_de.png"/>
          <p:cNvPicPr>
            <a:picLocks noChangeAspect="1"/>
          </p:cNvPicPr>
          <p:nvPr/>
        </p:nvPicPr>
        <p:blipFill>
          <a:blip r:embed="rId4"/>
          <a:stretch>
            <a:fillRect/>
          </a:stretch>
        </p:blipFill>
        <p:spPr>
          <a:xfrm>
            <a:off x="6317361" y="1554480"/>
            <a:ext cx="5104638" cy="2011680"/>
          </a:xfrm>
          <a:prstGeom prst="rect">
            <a:avLst/>
          </a:prstGeom>
        </p:spPr>
      </p:pic>
      <p:sp>
        <p:nvSpPr>
          <p:cNvPr id="8" name="TextBox 7"/>
          <p:cNvSpPr txBox="1"/>
          <p:nvPr/>
        </p:nvSpPr>
        <p:spPr>
          <a:xfrm>
            <a:off x="6400800" y="3611880"/>
            <a:ext cx="4937760" cy="411480"/>
          </a:xfrm>
          <a:prstGeom prst="rect">
            <a:avLst/>
          </a:prstGeom>
          <a:noFill/>
        </p:spPr>
        <p:txBody>
          <a:bodyPr wrap="square" lIns="45720" rIns="45720" tIns="27432" bIns="27432" anchor="t">
            <a:spAutoFit/>
          </a:bodyPr>
          <a:lstStyle/>
          <a:p>
            <a:pPr algn="l">
              <a:spcAft>
                <a:spcPts val="600"/>
              </a:spcAft>
            </a:pPr>
            <a:r>
              <a:rPr sz="1800" b="1" i="0">
                <a:solidFill>
                  <a:srgbClr val="042254"/>
                </a:solidFill>
              </a:rPr>
              <a:t>Cilindro de doble efecto</a:t>
            </a:r>
          </a:p>
        </p:txBody>
      </p:sp>
      <p:sp>
        <p:nvSpPr>
          <p:cNvPr id="9" name="TextBox 8"/>
          <p:cNvSpPr txBox="1"/>
          <p:nvPr/>
        </p:nvSpPr>
        <p:spPr>
          <a:xfrm>
            <a:off x="6400800" y="4069080"/>
            <a:ext cx="5120640" cy="1371600"/>
          </a:xfrm>
          <a:prstGeom prst="rect">
            <a:avLst/>
          </a:prstGeom>
          <a:noFill/>
        </p:spPr>
        <p:txBody>
          <a:bodyPr wrap="square" lIns="45720" rIns="45720" tIns="27432" bIns="27432" anchor="t">
            <a:spAutoFit/>
          </a:bodyPr>
          <a:lstStyle/>
          <a:p>
            <a:pPr algn="l" marL="256032" indent="-219456">
              <a:spcAft>
                <a:spcPts val="600"/>
              </a:spcAft>
              <a:buClr>
                <a:srgbClr val="16C78E"/>
              </a:buClr>
              <a:buChar char="•"/>
            </a:pPr>
            <a:r>
              <a:rPr sz="1400" b="0" i="0">
                <a:solidFill>
                  <a:srgbClr val="1A1A1A"/>
                </a:solidFill>
              </a:rPr>
              <a:t>Dos puertos: cámara posterior y lado vástago</a:t>
            </a:r>
          </a:p>
          <a:p>
            <a:pPr algn="l" marL="256032" indent="-219456">
              <a:spcAft>
                <a:spcPts val="600"/>
              </a:spcAft>
              <a:buClr>
                <a:srgbClr val="16C78E"/>
              </a:buClr>
              <a:buChar char="•"/>
            </a:pPr>
            <a:r>
              <a:rPr sz="1400" b="0" i="0">
                <a:solidFill>
                  <a:srgbClr val="1A1A1A"/>
                </a:solidFill>
              </a:rPr>
              <a:t>Avance (A+) y retroceso (A−) con aire</a:t>
            </a:r>
          </a:p>
          <a:p>
            <a:pPr algn="l" marL="256032" indent="-219456">
              <a:spcAft>
                <a:spcPts val="600"/>
              </a:spcAft>
              <a:buClr>
                <a:srgbClr val="16C78E"/>
              </a:buClr>
              <a:buChar char="•"/>
            </a:pPr>
            <a:r>
              <a:rPr sz="1400" b="0" i="0">
                <a:solidFill>
                  <a:srgbClr val="1A1A1A"/>
                </a:solidFill>
              </a:rPr>
              <a:t>Se nombran A, B, C…; sus finales de carrera a0, a1, b0…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Cómo se lee una válvula distribuidora</a:t>
            </a:r>
          </a:p>
        </p:txBody>
      </p:sp>
      <p:sp>
        <p:nvSpPr>
          <p:cNvPr id="3" name="Slide Number Placeholder 2"/>
          <p:cNvSpPr>
            <a:spLocks noGrp="1"/>
          </p:cNvSpPr>
          <p:nvPr>
            <p:ph type="sldNum" idx="12"/>
          </p:nvPr>
        </p:nvSpPr>
        <p:spPr/>
        <p:txBody>
          <a:bodyPr/>
          <a:p>
            <a:fld id="{43E0C801-D21E-4427-9DA9-3ADE35E822D4}" type="slidenum">
              <a:rPr lang="es-PE"/>
              <a:t>8</a:t>
            </a:fld>
          </a:p>
        </p:txBody>
      </p:sp>
      <p:pic>
        <p:nvPicPr>
          <p:cNvPr id="4" name="anatomia_valvula" descr="anatomia_valvula.png"/>
          <p:cNvPicPr>
            <a:picLocks noChangeAspect="1"/>
          </p:cNvPicPr>
          <p:nvPr/>
        </p:nvPicPr>
        <p:blipFill>
          <a:blip r:embed="rId3"/>
          <a:stretch>
            <a:fillRect/>
          </a:stretch>
        </p:blipFill>
        <p:spPr>
          <a:xfrm>
            <a:off x="762802" y="1371600"/>
            <a:ext cx="10635915" cy="41605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Nomenclatura: vías / posiciones y numeración</a:t>
            </a:r>
          </a:p>
        </p:txBody>
      </p:sp>
      <p:sp>
        <p:nvSpPr>
          <p:cNvPr id="3" name="Slide Number Placeholder 2"/>
          <p:cNvSpPr>
            <a:spLocks noGrp="1"/>
          </p:cNvSpPr>
          <p:nvPr>
            <p:ph type="sldNum" idx="12"/>
          </p:nvPr>
        </p:nvSpPr>
        <p:spPr/>
        <p:txBody>
          <a:bodyPr/>
          <a:p>
            <a:fld id="{2C432A47-17A3-4FE7-A555-6E99D3569203}" type="slidenum">
              <a:rPr lang="es-PE"/>
              <a:t>9</a:t>
            </a:fld>
          </a:p>
        </p:txBody>
      </p:sp>
      <p:graphicFrame>
        <p:nvGraphicFramePr>
          <p:cNvPr id="4" name="Table 3"/>
          <p:cNvGraphicFramePr>
            <a:graphicFrameLocks noGrp="1"/>
          </p:cNvGraphicFramePr>
          <p:nvPr/>
        </p:nvGraphicFramePr>
        <p:xfrm>
          <a:off x="548640" y="1463040"/>
          <a:ext cx="5120640" cy="2743200"/>
        </p:xfrm>
        <a:graphic>
          <a:graphicData uri="http://schemas.openxmlformats.org/drawingml/2006/table">
            <a:tbl>
              <a:tblPr firstRow="1" bandRow="1">
                <a:tableStyleId>{5C22544A-7EE6-4342-B048-85BDC9FD1C3A}</a:tableStyleId>
              </a:tblPr>
              <a:tblGrid>
                <a:gridCol w="1188720"/>
                <a:gridCol w="3931920"/>
              </a:tblGrid>
              <a:tr h="457200">
                <a:tc>
                  <a:txBody>
                    <a:bodyPr/>
                    <a:lstStyle/>
                    <a:p>
                      <a:r>
                        <a:rPr sz="1500" b="1">
                          <a:solidFill>
                            <a:srgbClr val="FFFFFF"/>
                          </a:solidFill>
                        </a:rPr>
                        <a:t>Puerto</a:t>
                      </a:r>
                    </a:p>
                  </a:txBody>
                  <a:tcPr marL="73152" marR="73152" marT="27432" marB="27432" anchor="ctr">
                    <a:solidFill>
                      <a:srgbClr val="042254"/>
                    </a:solidFill>
                  </a:tcPr>
                </a:tc>
                <a:tc>
                  <a:txBody>
                    <a:bodyPr/>
                    <a:lstStyle/>
                    <a:p>
                      <a:r>
                        <a:rPr sz="1500" b="1">
                          <a:solidFill>
                            <a:srgbClr val="FFFFFF"/>
                          </a:solidFill>
                        </a:rPr>
                        <a:t>Función</a:t>
                      </a:r>
                    </a:p>
                  </a:txBody>
                  <a:tcPr marL="73152" marR="73152" marT="27432" marB="27432" anchor="ctr">
                    <a:solidFill>
                      <a:srgbClr val="042254"/>
                    </a:solidFill>
                  </a:tcPr>
                </a:tc>
              </a:tr>
              <a:tr h="457200">
                <a:tc>
                  <a:txBody>
                    <a:bodyPr/>
                    <a:lstStyle/>
                    <a:p>
                      <a:r>
                        <a:rPr sz="1500">
                          <a:solidFill>
                            <a:srgbClr val="1A1A1A"/>
                          </a:solidFill>
                        </a:rPr>
                        <a:t>1</a:t>
                      </a:r>
                    </a:p>
                  </a:txBody>
                  <a:tcPr marL="73152" marR="73152" marT="27432" marB="27432" anchor="ctr">
                    <a:solidFill>
                      <a:srgbClr val="FFFFFF"/>
                    </a:solidFill>
                  </a:tcPr>
                </a:tc>
                <a:tc>
                  <a:txBody>
                    <a:bodyPr/>
                    <a:lstStyle/>
                    <a:p>
                      <a:r>
                        <a:rPr sz="1500">
                          <a:solidFill>
                            <a:srgbClr val="1A1A1A"/>
                          </a:solidFill>
                        </a:rPr>
                        <a:t>Alimentación (presión)</a:t>
                      </a:r>
                    </a:p>
                  </a:txBody>
                  <a:tcPr marL="73152" marR="73152" marT="27432" marB="27432" anchor="ctr">
                    <a:solidFill>
                      <a:srgbClr val="FFFFFF"/>
                    </a:solidFill>
                  </a:tcPr>
                </a:tc>
              </a:tr>
              <a:tr h="457200">
                <a:tc>
                  <a:txBody>
                    <a:bodyPr/>
                    <a:lstStyle/>
                    <a:p>
                      <a:r>
                        <a:rPr sz="1500">
                          <a:solidFill>
                            <a:srgbClr val="1A1A1A"/>
                          </a:solidFill>
                        </a:rPr>
                        <a:t>2, 4</a:t>
                      </a:r>
                    </a:p>
                  </a:txBody>
                  <a:tcPr marL="73152" marR="73152" marT="27432" marB="27432" anchor="ctr">
                    <a:solidFill>
                      <a:srgbClr val="ECF0F6"/>
                    </a:solidFill>
                  </a:tcPr>
                </a:tc>
                <a:tc>
                  <a:txBody>
                    <a:bodyPr/>
                    <a:lstStyle/>
                    <a:p>
                      <a:r>
                        <a:rPr sz="1500">
                          <a:solidFill>
                            <a:srgbClr val="1A1A1A"/>
                          </a:solidFill>
                        </a:rPr>
                        <a:t>Utilización (salidas)</a:t>
                      </a:r>
                    </a:p>
                  </a:txBody>
                  <a:tcPr marL="73152" marR="73152" marT="27432" marB="27432" anchor="ctr">
                    <a:solidFill>
                      <a:srgbClr val="ECF0F6"/>
                    </a:solidFill>
                  </a:tcPr>
                </a:tc>
              </a:tr>
              <a:tr h="457200">
                <a:tc>
                  <a:txBody>
                    <a:bodyPr/>
                    <a:lstStyle/>
                    <a:p>
                      <a:r>
                        <a:rPr sz="1500">
                          <a:solidFill>
                            <a:srgbClr val="1A1A1A"/>
                          </a:solidFill>
                        </a:rPr>
                        <a:t>3, 5</a:t>
                      </a:r>
                    </a:p>
                  </a:txBody>
                  <a:tcPr marL="73152" marR="73152" marT="27432" marB="27432" anchor="ctr">
                    <a:solidFill>
                      <a:srgbClr val="FFFFFF"/>
                    </a:solidFill>
                  </a:tcPr>
                </a:tc>
                <a:tc>
                  <a:txBody>
                    <a:bodyPr/>
                    <a:lstStyle/>
                    <a:p>
                      <a:r>
                        <a:rPr sz="1500">
                          <a:solidFill>
                            <a:srgbClr val="1A1A1A"/>
                          </a:solidFill>
                        </a:rPr>
                        <a:t>Escape</a:t>
                      </a:r>
                    </a:p>
                  </a:txBody>
                  <a:tcPr marL="73152" marR="73152" marT="27432" marB="27432" anchor="ctr">
                    <a:solidFill>
                      <a:srgbClr val="FFFFFF"/>
                    </a:solidFill>
                  </a:tcPr>
                </a:tc>
              </a:tr>
              <a:tr h="457200">
                <a:tc>
                  <a:txBody>
                    <a:bodyPr/>
                    <a:lstStyle/>
                    <a:p>
                      <a:r>
                        <a:rPr sz="1500">
                          <a:solidFill>
                            <a:srgbClr val="1A1A1A"/>
                          </a:solidFill>
                        </a:rPr>
                        <a:t>12</a:t>
                      </a:r>
                    </a:p>
                  </a:txBody>
                  <a:tcPr marL="73152" marR="73152" marT="27432" marB="27432" anchor="ctr">
                    <a:solidFill>
                      <a:srgbClr val="ECF0F6"/>
                    </a:solidFill>
                  </a:tcPr>
                </a:tc>
                <a:tc>
                  <a:txBody>
                    <a:bodyPr/>
                    <a:lstStyle/>
                    <a:p>
                      <a:r>
                        <a:rPr sz="1500">
                          <a:solidFill>
                            <a:srgbClr val="1A1A1A"/>
                          </a:solidFill>
                        </a:rPr>
                        <a:t>Pilotaje que conecta 1 → 2</a:t>
                      </a:r>
                    </a:p>
                  </a:txBody>
                  <a:tcPr marL="73152" marR="73152" marT="27432" marB="27432" anchor="ctr">
                    <a:solidFill>
                      <a:srgbClr val="ECF0F6"/>
                    </a:solidFill>
                  </a:tcPr>
                </a:tc>
              </a:tr>
              <a:tr h="457200">
                <a:tc>
                  <a:txBody>
                    <a:bodyPr/>
                    <a:lstStyle/>
                    <a:p>
                      <a:r>
                        <a:rPr sz="1500">
                          <a:solidFill>
                            <a:srgbClr val="1A1A1A"/>
                          </a:solidFill>
                        </a:rPr>
                        <a:t>14</a:t>
                      </a:r>
                    </a:p>
                  </a:txBody>
                  <a:tcPr marL="73152" marR="73152" marT="27432" marB="27432" anchor="ctr">
                    <a:solidFill>
                      <a:srgbClr val="FFFFFF"/>
                    </a:solidFill>
                  </a:tcPr>
                </a:tc>
                <a:tc>
                  <a:txBody>
                    <a:bodyPr/>
                    <a:lstStyle/>
                    <a:p>
                      <a:r>
                        <a:rPr sz="1500">
                          <a:solidFill>
                            <a:srgbClr val="1A1A1A"/>
                          </a:solidFill>
                        </a:rPr>
                        <a:t>Pilotaje que conecta 1 → 4</a:t>
                      </a:r>
                    </a:p>
                  </a:txBody>
                  <a:tcPr marL="73152" marR="73152" marT="27432" marB="27432" anchor="ctr">
                    <a:solidFill>
                      <a:srgbClr val="FFFFFF"/>
                    </a:solidFill>
                  </a:tcPr>
                </a:tc>
              </a:tr>
            </a:tbl>
          </a:graphicData>
        </a:graphic>
      </p:graphicFrame>
      <p:sp>
        <p:nvSpPr>
          <p:cNvPr id="5" name="TextBox 4"/>
          <p:cNvSpPr txBox="1"/>
          <p:nvPr/>
        </p:nvSpPr>
        <p:spPr>
          <a:xfrm>
            <a:off x="548640" y="4434840"/>
            <a:ext cx="5120640" cy="1005840"/>
          </a:xfrm>
          <a:prstGeom prst="rect">
            <a:avLst/>
          </a:prstGeom>
          <a:noFill/>
        </p:spPr>
        <p:txBody>
          <a:bodyPr wrap="square" lIns="45720" rIns="45720" tIns="27432" bIns="27432" anchor="t">
            <a:spAutoFit/>
          </a:bodyPr>
          <a:lstStyle/>
          <a:p>
            <a:pPr algn="l">
              <a:spcAft>
                <a:spcPts val="600"/>
              </a:spcAft>
            </a:pPr>
            <a:r>
              <a:rPr sz="1500" b="1" i="0">
                <a:solidFill>
                  <a:srgbClr val="042254"/>
                </a:solidFill>
              </a:rPr>
              <a:t>X/Y</a:t>
            </a:r>
            <a:r>
              <a:rPr sz="1500" b="0" i="0">
                <a:solidFill>
                  <a:srgbClr val="1A1A1A"/>
                </a:solidFill>
              </a:rPr>
              <a:t> = número de vías / número de posiciones</a:t>
            </a:r>
          </a:p>
          <a:p>
            <a:pPr algn="l">
              <a:spcAft>
                <a:spcPts val="600"/>
              </a:spcAft>
            </a:pPr>
            <a:r>
              <a:rPr sz="1500" b="1" i="0">
                <a:solidFill>
                  <a:srgbClr val="042254"/>
                </a:solidFill>
              </a:rPr>
              <a:t>ISO 5599: </a:t>
            </a:r>
            <a:r>
              <a:rPr sz="1500" b="0" i="0">
                <a:solidFill>
                  <a:srgbClr val="1A1A1A"/>
                </a:solidFill>
              </a:rPr>
              <a:t>la numeración es la misma en FluidSim</a:t>
            </a:r>
          </a:p>
        </p:txBody>
      </p:sp>
      <p:pic>
        <p:nvPicPr>
          <p:cNvPr id="6" name="sym_32_boton" descr="sym_32_boton.png"/>
          <p:cNvPicPr>
            <a:picLocks noChangeAspect="1"/>
          </p:cNvPicPr>
          <p:nvPr/>
        </p:nvPicPr>
        <p:blipFill>
          <a:blip r:embed="rId3"/>
          <a:stretch>
            <a:fillRect/>
          </a:stretch>
        </p:blipFill>
        <p:spPr>
          <a:xfrm>
            <a:off x="6035040" y="1429481"/>
            <a:ext cx="2743200" cy="1621596"/>
          </a:xfrm>
          <a:prstGeom prst="rect">
            <a:avLst/>
          </a:prstGeom>
        </p:spPr>
      </p:pic>
      <p:sp>
        <p:nvSpPr>
          <p:cNvPr id="7" name="TextBox 6"/>
          <p:cNvSpPr txBox="1"/>
          <p:nvPr/>
        </p:nvSpPr>
        <p:spPr>
          <a:xfrm>
            <a:off x="6035040" y="3063240"/>
            <a:ext cx="2743200" cy="320040"/>
          </a:xfrm>
          <a:prstGeom prst="rect">
            <a:avLst/>
          </a:prstGeom>
          <a:noFill/>
        </p:spPr>
        <p:txBody>
          <a:bodyPr wrap="square" lIns="45720" rIns="45720" tIns="27432" bIns="27432" anchor="t">
            <a:spAutoFit/>
          </a:bodyPr>
          <a:lstStyle/>
          <a:p>
            <a:pPr algn="ctr">
              <a:spcAft>
                <a:spcPts val="600"/>
              </a:spcAft>
            </a:pPr>
            <a:r>
              <a:rPr sz="1100" b="0" i="0">
                <a:solidFill>
                  <a:srgbClr val="555F6D"/>
                </a:solidFill>
              </a:rPr>
              <a:t>3/2 NC, pulsador / resorte</a:t>
            </a:r>
          </a:p>
        </p:txBody>
      </p:sp>
      <p:pic>
        <p:nvPicPr>
          <p:cNvPr id="8" name="sym_52_boton" descr="sym_52_boton.png"/>
          <p:cNvPicPr>
            <a:picLocks noChangeAspect="1"/>
          </p:cNvPicPr>
          <p:nvPr/>
        </p:nvPicPr>
        <p:blipFill>
          <a:blip r:embed="rId4"/>
          <a:stretch>
            <a:fillRect/>
          </a:stretch>
        </p:blipFill>
        <p:spPr>
          <a:xfrm>
            <a:off x="8869680" y="1429481"/>
            <a:ext cx="2743200" cy="1621596"/>
          </a:xfrm>
          <a:prstGeom prst="rect">
            <a:avLst/>
          </a:prstGeom>
        </p:spPr>
      </p:pic>
      <p:sp>
        <p:nvSpPr>
          <p:cNvPr id="9" name="TextBox 8"/>
          <p:cNvSpPr txBox="1"/>
          <p:nvPr/>
        </p:nvSpPr>
        <p:spPr>
          <a:xfrm>
            <a:off x="8869680" y="3063240"/>
            <a:ext cx="2743200" cy="320040"/>
          </a:xfrm>
          <a:prstGeom prst="rect">
            <a:avLst/>
          </a:prstGeom>
          <a:noFill/>
        </p:spPr>
        <p:txBody>
          <a:bodyPr wrap="square" lIns="45720" rIns="45720" tIns="27432" bIns="27432" anchor="t">
            <a:spAutoFit/>
          </a:bodyPr>
          <a:lstStyle/>
          <a:p>
            <a:pPr algn="ctr">
              <a:spcAft>
                <a:spcPts val="600"/>
              </a:spcAft>
            </a:pPr>
            <a:r>
              <a:rPr sz="1100" b="0" i="0">
                <a:solidFill>
                  <a:srgbClr val="555F6D"/>
                </a:solidFill>
              </a:rPr>
              <a:t>5/2, pulsador / resorte</a:t>
            </a:r>
          </a:p>
        </p:txBody>
      </p:sp>
      <p:pic>
        <p:nvPicPr>
          <p:cNvPr id="10" name="sym_42_biestable" descr="sym_42_biestable.png"/>
          <p:cNvPicPr>
            <a:picLocks noChangeAspect="1"/>
          </p:cNvPicPr>
          <p:nvPr/>
        </p:nvPicPr>
        <p:blipFill>
          <a:blip r:embed="rId5"/>
          <a:stretch>
            <a:fillRect/>
          </a:stretch>
        </p:blipFill>
        <p:spPr>
          <a:xfrm>
            <a:off x="6035040" y="3532601"/>
            <a:ext cx="2743200" cy="1621596"/>
          </a:xfrm>
          <a:prstGeom prst="rect">
            <a:avLst/>
          </a:prstGeom>
        </p:spPr>
      </p:pic>
      <p:sp>
        <p:nvSpPr>
          <p:cNvPr id="11" name="TextBox 10"/>
          <p:cNvSpPr txBox="1"/>
          <p:nvPr/>
        </p:nvSpPr>
        <p:spPr>
          <a:xfrm>
            <a:off x="6035040" y="5166360"/>
            <a:ext cx="2743200" cy="320040"/>
          </a:xfrm>
          <a:prstGeom prst="rect">
            <a:avLst/>
          </a:prstGeom>
          <a:noFill/>
        </p:spPr>
        <p:txBody>
          <a:bodyPr wrap="square" lIns="45720" rIns="45720" tIns="27432" bIns="27432" anchor="t">
            <a:spAutoFit/>
          </a:bodyPr>
          <a:lstStyle/>
          <a:p>
            <a:pPr algn="ctr">
              <a:spcAft>
                <a:spcPts val="600"/>
              </a:spcAft>
            </a:pPr>
            <a:r>
              <a:rPr sz="1100" b="0" i="0">
                <a:solidFill>
                  <a:srgbClr val="555F6D"/>
                </a:solidFill>
              </a:rPr>
              <a:t>4/2, piloto / piloto</a:t>
            </a:r>
          </a:p>
        </p:txBody>
      </p:sp>
      <p:pic>
        <p:nvPicPr>
          <p:cNvPr id="12" name="sym_52_biestable" descr="sym_52_biestable.png"/>
          <p:cNvPicPr>
            <a:picLocks noChangeAspect="1"/>
          </p:cNvPicPr>
          <p:nvPr/>
        </p:nvPicPr>
        <p:blipFill>
          <a:blip r:embed="rId6"/>
          <a:stretch>
            <a:fillRect/>
          </a:stretch>
        </p:blipFill>
        <p:spPr>
          <a:xfrm>
            <a:off x="8869680" y="3532601"/>
            <a:ext cx="2743200" cy="1621596"/>
          </a:xfrm>
          <a:prstGeom prst="rect">
            <a:avLst/>
          </a:prstGeom>
        </p:spPr>
      </p:pic>
      <p:sp>
        <p:nvSpPr>
          <p:cNvPr id="13" name="TextBox 12"/>
          <p:cNvSpPr txBox="1"/>
          <p:nvPr/>
        </p:nvSpPr>
        <p:spPr>
          <a:xfrm>
            <a:off x="8869680" y="5166360"/>
            <a:ext cx="2743200" cy="320040"/>
          </a:xfrm>
          <a:prstGeom prst="rect">
            <a:avLst/>
          </a:prstGeom>
          <a:noFill/>
        </p:spPr>
        <p:txBody>
          <a:bodyPr wrap="square" lIns="45720" rIns="45720" tIns="27432" bIns="27432" anchor="t">
            <a:spAutoFit/>
          </a:bodyPr>
          <a:lstStyle/>
          <a:p>
            <a:pPr algn="ctr">
              <a:spcAft>
                <a:spcPts val="600"/>
              </a:spcAft>
            </a:pPr>
            <a:r>
              <a:rPr sz="1100" b="0" i="0">
                <a:solidFill>
                  <a:srgbClr val="555F6D"/>
                </a:solidFill>
              </a:rPr>
              <a:t>5/2, piloto / piloto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Accionamientos: ¿quién mueve la válvula?</a:t>
            </a:r>
          </a:p>
        </p:txBody>
      </p:sp>
      <p:sp>
        <p:nvSpPr>
          <p:cNvPr id="3" name="Slide Number Placeholder 2"/>
          <p:cNvSpPr>
            <a:spLocks noGrp="1"/>
          </p:cNvSpPr>
          <p:nvPr>
            <p:ph type="sldNum" idx="12"/>
          </p:nvPr>
        </p:nvSpPr>
        <p:spPr/>
        <p:txBody>
          <a:bodyPr/>
          <a:p>
            <a:fld id="{E6B4DE7C-0307-4AF8-ACA3-2047746792CD}" type="slidenum">
              <a:rPr lang="es-PE"/>
              <a:t>10</a:t>
            </a:fld>
          </a:p>
        </p:txBody>
      </p:sp>
      <p:sp>
        <p:nvSpPr>
          <p:cNvPr id="4" name="Rounded Rectangle 3"/>
          <p:cNvSpPr/>
          <p:nvPr/>
        </p:nvSpPr>
        <p:spPr>
          <a:xfrm>
            <a:off x="548640" y="1463040"/>
            <a:ext cx="4562856" cy="356616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536192"/>
            <a:ext cx="4608576" cy="365760"/>
          </a:xfrm>
          <a:prstGeom prst="rect">
            <a:avLst/>
          </a:prstGeom>
          <a:noFill/>
        </p:spPr>
        <p:txBody>
          <a:bodyPr wrap="square" lIns="45720" rIns="45720" tIns="27432" bIns="27432" anchor="t">
            <a:spAutoFit/>
          </a:bodyPr>
          <a:lstStyle/>
          <a:p>
            <a:pPr algn="ctr">
              <a:spcAft>
                <a:spcPts val="600"/>
              </a:spcAft>
            </a:pPr>
            <a:r>
              <a:rPr sz="1500" b="1" i="0">
                <a:solidFill>
                  <a:srgbClr val="042254"/>
                </a:solidFill>
              </a:rPr>
              <a:t>Manual</a:t>
            </a:r>
          </a:p>
        </p:txBody>
      </p:sp>
      <p:pic>
        <p:nvPicPr>
          <p:cNvPr id="6" name="act_button" descr="act_button.png"/>
          <p:cNvPicPr>
            <a:picLocks noChangeAspect="1"/>
          </p:cNvPicPr>
          <p:nvPr/>
        </p:nvPicPr>
        <p:blipFill>
          <a:blip r:embed="rId3"/>
          <a:stretch>
            <a:fillRect/>
          </a:stretch>
        </p:blipFill>
        <p:spPr>
          <a:xfrm>
            <a:off x="658368" y="2286315"/>
            <a:ext cx="1261872" cy="913769"/>
          </a:xfrm>
          <a:prstGeom prst="rect">
            <a:avLst/>
          </a:prstGeom>
        </p:spPr>
      </p:pic>
      <p:sp>
        <p:nvSpPr>
          <p:cNvPr id="7" name="TextBox 6"/>
          <p:cNvSpPr txBox="1"/>
          <p:nvPr/>
        </p:nvSpPr>
        <p:spPr>
          <a:xfrm>
            <a:off x="548640" y="3611880"/>
            <a:ext cx="1536192" cy="320040"/>
          </a:xfrm>
          <a:prstGeom prst="rect">
            <a:avLst/>
          </a:prstGeom>
          <a:noFill/>
        </p:spPr>
        <p:txBody>
          <a:bodyPr wrap="square" lIns="45720" rIns="45720" tIns="27432" bIns="27432" anchor="t">
            <a:spAutoFit/>
          </a:bodyPr>
          <a:lstStyle/>
          <a:p>
            <a:pPr algn="ctr">
              <a:spcAft>
                <a:spcPts val="600"/>
              </a:spcAft>
            </a:pPr>
            <a:r>
              <a:rPr sz="1200" b="0" i="0">
                <a:solidFill>
                  <a:srgbClr val="1A1A1A"/>
                </a:solidFill>
              </a:rPr>
              <a:t>Pulsador</a:t>
            </a:r>
          </a:p>
        </p:txBody>
      </p:sp>
      <p:pic>
        <p:nvPicPr>
          <p:cNvPr id="8" name="act_lever" descr="act_lever.png"/>
          <p:cNvPicPr>
            <a:picLocks noChangeAspect="1"/>
          </p:cNvPicPr>
          <p:nvPr/>
        </p:nvPicPr>
        <p:blipFill>
          <a:blip r:embed="rId4"/>
          <a:stretch>
            <a:fillRect/>
          </a:stretch>
        </p:blipFill>
        <p:spPr>
          <a:xfrm>
            <a:off x="2194560" y="2286315"/>
            <a:ext cx="1261872" cy="913769"/>
          </a:xfrm>
          <a:prstGeom prst="rect">
            <a:avLst/>
          </a:prstGeom>
        </p:spPr>
      </p:pic>
      <p:sp>
        <p:nvSpPr>
          <p:cNvPr id="9" name="TextBox 8"/>
          <p:cNvSpPr txBox="1"/>
          <p:nvPr/>
        </p:nvSpPr>
        <p:spPr>
          <a:xfrm>
            <a:off x="2084831" y="3611880"/>
            <a:ext cx="1536192" cy="320040"/>
          </a:xfrm>
          <a:prstGeom prst="rect">
            <a:avLst/>
          </a:prstGeom>
          <a:noFill/>
        </p:spPr>
        <p:txBody>
          <a:bodyPr wrap="square" lIns="45720" rIns="45720" tIns="27432" bIns="27432" anchor="t">
            <a:spAutoFit/>
          </a:bodyPr>
          <a:lstStyle/>
          <a:p>
            <a:pPr algn="ctr">
              <a:spcAft>
                <a:spcPts val="600"/>
              </a:spcAft>
            </a:pPr>
            <a:r>
              <a:rPr sz="1200" b="0" i="0">
                <a:solidFill>
                  <a:srgbClr val="1A1A1A"/>
                </a:solidFill>
              </a:rPr>
              <a:t>Palanca</a:t>
            </a:r>
          </a:p>
        </p:txBody>
      </p:sp>
      <p:pic>
        <p:nvPicPr>
          <p:cNvPr id="10" name="act_pedal" descr="act_pedal.png"/>
          <p:cNvPicPr>
            <a:picLocks noChangeAspect="1"/>
          </p:cNvPicPr>
          <p:nvPr/>
        </p:nvPicPr>
        <p:blipFill>
          <a:blip r:embed="rId5"/>
          <a:stretch>
            <a:fillRect/>
          </a:stretch>
        </p:blipFill>
        <p:spPr>
          <a:xfrm>
            <a:off x="3730752" y="2286315"/>
            <a:ext cx="1261872" cy="913769"/>
          </a:xfrm>
          <a:prstGeom prst="rect">
            <a:avLst/>
          </a:prstGeom>
        </p:spPr>
      </p:pic>
      <p:sp>
        <p:nvSpPr>
          <p:cNvPr id="11" name="TextBox 10"/>
          <p:cNvSpPr txBox="1"/>
          <p:nvPr/>
        </p:nvSpPr>
        <p:spPr>
          <a:xfrm>
            <a:off x="3621024" y="3611880"/>
            <a:ext cx="1536192" cy="320040"/>
          </a:xfrm>
          <a:prstGeom prst="rect">
            <a:avLst/>
          </a:prstGeom>
          <a:noFill/>
        </p:spPr>
        <p:txBody>
          <a:bodyPr wrap="square" lIns="45720" rIns="45720" tIns="27432" bIns="27432" anchor="t">
            <a:spAutoFit/>
          </a:bodyPr>
          <a:lstStyle/>
          <a:p>
            <a:pPr algn="ctr">
              <a:spcAft>
                <a:spcPts val="600"/>
              </a:spcAft>
            </a:pPr>
            <a:r>
              <a:rPr sz="1200" b="0" i="0">
                <a:solidFill>
                  <a:srgbClr val="1A1A1A"/>
                </a:solidFill>
              </a:rPr>
              <a:t>Pedal</a:t>
            </a:r>
          </a:p>
        </p:txBody>
      </p:sp>
      <p:sp>
        <p:nvSpPr>
          <p:cNvPr id="12" name="Rounded Rectangle 11"/>
          <p:cNvSpPr/>
          <p:nvPr/>
        </p:nvSpPr>
        <p:spPr>
          <a:xfrm>
            <a:off x="5266944" y="1463040"/>
            <a:ext cx="4562856" cy="356616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266944" y="1536192"/>
            <a:ext cx="4608576" cy="365760"/>
          </a:xfrm>
          <a:prstGeom prst="rect">
            <a:avLst/>
          </a:prstGeom>
          <a:noFill/>
        </p:spPr>
        <p:txBody>
          <a:bodyPr wrap="square" lIns="45720" rIns="45720" tIns="27432" bIns="27432" anchor="t">
            <a:spAutoFit/>
          </a:bodyPr>
          <a:lstStyle/>
          <a:p>
            <a:pPr algn="ctr">
              <a:spcAft>
                <a:spcPts val="600"/>
              </a:spcAft>
            </a:pPr>
            <a:r>
              <a:rPr sz="1500" b="1" i="0">
                <a:solidFill>
                  <a:srgbClr val="042254"/>
                </a:solidFill>
              </a:rPr>
              <a:t>Mecánico</a:t>
            </a:r>
          </a:p>
        </p:txBody>
      </p:sp>
      <p:pic>
        <p:nvPicPr>
          <p:cNvPr id="14" name="act_roller" descr="act_roller.png"/>
          <p:cNvPicPr>
            <a:picLocks noChangeAspect="1"/>
          </p:cNvPicPr>
          <p:nvPr/>
        </p:nvPicPr>
        <p:blipFill>
          <a:blip r:embed="rId6"/>
          <a:stretch>
            <a:fillRect/>
          </a:stretch>
        </p:blipFill>
        <p:spPr>
          <a:xfrm>
            <a:off x="5376672" y="2286315"/>
            <a:ext cx="1261872" cy="913769"/>
          </a:xfrm>
          <a:prstGeom prst="rect">
            <a:avLst/>
          </a:prstGeom>
        </p:spPr>
      </p:pic>
      <p:sp>
        <p:nvSpPr>
          <p:cNvPr id="15" name="TextBox 14"/>
          <p:cNvSpPr txBox="1"/>
          <p:nvPr/>
        </p:nvSpPr>
        <p:spPr>
          <a:xfrm>
            <a:off x="5266944" y="3611880"/>
            <a:ext cx="1536192" cy="320040"/>
          </a:xfrm>
          <a:prstGeom prst="rect">
            <a:avLst/>
          </a:prstGeom>
          <a:noFill/>
        </p:spPr>
        <p:txBody>
          <a:bodyPr wrap="square" lIns="45720" rIns="45720" tIns="27432" bIns="27432" anchor="t">
            <a:spAutoFit/>
          </a:bodyPr>
          <a:lstStyle/>
          <a:p>
            <a:pPr algn="ctr">
              <a:spcAft>
                <a:spcPts val="600"/>
              </a:spcAft>
            </a:pPr>
            <a:r>
              <a:rPr sz="1200" b="0" i="0">
                <a:solidFill>
                  <a:srgbClr val="1A1A1A"/>
                </a:solidFill>
              </a:rPr>
              <a:t>Rodillo
(final de carrera)</a:t>
            </a:r>
          </a:p>
        </p:txBody>
      </p:sp>
      <p:pic>
        <p:nvPicPr>
          <p:cNvPr id="16" name="act_roller1" descr="act_roller1.png"/>
          <p:cNvPicPr>
            <a:picLocks noChangeAspect="1"/>
          </p:cNvPicPr>
          <p:nvPr/>
        </p:nvPicPr>
        <p:blipFill>
          <a:blip r:embed="rId7"/>
          <a:stretch>
            <a:fillRect/>
          </a:stretch>
        </p:blipFill>
        <p:spPr>
          <a:xfrm>
            <a:off x="6912864" y="2286315"/>
            <a:ext cx="1261872" cy="913769"/>
          </a:xfrm>
          <a:prstGeom prst="rect">
            <a:avLst/>
          </a:prstGeom>
        </p:spPr>
      </p:pic>
      <p:sp>
        <p:nvSpPr>
          <p:cNvPr id="17" name="TextBox 16"/>
          <p:cNvSpPr txBox="1"/>
          <p:nvPr/>
        </p:nvSpPr>
        <p:spPr>
          <a:xfrm>
            <a:off x="6803136" y="3611880"/>
            <a:ext cx="1536192" cy="320040"/>
          </a:xfrm>
          <a:prstGeom prst="rect">
            <a:avLst/>
          </a:prstGeom>
          <a:noFill/>
        </p:spPr>
        <p:txBody>
          <a:bodyPr wrap="square" lIns="45720" rIns="45720" tIns="27432" bIns="27432" anchor="t">
            <a:spAutoFit/>
          </a:bodyPr>
          <a:lstStyle/>
          <a:p>
            <a:pPr algn="ctr">
              <a:spcAft>
                <a:spcPts val="600"/>
              </a:spcAft>
            </a:pPr>
            <a:r>
              <a:rPr sz="1200" b="0" i="0">
                <a:solidFill>
                  <a:srgbClr val="1A1A1A"/>
                </a:solidFill>
              </a:rPr>
              <a:t>Rodillo escamoteable
(un sentido)</a:t>
            </a:r>
          </a:p>
        </p:txBody>
      </p:sp>
      <p:pic>
        <p:nvPicPr>
          <p:cNvPr id="18" name="act_spring" descr="act_spring.png"/>
          <p:cNvPicPr>
            <a:picLocks noChangeAspect="1"/>
          </p:cNvPicPr>
          <p:nvPr/>
        </p:nvPicPr>
        <p:blipFill>
          <a:blip r:embed="rId8"/>
          <a:stretch>
            <a:fillRect/>
          </a:stretch>
        </p:blipFill>
        <p:spPr>
          <a:xfrm>
            <a:off x="8449055" y="2286315"/>
            <a:ext cx="1261872" cy="913769"/>
          </a:xfrm>
          <a:prstGeom prst="rect">
            <a:avLst/>
          </a:prstGeom>
        </p:spPr>
      </p:pic>
      <p:sp>
        <p:nvSpPr>
          <p:cNvPr id="19" name="TextBox 18"/>
          <p:cNvSpPr txBox="1"/>
          <p:nvPr/>
        </p:nvSpPr>
        <p:spPr>
          <a:xfrm>
            <a:off x="8339327" y="3611880"/>
            <a:ext cx="1536192" cy="320040"/>
          </a:xfrm>
          <a:prstGeom prst="rect">
            <a:avLst/>
          </a:prstGeom>
          <a:noFill/>
        </p:spPr>
        <p:txBody>
          <a:bodyPr wrap="square" lIns="45720" rIns="45720" tIns="27432" bIns="27432" anchor="t">
            <a:spAutoFit/>
          </a:bodyPr>
          <a:lstStyle/>
          <a:p>
            <a:pPr algn="ctr">
              <a:spcAft>
                <a:spcPts val="600"/>
              </a:spcAft>
            </a:pPr>
            <a:r>
              <a:rPr sz="1200" b="0" i="0">
                <a:solidFill>
                  <a:srgbClr val="1A1A1A"/>
                </a:solidFill>
              </a:rPr>
              <a:t>Resorte
(retorno)</a:t>
            </a:r>
          </a:p>
        </p:txBody>
      </p:sp>
      <p:sp>
        <p:nvSpPr>
          <p:cNvPr id="20" name="Rounded Rectangle 19"/>
          <p:cNvSpPr/>
          <p:nvPr/>
        </p:nvSpPr>
        <p:spPr>
          <a:xfrm>
            <a:off x="9985247" y="1463040"/>
            <a:ext cx="1490472" cy="356616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985247" y="1536192"/>
            <a:ext cx="1536192" cy="365760"/>
          </a:xfrm>
          <a:prstGeom prst="rect">
            <a:avLst/>
          </a:prstGeom>
          <a:noFill/>
        </p:spPr>
        <p:txBody>
          <a:bodyPr wrap="square" lIns="45720" rIns="45720" tIns="27432" bIns="27432" anchor="t">
            <a:spAutoFit/>
          </a:bodyPr>
          <a:lstStyle/>
          <a:p>
            <a:pPr algn="ctr">
              <a:spcAft>
                <a:spcPts val="600"/>
              </a:spcAft>
            </a:pPr>
            <a:r>
              <a:rPr sz="1500" b="1" i="0">
                <a:solidFill>
                  <a:srgbClr val="042254"/>
                </a:solidFill>
              </a:rPr>
              <a:t>Neumático</a:t>
            </a:r>
          </a:p>
        </p:txBody>
      </p:sp>
      <p:pic>
        <p:nvPicPr>
          <p:cNvPr id="22" name="act_pilot" descr="act_pilot.png"/>
          <p:cNvPicPr>
            <a:picLocks noChangeAspect="1"/>
          </p:cNvPicPr>
          <p:nvPr/>
        </p:nvPicPr>
        <p:blipFill>
          <a:blip r:embed="rId9"/>
          <a:stretch>
            <a:fillRect/>
          </a:stretch>
        </p:blipFill>
        <p:spPr>
          <a:xfrm>
            <a:off x="10094975" y="2286315"/>
            <a:ext cx="1261872" cy="913769"/>
          </a:xfrm>
          <a:prstGeom prst="rect">
            <a:avLst/>
          </a:prstGeom>
        </p:spPr>
      </p:pic>
      <p:sp>
        <p:nvSpPr>
          <p:cNvPr id="23" name="TextBox 22"/>
          <p:cNvSpPr txBox="1"/>
          <p:nvPr/>
        </p:nvSpPr>
        <p:spPr>
          <a:xfrm>
            <a:off x="9985247" y="3611880"/>
            <a:ext cx="1536192" cy="320040"/>
          </a:xfrm>
          <a:prstGeom prst="rect">
            <a:avLst/>
          </a:prstGeom>
          <a:noFill/>
        </p:spPr>
        <p:txBody>
          <a:bodyPr wrap="square" lIns="45720" rIns="45720" tIns="27432" bIns="27432" anchor="t">
            <a:spAutoFit/>
          </a:bodyPr>
          <a:lstStyle/>
          <a:p>
            <a:pPr algn="ctr">
              <a:spcAft>
                <a:spcPts val="600"/>
              </a:spcAft>
            </a:pPr>
            <a:r>
              <a:rPr sz="1200" b="0" i="0">
                <a:solidFill>
                  <a:srgbClr val="1A1A1A"/>
                </a:solidFill>
              </a:rPr>
              <a:t>Pilotaje
neumático</a:t>
            </a:r>
          </a:p>
        </p:txBody>
      </p:sp>
      <p:sp>
        <p:nvSpPr>
          <p:cNvPr id="24" name="TextBox 23"/>
          <p:cNvSpPr txBox="1"/>
          <p:nvPr/>
        </p:nvSpPr>
        <p:spPr>
          <a:xfrm>
            <a:off x="548640" y="5120640"/>
            <a:ext cx="11064240" cy="411480"/>
          </a:xfrm>
          <a:prstGeom prst="rect">
            <a:avLst/>
          </a:prstGeom>
          <a:noFill/>
        </p:spPr>
        <p:txBody>
          <a:bodyPr wrap="square" lIns="45720" rIns="45720" tIns="27432" bIns="27432" anchor="t">
            <a:spAutoFit/>
          </a:bodyPr>
          <a:lstStyle/>
          <a:p>
            <a:pPr algn="l">
              <a:spcAft>
                <a:spcPts val="600"/>
              </a:spcAft>
            </a:pPr>
            <a:r>
              <a:rPr sz="1500" b="1" i="0">
                <a:solidFill>
                  <a:srgbClr val="0B7A53"/>
                </a:solidFill>
              </a:rPr>
              <a:t>Regla: </a:t>
            </a:r>
            <a:r>
              <a:rPr sz="1500" b="0" i="0">
                <a:solidFill>
                  <a:srgbClr val="1A1A1A"/>
                </a:solidFill>
              </a:rPr>
              <a:t>el accionamiento dibujado a un lado lleva a la válvula al cuadro de ese lado.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Monoestable vs. biestable (memoria)</a:t>
            </a:r>
          </a:p>
        </p:txBody>
      </p:sp>
      <p:sp>
        <p:nvSpPr>
          <p:cNvPr id="3" name="Slide Number Placeholder 2"/>
          <p:cNvSpPr>
            <a:spLocks noGrp="1"/>
          </p:cNvSpPr>
          <p:nvPr>
            <p:ph type="sldNum" idx="12"/>
          </p:nvPr>
        </p:nvSpPr>
        <p:spPr/>
        <p:txBody>
          <a:bodyPr/>
          <a:p>
            <a:fld id="{65683ED4-4C5B-4499-9310-E8D0ABB7DF13}" type="slidenum">
              <a:rPr lang="es-PE"/>
              <a:t>11</a:t>
            </a:fld>
          </a:p>
        </p:txBody>
      </p:sp>
      <p:pic>
        <p:nvPicPr>
          <p:cNvPr id="4" name="sym_52_pilot_resorte" descr="sym_52_pilot_resorte.png"/>
          <p:cNvPicPr>
            <a:picLocks noChangeAspect="1"/>
          </p:cNvPicPr>
          <p:nvPr/>
        </p:nvPicPr>
        <p:blipFill>
          <a:blip r:embed="rId3"/>
          <a:stretch>
            <a:fillRect/>
          </a:stretch>
        </p:blipFill>
        <p:spPr>
          <a:xfrm>
            <a:off x="1098042" y="1463040"/>
            <a:ext cx="4021836" cy="2377440"/>
          </a:xfrm>
          <a:prstGeom prst="rect">
            <a:avLst/>
          </a:prstGeom>
        </p:spPr>
      </p:pic>
      <p:sp>
        <p:nvSpPr>
          <p:cNvPr id="5" name="TextBox 4"/>
          <p:cNvSpPr txBox="1"/>
          <p:nvPr/>
        </p:nvSpPr>
        <p:spPr>
          <a:xfrm>
            <a:off x="731520" y="3886200"/>
            <a:ext cx="4937760" cy="411480"/>
          </a:xfrm>
          <a:prstGeom prst="rect">
            <a:avLst/>
          </a:prstGeom>
          <a:noFill/>
        </p:spPr>
        <p:txBody>
          <a:bodyPr wrap="square" lIns="45720" rIns="45720" tIns="27432" bIns="27432" anchor="t">
            <a:spAutoFit/>
          </a:bodyPr>
          <a:lstStyle/>
          <a:p>
            <a:pPr algn="l">
              <a:spcAft>
                <a:spcPts val="600"/>
              </a:spcAft>
            </a:pPr>
            <a:r>
              <a:rPr sz="1800" b="1" i="0">
                <a:solidFill>
                  <a:srgbClr val="042254"/>
                </a:solidFill>
              </a:rPr>
              <a:t>Monoestable (piloto / resorte)</a:t>
            </a:r>
          </a:p>
        </p:txBody>
      </p:sp>
      <p:sp>
        <p:nvSpPr>
          <p:cNvPr id="6" name="TextBox 5"/>
          <p:cNvSpPr txBox="1"/>
          <p:nvPr/>
        </p:nvSpPr>
        <p:spPr>
          <a:xfrm>
            <a:off x="731520" y="4343400"/>
            <a:ext cx="5120640" cy="1188720"/>
          </a:xfrm>
          <a:prstGeom prst="rect">
            <a:avLst/>
          </a:prstGeom>
          <a:noFill/>
        </p:spPr>
        <p:txBody>
          <a:bodyPr wrap="square" lIns="45720" rIns="45720" tIns="27432" bIns="27432" anchor="t">
            <a:spAutoFit/>
          </a:bodyPr>
          <a:lstStyle/>
          <a:p>
            <a:pPr algn="l" marL="256032" indent="-219456">
              <a:spcAft>
                <a:spcPts val="600"/>
              </a:spcAft>
              <a:buClr>
                <a:srgbClr val="16C78E"/>
              </a:buClr>
              <a:buChar char="•"/>
            </a:pPr>
            <a:r>
              <a:rPr sz="1400" b="0" i="0">
                <a:solidFill>
                  <a:srgbClr val="1A1A1A"/>
                </a:solidFill>
              </a:rPr>
              <a:t>Vuelve sola al reposo al quitar la señal</a:t>
            </a:r>
          </a:p>
          <a:p>
            <a:pPr algn="l" marL="256032" indent="-219456">
              <a:spcAft>
                <a:spcPts val="600"/>
              </a:spcAft>
              <a:buClr>
                <a:srgbClr val="16C78E"/>
              </a:buClr>
              <a:buChar char="•"/>
            </a:pPr>
            <a:r>
              <a:rPr sz="1400" b="0" i="0">
                <a:solidFill>
                  <a:srgbClr val="1A1A1A"/>
                </a:solidFill>
              </a:rPr>
              <a:t>Necesita señal mantenida mientras dure el movimiento</a:t>
            </a:r>
          </a:p>
        </p:txBody>
      </p:sp>
      <p:pic>
        <p:nvPicPr>
          <p:cNvPr id="7" name="sym_52_biestable" descr="sym_52_biestable.png"/>
          <p:cNvPicPr>
            <a:picLocks noChangeAspect="1"/>
          </p:cNvPicPr>
          <p:nvPr/>
        </p:nvPicPr>
        <p:blipFill>
          <a:blip r:embed="rId4"/>
          <a:stretch>
            <a:fillRect/>
          </a:stretch>
        </p:blipFill>
        <p:spPr>
          <a:xfrm>
            <a:off x="6767322" y="1463040"/>
            <a:ext cx="4021836" cy="2377440"/>
          </a:xfrm>
          <a:prstGeom prst="rect">
            <a:avLst/>
          </a:prstGeom>
        </p:spPr>
      </p:pic>
      <p:sp>
        <p:nvSpPr>
          <p:cNvPr id="8" name="TextBox 7"/>
          <p:cNvSpPr txBox="1"/>
          <p:nvPr/>
        </p:nvSpPr>
        <p:spPr>
          <a:xfrm>
            <a:off x="6400800" y="3886200"/>
            <a:ext cx="5120640" cy="411480"/>
          </a:xfrm>
          <a:prstGeom prst="rect">
            <a:avLst/>
          </a:prstGeom>
          <a:noFill/>
        </p:spPr>
        <p:txBody>
          <a:bodyPr wrap="square" lIns="45720" rIns="45720" tIns="27432" bIns="27432" anchor="t">
            <a:spAutoFit/>
          </a:bodyPr>
          <a:lstStyle/>
          <a:p>
            <a:pPr algn="l">
              <a:spcAft>
                <a:spcPts val="600"/>
              </a:spcAft>
            </a:pPr>
            <a:r>
              <a:rPr sz="1800" b="1" i="0">
                <a:solidFill>
                  <a:srgbClr val="0B7A53"/>
                </a:solidFill>
              </a:rPr>
              <a:t>Biestable (piloto / piloto)</a:t>
            </a:r>
          </a:p>
        </p:txBody>
      </p:sp>
      <p:sp>
        <p:nvSpPr>
          <p:cNvPr id="9" name="TextBox 8"/>
          <p:cNvSpPr txBox="1"/>
          <p:nvPr/>
        </p:nvSpPr>
        <p:spPr>
          <a:xfrm>
            <a:off x="6400800" y="4343400"/>
            <a:ext cx="5120640" cy="1188720"/>
          </a:xfrm>
          <a:prstGeom prst="rect">
            <a:avLst/>
          </a:prstGeom>
          <a:noFill/>
        </p:spPr>
        <p:txBody>
          <a:bodyPr wrap="square" lIns="45720" rIns="45720" tIns="27432" bIns="27432" anchor="t">
            <a:spAutoFit/>
          </a:bodyPr>
          <a:lstStyle/>
          <a:p>
            <a:pPr algn="l" marL="256032" indent="-219456">
              <a:spcAft>
                <a:spcPts val="600"/>
              </a:spcAft>
              <a:buClr>
                <a:srgbClr val="16C78E"/>
              </a:buClr>
              <a:buChar char="•"/>
            </a:pPr>
            <a:r>
              <a:rPr sz="1400" b="0" i="0">
                <a:solidFill>
                  <a:srgbClr val="1A1A1A"/>
                </a:solidFill>
              </a:rPr>
              <a:t>Mantiene la última posición: es una MEMORIA</a:t>
            </a:r>
          </a:p>
          <a:p>
            <a:pPr algn="l" marL="256032" indent="-219456">
              <a:spcAft>
                <a:spcPts val="600"/>
              </a:spcAft>
              <a:buClr>
                <a:srgbClr val="16C78E"/>
              </a:buClr>
              <a:buChar char="•"/>
            </a:pPr>
            <a:r>
              <a:rPr sz="1400" b="0" i="0">
                <a:solidFill>
                  <a:srgbClr val="1A1A1A"/>
                </a:solidFill>
              </a:rPr>
              <a:t>Basta un pulso en 14 (A+) o en 12 (A−)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Elementos de regulación y lógica</a:t>
            </a:r>
          </a:p>
        </p:txBody>
      </p:sp>
      <p:sp>
        <p:nvSpPr>
          <p:cNvPr id="3" name="Slide Number Placeholder 2"/>
          <p:cNvSpPr>
            <a:spLocks noGrp="1"/>
          </p:cNvSpPr>
          <p:nvPr>
            <p:ph type="sldNum" idx="12"/>
          </p:nvPr>
        </p:nvSpPr>
        <p:spPr/>
        <p:txBody>
          <a:bodyPr/>
          <a:p>
            <a:fld id="{9ADD012B-0951-49D5-8581-287E97442BD5}" type="slidenum">
              <a:rPr lang="es-PE"/>
              <a:t>12</a:t>
            </a:fld>
          </a:p>
        </p:txBody>
      </p:sp>
      <p:sp>
        <p:nvSpPr>
          <p:cNvPr id="4" name="Rounded Rectangle 3"/>
          <p:cNvSpPr/>
          <p:nvPr/>
        </p:nvSpPr>
        <p:spPr>
          <a:xfrm>
            <a:off x="548640" y="1463040"/>
            <a:ext cx="3520440" cy="393192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sym_reguladora" descr="sym_reguladora.png"/>
          <p:cNvPicPr>
            <a:picLocks noChangeAspect="1"/>
          </p:cNvPicPr>
          <p:nvPr/>
        </p:nvPicPr>
        <p:blipFill>
          <a:blip r:embed="rId3"/>
          <a:stretch>
            <a:fillRect/>
          </a:stretch>
        </p:blipFill>
        <p:spPr>
          <a:xfrm>
            <a:off x="1348739" y="1645920"/>
            <a:ext cx="1920240" cy="1920240"/>
          </a:xfrm>
          <a:prstGeom prst="rect">
            <a:avLst/>
          </a:prstGeom>
        </p:spPr>
      </p:pic>
      <p:sp>
        <p:nvSpPr>
          <p:cNvPr id="6" name="TextBox 5"/>
          <p:cNvSpPr txBox="1"/>
          <p:nvPr/>
        </p:nvSpPr>
        <p:spPr>
          <a:xfrm>
            <a:off x="731520" y="3703320"/>
            <a:ext cx="3154680" cy="411480"/>
          </a:xfrm>
          <a:prstGeom prst="rect">
            <a:avLst/>
          </a:prstGeom>
          <a:noFill/>
        </p:spPr>
        <p:txBody>
          <a:bodyPr wrap="square" lIns="45720" rIns="45720" tIns="27432" bIns="27432" anchor="t">
            <a:spAutoFit/>
          </a:bodyPr>
          <a:lstStyle/>
          <a:p>
            <a:pPr algn="ctr">
              <a:spcAft>
                <a:spcPts val="600"/>
              </a:spcAft>
            </a:pPr>
            <a:r>
              <a:rPr sz="1700" b="1" i="0">
                <a:solidFill>
                  <a:srgbClr val="042254"/>
                </a:solidFill>
              </a:rPr>
              <a:t>Reguladora unidireccional</a:t>
            </a:r>
          </a:p>
        </p:txBody>
      </p:sp>
      <p:sp>
        <p:nvSpPr>
          <p:cNvPr id="7" name="TextBox 6"/>
          <p:cNvSpPr txBox="1"/>
          <p:nvPr/>
        </p:nvSpPr>
        <p:spPr>
          <a:xfrm>
            <a:off x="731520" y="4160520"/>
            <a:ext cx="3154680" cy="1097280"/>
          </a:xfrm>
          <a:prstGeom prst="rect">
            <a:avLst/>
          </a:prstGeom>
          <a:noFill/>
        </p:spPr>
        <p:txBody>
          <a:bodyPr wrap="square" lIns="45720" rIns="45720" tIns="27432" bIns="27432" anchor="t">
            <a:spAutoFit/>
          </a:bodyPr>
          <a:lstStyle/>
          <a:p>
            <a:pPr algn="ctr">
              <a:spcAft>
                <a:spcPts val="600"/>
              </a:spcAft>
            </a:pPr>
            <a:r>
              <a:rPr sz="1400" b="0" i="0">
                <a:solidFill>
                  <a:srgbClr val="1A1A1A"/>
                </a:solidFill>
              </a:rPr>
              <a:t>Estrangula en un sentido; paso libre en el otro (antirretorno).</a:t>
            </a:r>
          </a:p>
        </p:txBody>
      </p:sp>
      <p:sp>
        <p:nvSpPr>
          <p:cNvPr id="8" name="Rounded Rectangle 7"/>
          <p:cNvSpPr/>
          <p:nvPr/>
        </p:nvSpPr>
        <p:spPr>
          <a:xfrm>
            <a:off x="4297679" y="1463040"/>
            <a:ext cx="3520440" cy="393192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sym_or" descr="sym_or.png"/>
          <p:cNvPicPr>
            <a:picLocks noChangeAspect="1"/>
          </p:cNvPicPr>
          <p:nvPr/>
        </p:nvPicPr>
        <p:blipFill>
          <a:blip r:embed="rId4"/>
          <a:stretch>
            <a:fillRect/>
          </a:stretch>
        </p:blipFill>
        <p:spPr>
          <a:xfrm>
            <a:off x="4663440" y="1751933"/>
            <a:ext cx="2788920" cy="1708213"/>
          </a:xfrm>
          <a:prstGeom prst="rect">
            <a:avLst/>
          </a:prstGeom>
        </p:spPr>
      </p:pic>
      <p:sp>
        <p:nvSpPr>
          <p:cNvPr id="10" name="TextBox 9"/>
          <p:cNvSpPr txBox="1"/>
          <p:nvPr/>
        </p:nvSpPr>
        <p:spPr>
          <a:xfrm>
            <a:off x="4480559" y="3703320"/>
            <a:ext cx="3154680" cy="411480"/>
          </a:xfrm>
          <a:prstGeom prst="rect">
            <a:avLst/>
          </a:prstGeom>
          <a:noFill/>
        </p:spPr>
        <p:txBody>
          <a:bodyPr wrap="square" lIns="45720" rIns="45720" tIns="27432" bIns="27432" anchor="t">
            <a:spAutoFit/>
          </a:bodyPr>
          <a:lstStyle/>
          <a:p>
            <a:pPr algn="ctr">
              <a:spcAft>
                <a:spcPts val="600"/>
              </a:spcAft>
            </a:pPr>
            <a:r>
              <a:rPr sz="1700" b="1" i="0">
                <a:solidFill>
                  <a:srgbClr val="042254"/>
                </a:solidFill>
              </a:rPr>
              <a:t>Válvula selectora · O</a:t>
            </a:r>
          </a:p>
        </p:txBody>
      </p:sp>
      <p:sp>
        <p:nvSpPr>
          <p:cNvPr id="11" name="TextBox 10"/>
          <p:cNvSpPr txBox="1"/>
          <p:nvPr/>
        </p:nvSpPr>
        <p:spPr>
          <a:xfrm>
            <a:off x="4480559" y="4160520"/>
            <a:ext cx="3154680" cy="1097280"/>
          </a:xfrm>
          <a:prstGeom prst="rect">
            <a:avLst/>
          </a:prstGeom>
          <a:noFill/>
        </p:spPr>
        <p:txBody>
          <a:bodyPr wrap="square" lIns="45720" rIns="45720" tIns="27432" bIns="27432" anchor="t">
            <a:spAutoFit/>
          </a:bodyPr>
          <a:lstStyle/>
          <a:p>
            <a:pPr algn="ctr">
              <a:spcAft>
                <a:spcPts val="600"/>
              </a:spcAft>
            </a:pPr>
            <a:r>
              <a:rPr sz="1400" b="0" i="0">
                <a:solidFill>
                  <a:srgbClr val="1A1A1A"/>
                </a:solidFill>
              </a:rPr>
              <a:t>Salida 2 activa si hay señal en una U otra entrada.</a:t>
            </a:r>
          </a:p>
        </p:txBody>
      </p:sp>
      <p:sp>
        <p:nvSpPr>
          <p:cNvPr id="12" name="Rounded Rectangle 11"/>
          <p:cNvSpPr/>
          <p:nvPr/>
        </p:nvSpPr>
        <p:spPr>
          <a:xfrm>
            <a:off x="8046719" y="1463040"/>
            <a:ext cx="3520440" cy="393192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sym_and" descr="sym_and.png"/>
          <p:cNvPicPr>
            <a:picLocks noChangeAspect="1"/>
          </p:cNvPicPr>
          <p:nvPr/>
        </p:nvPicPr>
        <p:blipFill>
          <a:blip r:embed="rId5"/>
          <a:stretch>
            <a:fillRect/>
          </a:stretch>
        </p:blipFill>
        <p:spPr>
          <a:xfrm>
            <a:off x="8412480" y="1751933"/>
            <a:ext cx="2788920" cy="1708213"/>
          </a:xfrm>
          <a:prstGeom prst="rect">
            <a:avLst/>
          </a:prstGeom>
        </p:spPr>
      </p:pic>
      <p:sp>
        <p:nvSpPr>
          <p:cNvPr id="14" name="TextBox 13"/>
          <p:cNvSpPr txBox="1"/>
          <p:nvPr/>
        </p:nvSpPr>
        <p:spPr>
          <a:xfrm>
            <a:off x="8229599" y="3703320"/>
            <a:ext cx="3154680" cy="411480"/>
          </a:xfrm>
          <a:prstGeom prst="rect">
            <a:avLst/>
          </a:prstGeom>
          <a:noFill/>
        </p:spPr>
        <p:txBody>
          <a:bodyPr wrap="square" lIns="45720" rIns="45720" tIns="27432" bIns="27432" anchor="t">
            <a:spAutoFit/>
          </a:bodyPr>
          <a:lstStyle/>
          <a:p>
            <a:pPr algn="ctr">
              <a:spcAft>
                <a:spcPts val="600"/>
              </a:spcAft>
            </a:pPr>
            <a:r>
              <a:rPr sz="1700" b="1" i="0">
                <a:solidFill>
                  <a:srgbClr val="042254"/>
                </a:solidFill>
              </a:rPr>
              <a:t>Simultaneidad · Y</a:t>
            </a:r>
          </a:p>
        </p:txBody>
      </p:sp>
      <p:sp>
        <p:nvSpPr>
          <p:cNvPr id="15" name="TextBox 14"/>
          <p:cNvSpPr txBox="1"/>
          <p:nvPr/>
        </p:nvSpPr>
        <p:spPr>
          <a:xfrm>
            <a:off x="8229599" y="4160520"/>
            <a:ext cx="3154680" cy="1097280"/>
          </a:xfrm>
          <a:prstGeom prst="rect">
            <a:avLst/>
          </a:prstGeom>
          <a:noFill/>
        </p:spPr>
        <p:txBody>
          <a:bodyPr wrap="square" lIns="45720" rIns="45720" tIns="27432" bIns="27432" anchor="t">
            <a:spAutoFit/>
          </a:bodyPr>
          <a:lstStyle/>
          <a:p>
            <a:pPr algn="ctr">
              <a:spcAft>
                <a:spcPts val="600"/>
              </a:spcAft>
            </a:pPr>
            <a:r>
              <a:rPr sz="1400" b="0" i="0">
                <a:solidFill>
                  <a:srgbClr val="1A1A1A"/>
                </a:solidFill>
              </a:rPr>
              <a:t>Salida 2 activa solo si hay señal en AMBAS entradas.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a:solidFill>
                  <a:srgbClr val="16C78E"/>
                </a:solidFill>
              </a:rPr>
              <a:t>2  </a:t>
            </a:r>
            <a:r>
              <a:rPr b="1">
                <a:solidFill>
                  <a:srgbClr val="042254"/>
                </a:solidFill>
              </a:rPr>
              <a:t>Circuitos básicos</a:t>
            </a:r>
          </a:p>
        </p:txBody>
      </p:sp>
      <p:sp>
        <p:nvSpPr>
          <p:cNvPr id="3" name="Subtitle 2"/>
          <p:cNvSpPr>
            <a:spLocks noGrp="1"/>
          </p:cNvSpPr>
          <p:nvPr>
            <p:ph type="subTitle" idx="1"/>
          </p:nvPr>
        </p:nvSpPr>
        <p:spPr/>
        <p:txBody>
          <a:bodyPr/>
          <a:lstStyle/>
          <a:p>
            <a:r>
              <a:rPr sz="2000">
                <a:solidFill>
                  <a:srgbClr val="555F6D"/>
                </a:solidFill>
              </a:rPr>
              <a:t>Mando directo e indirecto, velocidad, lógica y finales de carrera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Reglas para dibujar un esquema</a:t>
            </a:r>
          </a:p>
        </p:txBody>
      </p:sp>
      <p:sp>
        <p:nvSpPr>
          <p:cNvPr id="3" name="Slide Number Placeholder 2"/>
          <p:cNvSpPr>
            <a:spLocks noGrp="1"/>
          </p:cNvSpPr>
          <p:nvPr>
            <p:ph type="sldNum" idx="12"/>
          </p:nvPr>
        </p:nvSpPr>
        <p:spPr/>
        <p:txBody>
          <a:bodyPr/>
          <a:p>
            <a:fld id="{A2F13FFB-AA11-4337-AB53-834E86D28F92}" type="slidenum">
              <a:rPr lang="es-PE"/>
              <a:t>14</a:t>
            </a:fld>
          </a:p>
        </p:txBody>
      </p:sp>
      <p:sp>
        <p:nvSpPr>
          <p:cNvPr id="4" name="Oval 3"/>
          <p:cNvSpPr/>
          <p:nvPr/>
        </p:nvSpPr>
        <p:spPr>
          <a:xfrm>
            <a:off x="594360" y="1463040"/>
            <a:ext cx="457200" cy="457200"/>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5" name="TextBox 4"/>
          <p:cNvSpPr txBox="1"/>
          <p:nvPr/>
        </p:nvSpPr>
        <p:spPr>
          <a:xfrm>
            <a:off x="1234440" y="1417320"/>
            <a:ext cx="2926080" cy="73152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Por niveles</a:t>
            </a:r>
          </a:p>
        </p:txBody>
      </p:sp>
      <p:sp>
        <p:nvSpPr>
          <p:cNvPr id="6" name="TextBox 5"/>
          <p:cNvSpPr txBox="1"/>
          <p:nvPr/>
        </p:nvSpPr>
        <p:spPr>
          <a:xfrm>
            <a:off x="3931920" y="1417320"/>
            <a:ext cx="7726679" cy="777240"/>
          </a:xfrm>
          <a:prstGeom prst="rect">
            <a:avLst/>
          </a:prstGeom>
          <a:noFill/>
        </p:spPr>
        <p:txBody>
          <a:bodyPr wrap="square" lIns="45720" rIns="45720" tIns="27432" bIns="27432" anchor="t">
            <a:spAutoFit/>
          </a:bodyPr>
          <a:lstStyle/>
          <a:p>
            <a:pPr algn="l">
              <a:spcAft>
                <a:spcPts val="600"/>
              </a:spcAft>
            </a:pPr>
            <a:r>
              <a:rPr sz="1600" b="0" i="0">
                <a:solidFill>
                  <a:srgbClr val="1A1A1A"/>
                </a:solidFill>
              </a:rPr>
              <a:t>Actuadores arriba → válvulas de potencia → elementos de señal abajo.</a:t>
            </a:r>
          </a:p>
        </p:txBody>
      </p:sp>
      <p:sp>
        <p:nvSpPr>
          <p:cNvPr id="7" name="Oval 6"/>
          <p:cNvSpPr/>
          <p:nvPr/>
        </p:nvSpPr>
        <p:spPr>
          <a:xfrm>
            <a:off x="594360" y="2286000"/>
            <a:ext cx="457200" cy="457200"/>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8" name="TextBox 7"/>
          <p:cNvSpPr txBox="1"/>
          <p:nvPr/>
        </p:nvSpPr>
        <p:spPr>
          <a:xfrm>
            <a:off x="1234440" y="2240280"/>
            <a:ext cx="2926080" cy="73152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Posición de reposo</a:t>
            </a:r>
          </a:p>
        </p:txBody>
      </p:sp>
      <p:sp>
        <p:nvSpPr>
          <p:cNvPr id="9" name="TextBox 8"/>
          <p:cNvSpPr txBox="1"/>
          <p:nvPr/>
        </p:nvSpPr>
        <p:spPr>
          <a:xfrm>
            <a:off x="3931920" y="2240280"/>
            <a:ext cx="7726679" cy="777240"/>
          </a:xfrm>
          <a:prstGeom prst="rect">
            <a:avLst/>
          </a:prstGeom>
          <a:noFill/>
        </p:spPr>
        <p:txBody>
          <a:bodyPr wrap="square" lIns="45720" rIns="45720" tIns="27432" bIns="27432" anchor="t">
            <a:spAutoFit/>
          </a:bodyPr>
          <a:lstStyle/>
          <a:p>
            <a:pPr algn="l">
              <a:spcAft>
                <a:spcPts val="600"/>
              </a:spcAft>
            </a:pPr>
            <a:r>
              <a:rPr sz="1600" b="0" i="0">
                <a:solidFill>
                  <a:srgbClr val="1A1A1A"/>
                </a:solidFill>
              </a:rPr>
              <a:t>Todo se dibuja en reposo: cilindros retraídos, pulsadores sin pulsar. Un final de carrera pisado en reposo (a0) se dibuja accionado.</a:t>
            </a:r>
          </a:p>
        </p:txBody>
      </p:sp>
      <p:sp>
        <p:nvSpPr>
          <p:cNvPr id="10" name="Oval 9"/>
          <p:cNvSpPr/>
          <p:nvPr/>
        </p:nvSpPr>
        <p:spPr>
          <a:xfrm>
            <a:off x="594360" y="3108960"/>
            <a:ext cx="457200" cy="457200"/>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1" name="TextBox 10"/>
          <p:cNvSpPr txBox="1"/>
          <p:nvPr/>
        </p:nvSpPr>
        <p:spPr>
          <a:xfrm>
            <a:off x="1234440" y="3063240"/>
            <a:ext cx="2926080" cy="73152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Nombres</a:t>
            </a:r>
          </a:p>
        </p:txBody>
      </p:sp>
      <p:sp>
        <p:nvSpPr>
          <p:cNvPr id="12" name="TextBox 11"/>
          <p:cNvSpPr txBox="1"/>
          <p:nvPr/>
        </p:nvSpPr>
        <p:spPr>
          <a:xfrm>
            <a:off x="3931920" y="3063240"/>
            <a:ext cx="7726679" cy="777240"/>
          </a:xfrm>
          <a:prstGeom prst="rect">
            <a:avLst/>
          </a:prstGeom>
          <a:noFill/>
        </p:spPr>
        <p:txBody>
          <a:bodyPr wrap="square" lIns="45720" rIns="45720" tIns="27432" bIns="27432" anchor="t">
            <a:spAutoFit/>
          </a:bodyPr>
          <a:lstStyle/>
          <a:p>
            <a:pPr algn="l">
              <a:spcAft>
                <a:spcPts val="600"/>
              </a:spcAft>
            </a:pPr>
            <a:r>
              <a:rPr sz="1600" b="0" i="0">
                <a:solidFill>
                  <a:srgbClr val="1A1A1A"/>
                </a:solidFill>
              </a:rPr>
              <a:t>Cilindros A, B, C; válvula de potencia VA; finales de carrera a0 / a1 (marcados sobre el vástago).</a:t>
            </a:r>
          </a:p>
        </p:txBody>
      </p:sp>
      <p:sp>
        <p:nvSpPr>
          <p:cNvPr id="13" name="Oval 12"/>
          <p:cNvSpPr/>
          <p:nvPr/>
        </p:nvSpPr>
        <p:spPr>
          <a:xfrm>
            <a:off x="594360" y="3931920"/>
            <a:ext cx="457200" cy="457200"/>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14" name="TextBox 13"/>
          <p:cNvSpPr txBox="1"/>
          <p:nvPr/>
        </p:nvSpPr>
        <p:spPr>
          <a:xfrm>
            <a:off x="1234440" y="3886200"/>
            <a:ext cx="2926080" cy="73152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Líneas</a:t>
            </a:r>
          </a:p>
        </p:txBody>
      </p:sp>
      <p:sp>
        <p:nvSpPr>
          <p:cNvPr id="15" name="TextBox 14"/>
          <p:cNvSpPr txBox="1"/>
          <p:nvPr/>
        </p:nvSpPr>
        <p:spPr>
          <a:xfrm>
            <a:off x="3931920" y="3886200"/>
            <a:ext cx="7726679" cy="777240"/>
          </a:xfrm>
          <a:prstGeom prst="rect">
            <a:avLst/>
          </a:prstGeom>
          <a:noFill/>
        </p:spPr>
        <p:txBody>
          <a:bodyPr wrap="square" lIns="45720" rIns="45720" tIns="27432" bIns="27432" anchor="t">
            <a:spAutoFit/>
          </a:bodyPr>
          <a:lstStyle/>
          <a:p>
            <a:pPr algn="l">
              <a:spcAft>
                <a:spcPts val="600"/>
              </a:spcAft>
            </a:pPr>
            <a:r>
              <a:rPr sz="1600" b="0" i="0">
                <a:solidFill>
                  <a:srgbClr val="1A1A1A"/>
                </a:solidFill>
              </a:rPr>
              <a:t>Continuas = trabajo (potencia). Discontinuas = pilotaje / señal. Punto = unión; cruce sin punto = no hay unión.</a:t>
            </a:r>
          </a:p>
        </p:txBody>
      </p:sp>
      <p:sp>
        <p:nvSpPr>
          <p:cNvPr id="16" name="Oval 15"/>
          <p:cNvSpPr/>
          <p:nvPr/>
        </p:nvSpPr>
        <p:spPr>
          <a:xfrm>
            <a:off x="594360" y="4754880"/>
            <a:ext cx="457200" cy="457200"/>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5</a:t>
            </a:r>
          </a:p>
        </p:txBody>
      </p:sp>
      <p:sp>
        <p:nvSpPr>
          <p:cNvPr id="17" name="TextBox 16"/>
          <p:cNvSpPr txBox="1"/>
          <p:nvPr/>
        </p:nvSpPr>
        <p:spPr>
          <a:xfrm>
            <a:off x="1234440" y="4709160"/>
            <a:ext cx="2926080" cy="73152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Sin cruces innecesarios</a:t>
            </a:r>
          </a:p>
        </p:txBody>
      </p:sp>
      <p:sp>
        <p:nvSpPr>
          <p:cNvPr id="18" name="TextBox 17"/>
          <p:cNvSpPr txBox="1"/>
          <p:nvPr/>
        </p:nvSpPr>
        <p:spPr>
          <a:xfrm>
            <a:off x="3931920" y="4709160"/>
            <a:ext cx="7726679" cy="777240"/>
          </a:xfrm>
          <a:prstGeom prst="rect">
            <a:avLst/>
          </a:prstGeom>
          <a:noFill/>
        </p:spPr>
        <p:txBody>
          <a:bodyPr wrap="square" lIns="45720" rIns="45720" tIns="27432" bIns="27432" anchor="t">
            <a:spAutoFit/>
          </a:bodyPr>
          <a:lstStyle/>
          <a:p>
            <a:pPr algn="l">
              <a:spcAft>
                <a:spcPts val="600"/>
              </a:spcAft>
            </a:pPr>
            <a:r>
              <a:rPr sz="1600" b="0" i="0">
                <a:solidFill>
                  <a:srgbClr val="1A1A1A"/>
                </a:solidFill>
              </a:rPr>
              <a:t>Ordena las válvulas de señal según la secuencia, de izquierda a derecha.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Mando directo</a:t>
            </a:r>
          </a:p>
        </p:txBody>
      </p:sp>
      <p:sp>
        <p:nvSpPr>
          <p:cNvPr id="3" name="Slide Number Placeholder 2"/>
          <p:cNvSpPr>
            <a:spLocks noGrp="1"/>
          </p:cNvSpPr>
          <p:nvPr>
            <p:ph type="sldNum" idx="12"/>
          </p:nvPr>
        </p:nvSpPr>
        <p:spPr/>
        <p:txBody>
          <a:bodyPr/>
          <a:p>
            <a:fld id="{DEE76094-A075-49B7-A470-3C158A8E7C8E}" type="slidenum">
              <a:rPr lang="es-PE"/>
              <a:t>15</a:t>
            </a:fld>
          </a:p>
        </p:txBody>
      </p:sp>
      <p:pic>
        <p:nvPicPr>
          <p:cNvPr id="4" name="t_mando_directo_se" descr="t_mando_directo_se.png"/>
          <p:cNvPicPr>
            <a:picLocks noChangeAspect="1"/>
          </p:cNvPicPr>
          <p:nvPr/>
        </p:nvPicPr>
        <p:blipFill>
          <a:blip r:embed="rId3"/>
          <a:stretch>
            <a:fillRect/>
          </a:stretch>
        </p:blipFill>
        <p:spPr>
          <a:xfrm>
            <a:off x="1039414" y="1371600"/>
            <a:ext cx="4230531" cy="3383280"/>
          </a:xfrm>
          <a:prstGeom prst="rect">
            <a:avLst/>
          </a:prstGeom>
        </p:spPr>
      </p:pic>
      <p:sp>
        <p:nvSpPr>
          <p:cNvPr id="5" name="TextBox 4"/>
          <p:cNvSpPr txBox="1"/>
          <p:nvPr/>
        </p:nvSpPr>
        <p:spPr>
          <a:xfrm>
            <a:off x="548640" y="4800600"/>
            <a:ext cx="5212080" cy="320040"/>
          </a:xfrm>
          <a:prstGeom prst="rect">
            <a:avLst/>
          </a:prstGeom>
          <a:noFill/>
        </p:spPr>
        <p:txBody>
          <a:bodyPr wrap="square" lIns="45720" rIns="45720" tIns="27432" bIns="27432" anchor="t">
            <a:spAutoFit/>
          </a:bodyPr>
          <a:lstStyle/>
          <a:p>
            <a:pPr algn="ctr">
              <a:spcAft>
                <a:spcPts val="600"/>
              </a:spcAft>
            </a:pPr>
            <a:r>
              <a:rPr sz="1300" b="0" i="0">
                <a:solidFill>
                  <a:srgbClr val="1A1A1A"/>
                </a:solidFill>
              </a:rPr>
              <a:t>Simple efecto + 3/2 NC con pulsador</a:t>
            </a:r>
          </a:p>
        </p:txBody>
      </p:sp>
      <p:pic>
        <p:nvPicPr>
          <p:cNvPr id="6" name="t_mando_directo_de" descr="t_mando_directo_de.png"/>
          <p:cNvPicPr>
            <a:picLocks noChangeAspect="1"/>
          </p:cNvPicPr>
          <p:nvPr/>
        </p:nvPicPr>
        <p:blipFill>
          <a:blip r:embed="rId4"/>
          <a:stretch>
            <a:fillRect/>
          </a:stretch>
        </p:blipFill>
        <p:spPr>
          <a:xfrm>
            <a:off x="6607103" y="1371600"/>
            <a:ext cx="4616593" cy="3383280"/>
          </a:xfrm>
          <a:prstGeom prst="rect">
            <a:avLst/>
          </a:prstGeom>
        </p:spPr>
      </p:pic>
      <p:sp>
        <p:nvSpPr>
          <p:cNvPr id="7" name="TextBox 6"/>
          <p:cNvSpPr txBox="1"/>
          <p:nvPr/>
        </p:nvSpPr>
        <p:spPr>
          <a:xfrm>
            <a:off x="6217920" y="4800600"/>
            <a:ext cx="5394960" cy="320040"/>
          </a:xfrm>
          <a:prstGeom prst="rect">
            <a:avLst/>
          </a:prstGeom>
          <a:noFill/>
        </p:spPr>
        <p:txBody>
          <a:bodyPr wrap="square" lIns="45720" rIns="45720" tIns="27432" bIns="27432" anchor="t">
            <a:spAutoFit/>
          </a:bodyPr>
          <a:lstStyle/>
          <a:p>
            <a:pPr algn="ctr">
              <a:spcAft>
                <a:spcPts val="600"/>
              </a:spcAft>
            </a:pPr>
            <a:r>
              <a:rPr sz="1300" b="0" i="0">
                <a:solidFill>
                  <a:srgbClr val="1A1A1A"/>
                </a:solidFill>
              </a:rPr>
              <a:t>Doble efecto + 5/2 con pulsador y resorte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Mando indirecto y memoria</a:t>
            </a:r>
          </a:p>
        </p:txBody>
      </p:sp>
      <p:sp>
        <p:nvSpPr>
          <p:cNvPr id="3" name="Slide Number Placeholder 2"/>
          <p:cNvSpPr>
            <a:spLocks noGrp="1"/>
          </p:cNvSpPr>
          <p:nvPr>
            <p:ph type="sldNum" idx="12"/>
          </p:nvPr>
        </p:nvSpPr>
        <p:spPr/>
        <p:txBody>
          <a:bodyPr/>
          <a:p>
            <a:fld id="{BB20E370-AA62-4448-B35D-60277E25CA85}" type="slidenum">
              <a:rPr lang="es-PE"/>
              <a:t>16</a:t>
            </a:fld>
          </a:p>
        </p:txBody>
      </p:sp>
      <p:pic>
        <p:nvPicPr>
          <p:cNvPr id="4" name="t_mando_indirecto_memoria" descr="t_mando_indirecto_memoria.png"/>
          <p:cNvPicPr>
            <a:picLocks noChangeAspect="1"/>
          </p:cNvPicPr>
          <p:nvPr/>
        </p:nvPicPr>
        <p:blipFill>
          <a:blip r:embed="rId3"/>
          <a:stretch>
            <a:fillRect/>
          </a:stretch>
        </p:blipFill>
        <p:spPr>
          <a:xfrm>
            <a:off x="1139312" y="1371600"/>
            <a:ext cx="4670815" cy="4160520"/>
          </a:xfrm>
          <a:prstGeom prst="rect">
            <a:avLst/>
          </a:prstGeom>
        </p:spPr>
      </p:pic>
      <p:sp>
        <p:nvSpPr>
          <p:cNvPr id="5" name="Rounded Rectangle 4"/>
          <p:cNvSpPr/>
          <p:nvPr/>
        </p:nvSpPr>
        <p:spPr>
          <a:xfrm>
            <a:off x="6675120" y="1463040"/>
            <a:ext cx="4937760" cy="393192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0" y="1600200"/>
            <a:ext cx="4572000" cy="411480"/>
          </a:xfrm>
          <a:prstGeom prst="rect">
            <a:avLst/>
          </a:prstGeom>
          <a:noFill/>
        </p:spPr>
        <p:txBody>
          <a:bodyPr wrap="square" lIns="45720" rIns="45720" tIns="27432" bIns="27432" anchor="t">
            <a:spAutoFit/>
          </a:bodyPr>
          <a:lstStyle/>
          <a:p>
            <a:pPr algn="l">
              <a:spcAft>
                <a:spcPts val="600"/>
              </a:spcAft>
            </a:pPr>
            <a:r>
              <a:rPr sz="1800" b="1" i="0">
                <a:solidFill>
                  <a:srgbClr val="042254"/>
                </a:solidFill>
              </a:rPr>
              <a:t>¿Por qué indirecto?</a:t>
            </a:r>
          </a:p>
        </p:txBody>
      </p:sp>
      <p:sp>
        <p:nvSpPr>
          <p:cNvPr id="7" name="TextBox 6"/>
          <p:cNvSpPr txBox="1"/>
          <p:nvPr/>
        </p:nvSpPr>
        <p:spPr>
          <a:xfrm>
            <a:off x="6858000" y="2103120"/>
            <a:ext cx="4572000" cy="3200400"/>
          </a:xfrm>
          <a:prstGeom prst="rect">
            <a:avLst/>
          </a:prstGeom>
          <a:noFill/>
        </p:spPr>
        <p:txBody>
          <a:bodyPr wrap="square" lIns="45720" rIns="45720" tIns="27432" bIns="27432" anchor="t">
            <a:spAutoFit/>
          </a:bodyPr>
          <a:lstStyle/>
          <a:p>
            <a:pPr algn="l" marL="256032" indent="-219456">
              <a:spcAft>
                <a:spcPts val="800"/>
              </a:spcAft>
              <a:buClr>
                <a:srgbClr val="16C78E"/>
              </a:buClr>
              <a:buChar char="•"/>
            </a:pPr>
            <a:r>
              <a:rPr sz="1600" b="0" i="0">
                <a:solidFill>
                  <a:srgbClr val="1A1A1A"/>
                </a:solidFill>
              </a:rPr>
              <a:t>Las válvulas de señal son pequeñas y pueden estar lejos (mando a distancia)</a:t>
            </a:r>
          </a:p>
          <a:p>
            <a:pPr algn="l" marL="256032" indent="-219456">
              <a:spcAft>
                <a:spcPts val="800"/>
              </a:spcAft>
              <a:buClr>
                <a:srgbClr val="16C78E"/>
              </a:buClr>
              <a:buChar char="•"/>
            </a:pPr>
            <a:r>
              <a:rPr sz="1600" b="0" i="0">
                <a:solidFill>
                  <a:srgbClr val="1A1A1A"/>
                </a:solidFill>
              </a:rPr>
              <a:t>La válvula de potencia va cerca del cilindro</a:t>
            </a:r>
          </a:p>
          <a:p>
            <a:pPr algn="l" marL="256032" indent="-219456">
              <a:spcAft>
                <a:spcPts val="800"/>
              </a:spcAft>
              <a:buClr>
                <a:srgbClr val="16C78E"/>
              </a:buClr>
              <a:buChar char="•"/>
            </a:pPr>
            <a:r>
              <a:rPr sz="1600" b="0" i="0">
                <a:solidFill>
                  <a:srgbClr val="1A1A1A"/>
                </a:solidFill>
              </a:rPr>
              <a:t>Con 5/2 biestable: un pulso basta (memoria)</a:t>
            </a:r>
          </a:p>
          <a:p>
            <a:pPr algn="l" marL="256032" indent="-219456">
              <a:spcAft>
                <a:spcPts val="800"/>
              </a:spcAft>
              <a:buClr>
                <a:srgbClr val="16C78E"/>
              </a:buClr>
              <a:buChar char="•"/>
            </a:pPr>
            <a:r>
              <a:rPr sz="1600" b="0" i="0">
                <a:solidFill>
                  <a:srgbClr val="1A1A1A"/>
                </a:solidFill>
              </a:rPr>
              <a:t>Las líneas de señal se dibujan discontinuas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Regulación de velocidad</a:t>
            </a:r>
          </a:p>
        </p:txBody>
      </p:sp>
      <p:sp>
        <p:nvSpPr>
          <p:cNvPr id="3" name="Slide Number Placeholder 2"/>
          <p:cNvSpPr>
            <a:spLocks noGrp="1"/>
          </p:cNvSpPr>
          <p:nvPr>
            <p:ph type="sldNum" idx="12"/>
          </p:nvPr>
        </p:nvSpPr>
        <p:spPr/>
        <p:txBody>
          <a:bodyPr/>
          <a:p>
            <a:fld id="{278572BE-683F-40DF-8792-503802DA6F3A}" type="slidenum">
              <a:rPr lang="es-PE"/>
              <a:t>17</a:t>
            </a:fld>
          </a:p>
        </p:txBody>
      </p:sp>
      <p:pic>
        <p:nvPicPr>
          <p:cNvPr id="4" name="t_regulacion_velocidad" descr="t_regulacion_velocidad.png"/>
          <p:cNvPicPr>
            <a:picLocks noChangeAspect="1"/>
          </p:cNvPicPr>
          <p:nvPr/>
        </p:nvPicPr>
        <p:blipFill>
          <a:blip r:embed="rId3"/>
          <a:stretch>
            <a:fillRect/>
          </a:stretch>
        </p:blipFill>
        <p:spPr>
          <a:xfrm>
            <a:off x="548640" y="1733542"/>
            <a:ext cx="7680960" cy="3436635"/>
          </a:xfrm>
          <a:prstGeom prst="rect">
            <a:avLst/>
          </a:prstGeom>
        </p:spPr>
      </p:pic>
      <p:sp>
        <p:nvSpPr>
          <p:cNvPr id="5" name="Rounded Rectangle 4"/>
          <p:cNvSpPr/>
          <p:nvPr/>
        </p:nvSpPr>
        <p:spPr>
          <a:xfrm>
            <a:off x="8458200" y="1463040"/>
            <a:ext cx="3154680" cy="393192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41080" y="1600200"/>
            <a:ext cx="2788920" cy="411480"/>
          </a:xfrm>
          <a:prstGeom prst="rect">
            <a:avLst/>
          </a:prstGeom>
          <a:noFill/>
        </p:spPr>
        <p:txBody>
          <a:bodyPr wrap="square" lIns="45720" rIns="45720" tIns="27432" bIns="27432" anchor="t">
            <a:spAutoFit/>
          </a:bodyPr>
          <a:lstStyle/>
          <a:p>
            <a:pPr algn="l">
              <a:spcAft>
                <a:spcPts val="600"/>
              </a:spcAft>
            </a:pPr>
            <a:r>
              <a:rPr sz="1800" b="1" i="0">
                <a:solidFill>
                  <a:srgbClr val="0B7A53"/>
                </a:solidFill>
              </a:rPr>
              <a:t>Regla práctica</a:t>
            </a:r>
          </a:p>
        </p:txBody>
      </p:sp>
      <p:sp>
        <p:nvSpPr>
          <p:cNvPr id="7" name="TextBox 6"/>
          <p:cNvSpPr txBox="1"/>
          <p:nvPr/>
        </p:nvSpPr>
        <p:spPr>
          <a:xfrm>
            <a:off x="8641080" y="2103120"/>
            <a:ext cx="2788920" cy="3200400"/>
          </a:xfrm>
          <a:prstGeom prst="rect">
            <a:avLst/>
          </a:prstGeom>
          <a:noFill/>
        </p:spPr>
        <p:txBody>
          <a:bodyPr wrap="square" lIns="45720" rIns="45720" tIns="27432" bIns="27432" anchor="t">
            <a:spAutoFit/>
          </a:bodyPr>
          <a:lstStyle/>
          <a:p>
            <a:pPr algn="l" marL="256032" indent="-219456">
              <a:spcAft>
                <a:spcPts val="800"/>
              </a:spcAft>
              <a:buClr>
                <a:srgbClr val="16C78E"/>
              </a:buClr>
              <a:buChar char="•"/>
            </a:pPr>
            <a:r>
              <a:rPr sz="1400" b="0" i="0">
                <a:solidFill>
                  <a:srgbClr val="1A1A1A"/>
                </a:solidFill>
              </a:rPr>
              <a:t>Regular el ESCAPE (meter-out)</a:t>
            </a:r>
          </a:p>
          <a:p>
            <a:pPr algn="l" marL="256032" indent="-219456">
              <a:spcAft>
                <a:spcPts val="800"/>
              </a:spcAft>
              <a:buClr>
                <a:srgbClr val="16C78E"/>
              </a:buClr>
              <a:buChar char="•"/>
            </a:pPr>
            <a:r>
              <a:rPr sz="1400" b="0" i="0">
                <a:solidFill>
                  <a:srgbClr val="1A1A1A"/>
                </a:solidFill>
              </a:rPr>
              <a:t>Reguladora en la línea por la que SALE el aire del movimiento a frenar</a:t>
            </a:r>
          </a:p>
          <a:p>
            <a:pPr algn="l" marL="256032" indent="-219456">
              <a:spcAft>
                <a:spcPts val="800"/>
              </a:spcAft>
              <a:buClr>
                <a:srgbClr val="16C78E"/>
              </a:buClr>
              <a:buChar char="•"/>
            </a:pPr>
            <a:r>
              <a:rPr sz="1400" b="0" i="0">
                <a:solidFill>
                  <a:srgbClr val="1A1A1A"/>
                </a:solidFill>
              </a:rPr>
              <a:t>Antirretorno: paso libre hacia el cilindro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Funciones lógicas: O e Y</a:t>
            </a:r>
          </a:p>
        </p:txBody>
      </p:sp>
      <p:sp>
        <p:nvSpPr>
          <p:cNvPr id="3" name="Slide Number Placeholder 2"/>
          <p:cNvSpPr>
            <a:spLocks noGrp="1"/>
          </p:cNvSpPr>
          <p:nvPr>
            <p:ph type="sldNum" idx="12"/>
          </p:nvPr>
        </p:nvSpPr>
        <p:spPr/>
        <p:txBody>
          <a:bodyPr/>
          <a:p>
            <a:fld id="{3281B481-B26A-467A-AADD-DE52D68FD022}" type="slidenum">
              <a:rPr lang="es-PE"/>
              <a:t>18</a:t>
            </a:fld>
          </a:p>
        </p:txBody>
      </p:sp>
      <p:pic>
        <p:nvPicPr>
          <p:cNvPr id="4" name="t_logica_or" descr="t_logica_or.png"/>
          <p:cNvPicPr>
            <a:picLocks noChangeAspect="1"/>
          </p:cNvPicPr>
          <p:nvPr/>
        </p:nvPicPr>
        <p:blipFill>
          <a:blip r:embed="rId3"/>
          <a:stretch>
            <a:fillRect/>
          </a:stretch>
        </p:blipFill>
        <p:spPr>
          <a:xfrm>
            <a:off x="808241" y="1371600"/>
            <a:ext cx="4144237" cy="3749039"/>
          </a:xfrm>
          <a:prstGeom prst="rect">
            <a:avLst/>
          </a:prstGeom>
        </p:spPr>
      </p:pic>
      <p:sp>
        <p:nvSpPr>
          <p:cNvPr id="5" name="TextBox 4"/>
          <p:cNvSpPr txBox="1"/>
          <p:nvPr/>
        </p:nvSpPr>
        <p:spPr>
          <a:xfrm>
            <a:off x="548640" y="5120640"/>
            <a:ext cx="4663440" cy="320040"/>
          </a:xfrm>
          <a:prstGeom prst="rect">
            <a:avLst/>
          </a:prstGeom>
          <a:noFill/>
        </p:spPr>
        <p:txBody>
          <a:bodyPr wrap="square" lIns="45720" rIns="45720" tIns="27432" bIns="27432" anchor="t">
            <a:spAutoFit/>
          </a:bodyPr>
          <a:lstStyle/>
          <a:p>
            <a:pPr algn="ctr">
              <a:spcAft>
                <a:spcPts val="600"/>
              </a:spcAft>
            </a:pPr>
            <a:r>
              <a:rPr sz="1300" b="0" i="0">
                <a:solidFill>
                  <a:srgbClr val="1A1A1A"/>
                </a:solidFill>
              </a:rPr>
              <a:t>O: S1 o S2 mueven el cilindro</a:t>
            </a:r>
          </a:p>
        </p:txBody>
      </p:sp>
      <p:pic>
        <p:nvPicPr>
          <p:cNvPr id="6" name="t_logica_and" descr="t_logica_and.png"/>
          <p:cNvPicPr>
            <a:picLocks noChangeAspect="1"/>
          </p:cNvPicPr>
          <p:nvPr/>
        </p:nvPicPr>
        <p:blipFill>
          <a:blip r:embed="rId4"/>
          <a:stretch>
            <a:fillRect/>
          </a:stretch>
        </p:blipFill>
        <p:spPr>
          <a:xfrm>
            <a:off x="5746001" y="1371600"/>
            <a:ext cx="4144237" cy="3749039"/>
          </a:xfrm>
          <a:prstGeom prst="rect">
            <a:avLst/>
          </a:prstGeom>
        </p:spPr>
      </p:pic>
      <p:sp>
        <p:nvSpPr>
          <p:cNvPr id="7" name="TextBox 6"/>
          <p:cNvSpPr txBox="1"/>
          <p:nvPr/>
        </p:nvSpPr>
        <p:spPr>
          <a:xfrm>
            <a:off x="5486400" y="5120640"/>
            <a:ext cx="4663440" cy="320040"/>
          </a:xfrm>
          <a:prstGeom prst="rect">
            <a:avLst/>
          </a:prstGeom>
          <a:noFill/>
        </p:spPr>
        <p:txBody>
          <a:bodyPr wrap="square" lIns="45720" rIns="45720" tIns="27432" bIns="27432" anchor="t">
            <a:spAutoFit/>
          </a:bodyPr>
          <a:lstStyle/>
          <a:p>
            <a:pPr algn="ctr">
              <a:spcAft>
                <a:spcPts val="600"/>
              </a:spcAft>
            </a:pPr>
            <a:r>
              <a:rPr sz="1300" b="0" i="0">
                <a:solidFill>
                  <a:srgbClr val="1A1A1A"/>
                </a:solidFill>
              </a:rPr>
              <a:t>Y: se necesitan S1 y S2</a:t>
            </a:r>
          </a:p>
        </p:txBody>
      </p:sp>
      <p:sp>
        <p:nvSpPr>
          <p:cNvPr id="8" name="Rounded Rectangle 7"/>
          <p:cNvSpPr/>
          <p:nvPr/>
        </p:nvSpPr>
        <p:spPr>
          <a:xfrm>
            <a:off x="10287000" y="1463040"/>
            <a:ext cx="1371600" cy="393192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351008" y="1554480"/>
            <a:ext cx="1243584" cy="3749039"/>
          </a:xfrm>
          <a:prstGeom prst="rect">
            <a:avLst/>
          </a:prstGeom>
          <a:noFill/>
        </p:spPr>
        <p:txBody>
          <a:bodyPr wrap="square" lIns="45720" rIns="45720" tIns="27432" bIns="27432" anchor="t">
            <a:spAutoFit/>
          </a:bodyPr>
          <a:lstStyle/>
          <a:p>
            <a:pPr algn="ctr">
              <a:spcAft>
                <a:spcPts val="600"/>
              </a:spcAft>
            </a:pPr>
            <a:r>
              <a:rPr sz="1200" b="1" i="0">
                <a:solidFill>
                  <a:srgbClr val="0B7A53"/>
                </a:solidFill>
              </a:rPr>
              <a:t>Y en serie</a:t>
            </a:r>
          </a:p>
          <a:p>
            <a:pPr algn="ctr">
              <a:spcAft>
                <a:spcPts val="600"/>
              </a:spcAft>
            </a:pPr>
            <a:r>
              <a:rPr sz="1200" b="0" i="0">
                <a:solidFill>
                  <a:srgbClr val="1A1A1A"/>
                </a:solidFill>
              </a:rPr>
              <a:t>Salida 2 de una válvula → entrada 1 de la siguiente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Final de carrera: retorno automático</a:t>
            </a:r>
          </a:p>
        </p:txBody>
      </p:sp>
      <p:sp>
        <p:nvSpPr>
          <p:cNvPr id="3" name="Slide Number Placeholder 2"/>
          <p:cNvSpPr>
            <a:spLocks noGrp="1"/>
          </p:cNvSpPr>
          <p:nvPr>
            <p:ph type="sldNum" idx="12"/>
          </p:nvPr>
        </p:nvSpPr>
        <p:spPr/>
        <p:txBody>
          <a:bodyPr/>
          <a:p>
            <a:fld id="{3C1F70CA-ABB3-435D-889B-7A1C8F6410B1}" type="slidenum">
              <a:rPr lang="es-PE"/>
              <a:t>19</a:t>
            </a:fld>
          </a:p>
        </p:txBody>
      </p:sp>
      <p:pic>
        <p:nvPicPr>
          <p:cNvPr id="4" name="t_semiautomatico" descr="t_semiautomatico.png"/>
          <p:cNvPicPr>
            <a:picLocks noChangeAspect="1"/>
          </p:cNvPicPr>
          <p:nvPr/>
        </p:nvPicPr>
        <p:blipFill>
          <a:blip r:embed="rId3"/>
          <a:stretch>
            <a:fillRect/>
          </a:stretch>
        </p:blipFill>
        <p:spPr>
          <a:xfrm>
            <a:off x="1136592" y="1371600"/>
            <a:ext cx="5407775" cy="4160520"/>
          </a:xfrm>
          <a:prstGeom prst="rect">
            <a:avLst/>
          </a:prstGeom>
        </p:spPr>
      </p:pic>
      <p:sp>
        <p:nvSpPr>
          <p:cNvPr id="5" name="Rounded Rectangle 4"/>
          <p:cNvSpPr/>
          <p:nvPr/>
        </p:nvSpPr>
        <p:spPr>
          <a:xfrm>
            <a:off x="7406640" y="1463040"/>
            <a:ext cx="4206240" cy="210312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589520" y="1554480"/>
            <a:ext cx="3931920" cy="1920240"/>
          </a:xfrm>
          <a:prstGeom prst="rect">
            <a:avLst/>
          </a:prstGeom>
          <a:noFill/>
        </p:spPr>
        <p:txBody>
          <a:bodyPr wrap="square" lIns="45720" rIns="45720" tIns="27432" bIns="27432" anchor="t">
            <a:spAutoFit/>
          </a:bodyPr>
          <a:lstStyle/>
          <a:p>
            <a:pPr algn="l">
              <a:spcAft>
                <a:spcPts val="600"/>
              </a:spcAft>
            </a:pPr>
            <a:r>
              <a:rPr sz="1500" b="1" i="0">
                <a:solidFill>
                  <a:srgbClr val="042254"/>
                </a:solidFill>
              </a:rPr>
              <a:t>Ciclo: </a:t>
            </a:r>
            <a:r>
              <a:rPr sz="1500" b="0" i="0">
                <a:solidFill>
                  <a:srgbClr val="1A1A1A"/>
                </a:solidFill>
              </a:rPr>
              <a:t>S1 → A+ → a1 → A−</a:t>
            </a:r>
          </a:p>
          <a:p>
            <a:pPr algn="l">
              <a:spcAft>
                <a:spcPts val="600"/>
              </a:spcAft>
            </a:pPr>
            <a:r>
              <a:rPr sz="1500" b="0" i="0">
                <a:solidFill>
                  <a:srgbClr val="1A1A1A"/>
                </a:solidFill>
              </a:rPr>
              <a:t>El rodillo a1 se dibuja abajo, en la zona de señales, y su nombre se marca sobre el vástago.</a:t>
            </a:r>
          </a:p>
        </p:txBody>
      </p:sp>
      <p:sp>
        <p:nvSpPr>
          <p:cNvPr id="7" name="Rounded Rectangle 6"/>
          <p:cNvSpPr/>
          <p:nvPr/>
        </p:nvSpPr>
        <p:spPr>
          <a:xfrm>
            <a:off x="7406640" y="3749039"/>
            <a:ext cx="4206240" cy="164592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589520" y="3840480"/>
            <a:ext cx="3931920" cy="1463040"/>
          </a:xfrm>
          <a:prstGeom prst="rect">
            <a:avLst/>
          </a:prstGeom>
          <a:noFill/>
        </p:spPr>
        <p:txBody>
          <a:bodyPr wrap="square" lIns="45720" rIns="45720" tIns="27432" bIns="27432" anchor="t">
            <a:spAutoFit/>
          </a:bodyPr>
          <a:lstStyle/>
          <a:p>
            <a:pPr algn="l">
              <a:spcAft>
                <a:spcPts val="600"/>
              </a:spcAft>
            </a:pPr>
            <a:r>
              <a:rPr sz="1500" b="1" i="0">
                <a:solidFill>
                  <a:srgbClr val="C0392B"/>
                </a:solidFill>
              </a:rPr>
              <a:t>Pregunta: </a:t>
            </a:r>
            <a:r>
              <a:rPr sz="1500" b="0" i="0">
                <a:solidFill>
                  <a:srgbClr val="1A1A1A"/>
                </a:solidFill>
              </a:rPr>
              <a:t>¿qué ocurre si mantengo S1 pulsado cuando el vástago llega a a1?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a:solidFill>
                  <a:srgbClr val="16C78E"/>
                </a:solidFill>
              </a:rPr>
              <a:t>3  </a:t>
            </a:r>
            <a:r>
              <a:rPr b="1">
                <a:solidFill>
                  <a:srgbClr val="042254"/>
                </a:solidFill>
              </a:rPr>
              <a:t>Secuencias y método cascada</a:t>
            </a:r>
          </a:p>
        </p:txBody>
      </p:sp>
      <p:sp>
        <p:nvSpPr>
          <p:cNvPr id="3" name="Subtitle 2"/>
          <p:cNvSpPr>
            <a:spLocks noGrp="1"/>
          </p:cNvSpPr>
          <p:nvPr>
            <p:ph type="subTitle" idx="1"/>
          </p:nvPr>
        </p:nvSpPr>
        <p:spPr/>
        <p:txBody>
          <a:bodyPr/>
          <a:lstStyle/>
          <a:p>
            <a:r>
              <a:rPr sz="2000">
                <a:solidFill>
                  <a:srgbClr val="555F6D"/>
                </a:solidFill>
              </a:rPr>
              <a:t>Notación, diagrama espacio-fase y señales bloqueadas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Notación y diagrama espacio-fase</a:t>
            </a:r>
          </a:p>
        </p:txBody>
      </p:sp>
      <p:sp>
        <p:nvSpPr>
          <p:cNvPr id="3" name="Slide Number Placeholder 2"/>
          <p:cNvSpPr>
            <a:spLocks noGrp="1"/>
          </p:cNvSpPr>
          <p:nvPr>
            <p:ph type="sldNum" idx="12"/>
          </p:nvPr>
        </p:nvSpPr>
        <p:spPr/>
        <p:txBody>
          <a:bodyPr/>
          <a:p>
            <a:fld id="{23681A60-E2B3-438A-880A-2C75C18BD3A5}" type="slidenum">
              <a:rPr lang="es-PE"/>
              <a:t>21</a:t>
            </a:fld>
          </a:p>
        </p:txBody>
      </p:sp>
      <p:pic>
        <p:nvPicPr>
          <p:cNvPr id="4" name="fase_ABAB" descr="fase_ABAB.png"/>
          <p:cNvPicPr>
            <a:picLocks noChangeAspect="1"/>
          </p:cNvPicPr>
          <p:nvPr/>
        </p:nvPicPr>
        <p:blipFill>
          <a:blip r:embed="rId3"/>
          <a:stretch>
            <a:fillRect/>
          </a:stretch>
        </p:blipFill>
        <p:spPr>
          <a:xfrm>
            <a:off x="1001706" y="1371600"/>
            <a:ext cx="5860426" cy="4160520"/>
          </a:xfrm>
          <a:prstGeom prst="rect">
            <a:avLst/>
          </a:prstGeom>
        </p:spPr>
      </p:pic>
      <p:sp>
        <p:nvSpPr>
          <p:cNvPr id="5" name="Rounded Rectangle 4"/>
          <p:cNvSpPr/>
          <p:nvPr/>
        </p:nvSpPr>
        <p:spPr>
          <a:xfrm>
            <a:off x="7589520" y="1463040"/>
            <a:ext cx="4023360" cy="393192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0" y="1600200"/>
            <a:ext cx="3657600" cy="411480"/>
          </a:xfrm>
          <a:prstGeom prst="rect">
            <a:avLst/>
          </a:prstGeom>
          <a:noFill/>
        </p:spPr>
        <p:txBody>
          <a:bodyPr wrap="square" lIns="45720" rIns="45720" tIns="27432" bIns="27432" anchor="t">
            <a:spAutoFit/>
          </a:bodyPr>
          <a:lstStyle/>
          <a:p>
            <a:pPr algn="l">
              <a:spcAft>
                <a:spcPts val="600"/>
              </a:spcAft>
            </a:pPr>
            <a:r>
              <a:rPr sz="1800" b="1" i="0">
                <a:solidFill>
                  <a:srgbClr val="042254"/>
                </a:solidFill>
              </a:rPr>
              <a:t>Cómo leerlo</a:t>
            </a:r>
          </a:p>
        </p:txBody>
      </p:sp>
      <p:sp>
        <p:nvSpPr>
          <p:cNvPr id="7" name="TextBox 6"/>
          <p:cNvSpPr txBox="1"/>
          <p:nvPr/>
        </p:nvSpPr>
        <p:spPr>
          <a:xfrm>
            <a:off x="7772400" y="2103120"/>
            <a:ext cx="3657600" cy="3200400"/>
          </a:xfrm>
          <a:prstGeom prst="rect">
            <a:avLst/>
          </a:prstGeom>
          <a:noFill/>
        </p:spPr>
        <p:txBody>
          <a:bodyPr wrap="square" lIns="45720" rIns="45720" tIns="27432" bIns="27432" anchor="t">
            <a:spAutoFit/>
          </a:bodyPr>
          <a:lstStyle/>
          <a:p>
            <a:pPr algn="l" marL="256032" indent="-219456">
              <a:spcAft>
                <a:spcPts val="800"/>
              </a:spcAft>
              <a:buClr>
                <a:srgbClr val="16C78E"/>
              </a:buClr>
              <a:buChar char="•"/>
            </a:pPr>
            <a:r>
              <a:rPr sz="1600" b="0" i="0">
                <a:solidFill>
                  <a:srgbClr val="1A1A1A"/>
                </a:solidFill>
              </a:rPr>
              <a:t>Cada fase = un paso de la secuencia</a:t>
            </a:r>
          </a:p>
          <a:p>
            <a:pPr algn="l" marL="256032" indent="-219456">
              <a:spcAft>
                <a:spcPts val="800"/>
              </a:spcAft>
              <a:buClr>
                <a:srgbClr val="16C78E"/>
              </a:buClr>
              <a:buChar char="•"/>
            </a:pPr>
            <a:r>
              <a:rPr sz="1600" b="0" i="0">
                <a:solidFill>
                  <a:srgbClr val="1A1A1A"/>
                </a:solidFill>
              </a:rPr>
              <a:t>Línea inclinada = cilindro en movimiento</a:t>
            </a:r>
          </a:p>
          <a:p>
            <a:pPr algn="l" marL="256032" indent="-219456">
              <a:spcAft>
                <a:spcPts val="800"/>
              </a:spcAft>
              <a:buClr>
                <a:srgbClr val="16C78E"/>
              </a:buClr>
              <a:buChar char="•"/>
            </a:pPr>
            <a:r>
              <a:rPr sz="1600" b="0" i="0">
                <a:solidFill>
                  <a:srgbClr val="1A1A1A"/>
                </a:solidFill>
              </a:rPr>
              <a:t>Flecha arriba = señal que dispara la fase</a:t>
            </a:r>
          </a:p>
          <a:p>
            <a:pPr algn="l" marL="256032" indent="-219456">
              <a:spcAft>
                <a:spcPts val="800"/>
              </a:spcAft>
              <a:buClr>
                <a:srgbClr val="16C78E"/>
              </a:buClr>
              <a:buChar char="•"/>
            </a:pPr>
            <a:r>
              <a:rPr sz="1600" b="0" i="0">
                <a:solidFill>
                  <a:srgbClr val="1A1A1A"/>
                </a:solidFill>
              </a:rPr>
              <a:t>Barras abajo = final de carrera activo</a:t>
            </a:r>
          </a:p>
          <a:p>
            <a:pPr algn="l" marL="256032" indent="-219456">
              <a:spcAft>
                <a:spcPts val="800"/>
              </a:spcAft>
              <a:buClr>
                <a:srgbClr val="16C78E"/>
              </a:buClr>
              <a:buChar char="•"/>
            </a:pPr>
            <a:r>
              <a:rPr sz="1600" b="0" i="0">
                <a:solidFill>
                  <a:srgbClr val="1A1A1A"/>
                </a:solidFill>
              </a:rPr>
              <a:t>Regla: el final de un movimiento dispara el siguiente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Del diagrama al circuito: A+ B+ A− B−</a:t>
            </a:r>
          </a:p>
        </p:txBody>
      </p:sp>
      <p:sp>
        <p:nvSpPr>
          <p:cNvPr id="3" name="Slide Number Placeholder 2"/>
          <p:cNvSpPr>
            <a:spLocks noGrp="1"/>
          </p:cNvSpPr>
          <p:nvPr>
            <p:ph type="sldNum" idx="12"/>
          </p:nvPr>
        </p:nvSpPr>
        <p:spPr/>
        <p:txBody>
          <a:bodyPr/>
          <a:p>
            <a:fld id="{36EC3B04-2694-46CC-A92F-ADD9283F957C}" type="slidenum">
              <a:rPr lang="es-PE"/>
              <a:t>22</a:t>
            </a:fld>
          </a:p>
        </p:txBody>
      </p:sp>
      <p:pic>
        <p:nvPicPr>
          <p:cNvPr id="4" name="t_secuencia_ABAB" descr="t_secuencia_ABAB.png"/>
          <p:cNvPicPr>
            <a:picLocks noChangeAspect="1"/>
          </p:cNvPicPr>
          <p:nvPr/>
        </p:nvPicPr>
        <p:blipFill>
          <a:blip r:embed="rId3"/>
          <a:stretch>
            <a:fillRect/>
          </a:stretch>
        </p:blipFill>
        <p:spPr>
          <a:xfrm>
            <a:off x="946381" y="1371600"/>
            <a:ext cx="6519716" cy="4160520"/>
          </a:xfrm>
          <a:prstGeom prst="rect">
            <a:avLst/>
          </a:prstGeom>
        </p:spPr>
      </p:pic>
      <p:graphicFrame>
        <p:nvGraphicFramePr>
          <p:cNvPr id="5" name="Table 4"/>
          <p:cNvGraphicFramePr>
            <a:graphicFrameLocks noGrp="1"/>
          </p:cNvGraphicFramePr>
          <p:nvPr/>
        </p:nvGraphicFramePr>
        <p:xfrm>
          <a:off x="8138160" y="1554480"/>
          <a:ext cx="3474720" cy="2286000"/>
        </p:xfrm>
        <a:graphic>
          <a:graphicData uri="http://schemas.openxmlformats.org/drawingml/2006/table">
            <a:tbl>
              <a:tblPr firstRow="1" bandRow="1">
                <a:tableStyleId>{5C22544A-7EE6-4342-B048-85BDC9FD1C3A}</a:tableStyleId>
              </a:tblPr>
              <a:tblGrid>
                <a:gridCol w="822960"/>
                <a:gridCol w="1005840"/>
                <a:gridCol w="1645920"/>
              </a:tblGrid>
              <a:tr h="457200">
                <a:tc>
                  <a:txBody>
                    <a:bodyPr/>
                    <a:lstStyle/>
                    <a:p>
                      <a:r>
                        <a:rPr sz="1500" b="1">
                          <a:solidFill>
                            <a:srgbClr val="FFFFFF"/>
                          </a:solidFill>
                        </a:rPr>
                        <a:t>Fase</a:t>
                      </a:r>
                    </a:p>
                  </a:txBody>
                  <a:tcPr marL="73152" marR="73152" marT="27432" marB="27432" anchor="ctr">
                    <a:solidFill>
                      <a:srgbClr val="042254"/>
                    </a:solidFill>
                  </a:tcPr>
                </a:tc>
                <a:tc>
                  <a:txBody>
                    <a:bodyPr/>
                    <a:lstStyle/>
                    <a:p>
                      <a:r>
                        <a:rPr sz="1500" b="1">
                          <a:solidFill>
                            <a:srgbClr val="FFFFFF"/>
                          </a:solidFill>
                        </a:rPr>
                        <a:t>Orden</a:t>
                      </a:r>
                    </a:p>
                  </a:txBody>
                  <a:tcPr marL="73152" marR="73152" marT="27432" marB="27432" anchor="ctr">
                    <a:solidFill>
                      <a:srgbClr val="042254"/>
                    </a:solidFill>
                  </a:tcPr>
                </a:tc>
                <a:tc>
                  <a:txBody>
                    <a:bodyPr/>
                    <a:lstStyle/>
                    <a:p>
                      <a:r>
                        <a:rPr sz="1500" b="1">
                          <a:solidFill>
                            <a:srgbClr val="FFFFFF"/>
                          </a:solidFill>
                        </a:rPr>
                        <a:t>Señal</a:t>
                      </a:r>
                    </a:p>
                  </a:txBody>
                  <a:tcPr marL="73152" marR="73152" marT="27432" marB="27432" anchor="ctr">
                    <a:solidFill>
                      <a:srgbClr val="042254"/>
                    </a:solidFill>
                  </a:tcPr>
                </a:tc>
              </a:tr>
              <a:tr h="457200">
                <a:tc>
                  <a:txBody>
                    <a:bodyPr/>
                    <a:lstStyle/>
                    <a:p>
                      <a:r>
                        <a:rPr sz="1500">
                          <a:solidFill>
                            <a:srgbClr val="1A1A1A"/>
                          </a:solidFill>
                        </a:rPr>
                        <a:t>1</a:t>
                      </a:r>
                    </a:p>
                  </a:txBody>
                  <a:tcPr marL="73152" marR="73152" marT="27432" marB="27432" anchor="ctr">
                    <a:solidFill>
                      <a:srgbClr val="FFFFFF"/>
                    </a:solidFill>
                  </a:tcPr>
                </a:tc>
                <a:tc>
                  <a:txBody>
                    <a:bodyPr/>
                    <a:lstStyle/>
                    <a:p>
                      <a:r>
                        <a:rPr sz="1500">
                          <a:solidFill>
                            <a:srgbClr val="1A1A1A"/>
                          </a:solidFill>
                        </a:rPr>
                        <a:t>A+</a:t>
                      </a:r>
                    </a:p>
                  </a:txBody>
                  <a:tcPr marL="73152" marR="73152" marT="27432" marB="27432" anchor="ctr">
                    <a:solidFill>
                      <a:srgbClr val="FFFFFF"/>
                    </a:solidFill>
                  </a:tcPr>
                </a:tc>
                <a:tc>
                  <a:txBody>
                    <a:bodyPr/>
                    <a:lstStyle/>
                    <a:p>
                      <a:r>
                        <a:rPr sz="1500">
                          <a:solidFill>
                            <a:srgbClr val="1A1A1A"/>
                          </a:solidFill>
                        </a:rPr>
                        <a:t>S · b0</a:t>
                      </a:r>
                    </a:p>
                  </a:txBody>
                  <a:tcPr marL="73152" marR="73152" marT="27432" marB="27432" anchor="ctr">
                    <a:solidFill>
                      <a:srgbClr val="FFFFFF"/>
                    </a:solidFill>
                  </a:tcPr>
                </a:tc>
              </a:tr>
              <a:tr h="457200">
                <a:tc>
                  <a:txBody>
                    <a:bodyPr/>
                    <a:lstStyle/>
                    <a:p>
                      <a:r>
                        <a:rPr sz="1500">
                          <a:solidFill>
                            <a:srgbClr val="1A1A1A"/>
                          </a:solidFill>
                        </a:rPr>
                        <a:t>2</a:t>
                      </a:r>
                    </a:p>
                  </a:txBody>
                  <a:tcPr marL="73152" marR="73152" marT="27432" marB="27432" anchor="ctr">
                    <a:solidFill>
                      <a:srgbClr val="ECF0F6"/>
                    </a:solidFill>
                  </a:tcPr>
                </a:tc>
                <a:tc>
                  <a:txBody>
                    <a:bodyPr/>
                    <a:lstStyle/>
                    <a:p>
                      <a:r>
                        <a:rPr sz="1500">
                          <a:solidFill>
                            <a:srgbClr val="1A1A1A"/>
                          </a:solidFill>
                        </a:rPr>
                        <a:t>B+</a:t>
                      </a:r>
                    </a:p>
                  </a:txBody>
                  <a:tcPr marL="73152" marR="73152" marT="27432" marB="27432" anchor="ctr">
                    <a:solidFill>
                      <a:srgbClr val="ECF0F6"/>
                    </a:solidFill>
                  </a:tcPr>
                </a:tc>
                <a:tc>
                  <a:txBody>
                    <a:bodyPr/>
                    <a:lstStyle/>
                    <a:p>
                      <a:r>
                        <a:rPr sz="1500">
                          <a:solidFill>
                            <a:srgbClr val="1A1A1A"/>
                          </a:solidFill>
                        </a:rPr>
                        <a:t>a1</a:t>
                      </a:r>
                    </a:p>
                  </a:txBody>
                  <a:tcPr marL="73152" marR="73152" marT="27432" marB="27432" anchor="ctr">
                    <a:solidFill>
                      <a:srgbClr val="ECF0F6"/>
                    </a:solidFill>
                  </a:tcPr>
                </a:tc>
              </a:tr>
              <a:tr h="457200">
                <a:tc>
                  <a:txBody>
                    <a:bodyPr/>
                    <a:lstStyle/>
                    <a:p>
                      <a:r>
                        <a:rPr sz="1500">
                          <a:solidFill>
                            <a:srgbClr val="1A1A1A"/>
                          </a:solidFill>
                        </a:rPr>
                        <a:t>3</a:t>
                      </a:r>
                    </a:p>
                  </a:txBody>
                  <a:tcPr marL="73152" marR="73152" marT="27432" marB="27432" anchor="ctr">
                    <a:solidFill>
                      <a:srgbClr val="FFFFFF"/>
                    </a:solidFill>
                  </a:tcPr>
                </a:tc>
                <a:tc>
                  <a:txBody>
                    <a:bodyPr/>
                    <a:lstStyle/>
                    <a:p>
                      <a:r>
                        <a:rPr sz="1500">
                          <a:solidFill>
                            <a:srgbClr val="1A1A1A"/>
                          </a:solidFill>
                        </a:rPr>
                        <a:t>A−</a:t>
                      </a:r>
                    </a:p>
                  </a:txBody>
                  <a:tcPr marL="73152" marR="73152" marT="27432" marB="27432" anchor="ctr">
                    <a:solidFill>
                      <a:srgbClr val="FFFFFF"/>
                    </a:solidFill>
                  </a:tcPr>
                </a:tc>
                <a:tc>
                  <a:txBody>
                    <a:bodyPr/>
                    <a:lstStyle/>
                    <a:p>
                      <a:r>
                        <a:rPr sz="1500">
                          <a:solidFill>
                            <a:srgbClr val="1A1A1A"/>
                          </a:solidFill>
                        </a:rPr>
                        <a:t>b1</a:t>
                      </a:r>
                    </a:p>
                  </a:txBody>
                  <a:tcPr marL="73152" marR="73152" marT="27432" marB="27432" anchor="ctr">
                    <a:solidFill>
                      <a:srgbClr val="FFFFFF"/>
                    </a:solidFill>
                  </a:tcPr>
                </a:tc>
              </a:tr>
              <a:tr h="457200">
                <a:tc>
                  <a:txBody>
                    <a:bodyPr/>
                    <a:lstStyle/>
                    <a:p>
                      <a:r>
                        <a:rPr sz="1500">
                          <a:solidFill>
                            <a:srgbClr val="1A1A1A"/>
                          </a:solidFill>
                        </a:rPr>
                        <a:t>4</a:t>
                      </a:r>
                    </a:p>
                  </a:txBody>
                  <a:tcPr marL="73152" marR="73152" marT="27432" marB="27432" anchor="ctr">
                    <a:solidFill>
                      <a:srgbClr val="ECF0F6"/>
                    </a:solidFill>
                  </a:tcPr>
                </a:tc>
                <a:tc>
                  <a:txBody>
                    <a:bodyPr/>
                    <a:lstStyle/>
                    <a:p>
                      <a:r>
                        <a:rPr sz="1500">
                          <a:solidFill>
                            <a:srgbClr val="1A1A1A"/>
                          </a:solidFill>
                        </a:rPr>
                        <a:t>B−</a:t>
                      </a:r>
                    </a:p>
                  </a:txBody>
                  <a:tcPr marL="73152" marR="73152" marT="27432" marB="27432" anchor="ctr">
                    <a:solidFill>
                      <a:srgbClr val="ECF0F6"/>
                    </a:solidFill>
                  </a:tcPr>
                </a:tc>
                <a:tc>
                  <a:txBody>
                    <a:bodyPr/>
                    <a:lstStyle/>
                    <a:p>
                      <a:r>
                        <a:rPr sz="1500">
                          <a:solidFill>
                            <a:srgbClr val="1A1A1A"/>
                          </a:solidFill>
                        </a:rPr>
                        <a:t>a0</a:t>
                      </a:r>
                    </a:p>
                  </a:txBody>
                  <a:tcPr marL="73152" marR="73152" marT="27432" marB="27432" anchor="ctr">
                    <a:solidFill>
                      <a:srgbClr val="ECF0F6"/>
                    </a:solidFill>
                  </a:tcPr>
                </a:tc>
              </a:tr>
            </a:tbl>
          </a:graphicData>
        </a:graphic>
      </p:graphicFrame>
      <p:sp>
        <p:nvSpPr>
          <p:cNvPr id="6" name="TextBox 5"/>
          <p:cNvSpPr txBox="1"/>
          <p:nvPr/>
        </p:nvSpPr>
        <p:spPr>
          <a:xfrm>
            <a:off x="8138160" y="4023360"/>
            <a:ext cx="3474720" cy="1371600"/>
          </a:xfrm>
          <a:prstGeom prst="rect">
            <a:avLst/>
          </a:prstGeom>
          <a:noFill/>
        </p:spPr>
        <p:txBody>
          <a:bodyPr wrap="square" lIns="45720" rIns="45720" tIns="27432" bIns="27432" anchor="t">
            <a:spAutoFit/>
          </a:bodyPr>
          <a:lstStyle/>
          <a:p>
            <a:pPr algn="l">
              <a:spcAft>
                <a:spcPts val="600"/>
              </a:spcAft>
            </a:pPr>
            <a:r>
              <a:rPr sz="1400" b="0" i="0">
                <a:solidFill>
                  <a:srgbClr val="555F6D"/>
                </a:solidFill>
              </a:rPr>
              <a:t>S en serie con b0 = arranque solo si el ciclo anterior terminó.</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El problema: señales bloqueadas</a:t>
            </a:r>
          </a:p>
        </p:txBody>
      </p:sp>
      <p:sp>
        <p:nvSpPr>
          <p:cNvPr id="3" name="Slide Number Placeholder 2"/>
          <p:cNvSpPr>
            <a:spLocks noGrp="1"/>
          </p:cNvSpPr>
          <p:nvPr>
            <p:ph type="sldNum" idx="12"/>
          </p:nvPr>
        </p:nvSpPr>
        <p:spPr/>
        <p:txBody>
          <a:bodyPr/>
          <a:p>
            <a:fld id="{003D7675-D96C-483E-85C6-C62CA96CFA1F}" type="slidenum">
              <a:rPr lang="es-PE"/>
              <a:t>23</a:t>
            </a:fld>
          </a:p>
        </p:txBody>
      </p:sp>
      <p:pic>
        <p:nvPicPr>
          <p:cNvPr id="4" name="fase_ABBA_bloqueo" descr="fase_ABBA_bloqueo.png"/>
          <p:cNvPicPr>
            <a:picLocks noChangeAspect="1"/>
          </p:cNvPicPr>
          <p:nvPr/>
        </p:nvPicPr>
        <p:blipFill>
          <a:blip r:embed="rId3"/>
          <a:stretch>
            <a:fillRect/>
          </a:stretch>
        </p:blipFill>
        <p:spPr>
          <a:xfrm>
            <a:off x="651241" y="1371600"/>
            <a:ext cx="6927117" cy="4160520"/>
          </a:xfrm>
          <a:prstGeom prst="rect">
            <a:avLst/>
          </a:prstGeom>
        </p:spPr>
      </p:pic>
      <p:sp>
        <p:nvSpPr>
          <p:cNvPr id="5" name="Rounded Rectangle 4"/>
          <p:cNvSpPr/>
          <p:nvPr/>
        </p:nvSpPr>
        <p:spPr>
          <a:xfrm>
            <a:off x="7955279" y="1463040"/>
            <a:ext cx="3657600" cy="393192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138159" y="1600200"/>
            <a:ext cx="3291840" cy="411480"/>
          </a:xfrm>
          <a:prstGeom prst="rect">
            <a:avLst/>
          </a:prstGeom>
          <a:noFill/>
        </p:spPr>
        <p:txBody>
          <a:bodyPr wrap="square" lIns="45720" rIns="45720" tIns="27432" bIns="27432" anchor="t">
            <a:spAutoFit/>
          </a:bodyPr>
          <a:lstStyle/>
          <a:p>
            <a:pPr algn="l">
              <a:spcAft>
                <a:spcPts val="600"/>
              </a:spcAft>
            </a:pPr>
            <a:r>
              <a:rPr sz="1800" b="1" i="0">
                <a:solidFill>
                  <a:srgbClr val="C0392B"/>
                </a:solidFill>
              </a:rPr>
              <a:t>A+ B+ B− A−</a:t>
            </a:r>
          </a:p>
        </p:txBody>
      </p:sp>
      <p:sp>
        <p:nvSpPr>
          <p:cNvPr id="7" name="TextBox 6"/>
          <p:cNvSpPr txBox="1"/>
          <p:nvPr/>
        </p:nvSpPr>
        <p:spPr>
          <a:xfrm>
            <a:off x="8138159" y="2103120"/>
            <a:ext cx="3291840" cy="3200400"/>
          </a:xfrm>
          <a:prstGeom prst="rect">
            <a:avLst/>
          </a:prstGeom>
          <a:noFill/>
        </p:spPr>
        <p:txBody>
          <a:bodyPr wrap="square" lIns="45720" rIns="45720" tIns="27432" bIns="27432" anchor="t">
            <a:spAutoFit/>
          </a:bodyPr>
          <a:lstStyle/>
          <a:p>
            <a:pPr algn="l" marL="256032" indent="-219456">
              <a:spcAft>
                <a:spcPts val="800"/>
              </a:spcAft>
              <a:buClr>
                <a:srgbClr val="16C78E"/>
              </a:buClr>
              <a:buChar char="•"/>
            </a:pPr>
            <a:r>
              <a:rPr sz="1500" b="0" i="0">
                <a:solidFill>
                  <a:srgbClr val="1A1A1A"/>
                </a:solidFill>
              </a:rPr>
              <a:t>Fase 3: b1 pide B−, pero a1 sigue pidiendo B+</a:t>
            </a:r>
          </a:p>
          <a:p>
            <a:pPr algn="l" marL="256032" indent="-219456">
              <a:spcAft>
                <a:spcPts val="800"/>
              </a:spcAft>
              <a:buClr>
                <a:srgbClr val="16C78E"/>
              </a:buClr>
              <a:buChar char="•"/>
            </a:pPr>
            <a:r>
              <a:rPr sz="1500" b="0" i="0">
                <a:solidFill>
                  <a:srgbClr val="1A1A1A"/>
                </a:solidFill>
              </a:rPr>
              <a:t>Fase 1: S pide A+, pero b0 sigue pidiendo A−</a:t>
            </a:r>
          </a:p>
          <a:p>
            <a:pPr algn="l" marL="256032" indent="-219456">
              <a:spcAft>
                <a:spcPts val="800"/>
              </a:spcAft>
              <a:buClr>
                <a:srgbClr val="16C78E"/>
              </a:buClr>
              <a:buChar char="•"/>
            </a:pPr>
            <a:r>
              <a:rPr sz="1500" b="0" i="0">
                <a:solidFill>
                  <a:srgbClr val="1A1A1A"/>
                </a:solidFill>
              </a:rPr>
              <a:t>La válvula biestable recibe 12 y 14 a la vez → no conmuta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¿Cómo se eliminan las señales bloqueadas?</a:t>
            </a:r>
          </a:p>
        </p:txBody>
      </p:sp>
      <p:sp>
        <p:nvSpPr>
          <p:cNvPr id="3" name="Slide Number Placeholder 2"/>
          <p:cNvSpPr>
            <a:spLocks noGrp="1"/>
          </p:cNvSpPr>
          <p:nvPr>
            <p:ph type="sldNum" idx="12"/>
          </p:nvPr>
        </p:nvSpPr>
        <p:spPr/>
        <p:txBody>
          <a:bodyPr/>
          <a:p>
            <a:fld id="{298893F5-9B65-44F4-9831-581F90BC9B99}" type="slidenum">
              <a:rPr lang="es-PE"/>
              <a:t>24</a:t>
            </a:fld>
          </a:p>
        </p:txBody>
      </p:sp>
      <p:graphicFrame>
        <p:nvGraphicFramePr>
          <p:cNvPr id="4" name="Table 3"/>
          <p:cNvGraphicFramePr>
            <a:graphicFrameLocks noGrp="1"/>
          </p:cNvGraphicFramePr>
          <p:nvPr/>
        </p:nvGraphicFramePr>
        <p:xfrm>
          <a:off x="548640" y="1463040"/>
          <a:ext cx="11064240" cy="2743200"/>
        </p:xfrm>
        <a:graphic>
          <a:graphicData uri="http://schemas.openxmlformats.org/drawingml/2006/table">
            <a:tbl>
              <a:tblPr firstRow="1" bandRow="1">
                <a:tableStyleId>{5C22544A-7EE6-4342-B048-85BDC9FD1C3A}</a:tableStyleId>
              </a:tblPr>
              <a:tblGrid>
                <a:gridCol w="2377440"/>
                <a:gridCol w="3657600"/>
                <a:gridCol w="2194560"/>
                <a:gridCol w="2834640"/>
              </a:tblGrid>
              <a:tr h="685800">
                <a:tc>
                  <a:txBody>
                    <a:bodyPr/>
                    <a:lstStyle/>
                    <a:p>
                      <a:r>
                        <a:rPr sz="1400" b="1">
                          <a:solidFill>
                            <a:srgbClr val="FFFFFF"/>
                          </a:solidFill>
                        </a:rPr>
                        <a:t>Solución</a:t>
                      </a:r>
                    </a:p>
                  </a:txBody>
                  <a:tcPr marL="73152" marR="73152" marT="27432" marB="27432" anchor="ctr">
                    <a:solidFill>
                      <a:srgbClr val="042254"/>
                    </a:solidFill>
                  </a:tcPr>
                </a:tc>
                <a:tc>
                  <a:txBody>
                    <a:bodyPr/>
                    <a:lstStyle/>
                    <a:p>
                      <a:r>
                        <a:rPr sz="1400" b="1">
                          <a:solidFill>
                            <a:srgbClr val="FFFFFF"/>
                          </a:solidFill>
                        </a:rPr>
                        <a:t>Idea</a:t>
                      </a:r>
                    </a:p>
                  </a:txBody>
                  <a:tcPr marL="73152" marR="73152" marT="27432" marB="27432" anchor="ctr">
                    <a:solidFill>
                      <a:srgbClr val="042254"/>
                    </a:solidFill>
                  </a:tcPr>
                </a:tc>
                <a:tc>
                  <a:txBody>
                    <a:bodyPr/>
                    <a:lstStyle/>
                    <a:p>
                      <a:r>
                        <a:rPr sz="1400" b="1">
                          <a:solidFill>
                            <a:srgbClr val="FFFFFF"/>
                          </a:solidFill>
                        </a:rPr>
                        <a:t>A favor</a:t>
                      </a:r>
                    </a:p>
                  </a:txBody>
                  <a:tcPr marL="73152" marR="73152" marT="27432" marB="27432" anchor="ctr">
                    <a:solidFill>
                      <a:srgbClr val="042254"/>
                    </a:solidFill>
                  </a:tcPr>
                </a:tc>
                <a:tc>
                  <a:txBody>
                    <a:bodyPr/>
                    <a:lstStyle/>
                    <a:p>
                      <a:r>
                        <a:rPr sz="1400" b="1">
                          <a:solidFill>
                            <a:srgbClr val="FFFFFF"/>
                          </a:solidFill>
                        </a:rPr>
                        <a:t>En contra</a:t>
                      </a:r>
                    </a:p>
                  </a:txBody>
                  <a:tcPr marL="73152" marR="73152" marT="27432" marB="27432" anchor="ctr">
                    <a:solidFill>
                      <a:srgbClr val="042254"/>
                    </a:solidFill>
                  </a:tcPr>
                </a:tc>
              </a:tr>
              <a:tr h="685800">
                <a:tc>
                  <a:txBody>
                    <a:bodyPr/>
                    <a:lstStyle/>
                    <a:p>
                      <a:r>
                        <a:rPr sz="1400">
                          <a:solidFill>
                            <a:srgbClr val="1A1A1A"/>
                          </a:solidFill>
                        </a:rPr>
                        <a:t>Rodillo escamoteable</a:t>
                      </a:r>
                    </a:p>
                  </a:txBody>
                  <a:tcPr marL="73152" marR="73152" marT="27432" marB="27432" anchor="ctr">
                    <a:solidFill>
                      <a:srgbClr val="FFFFFF"/>
                    </a:solidFill>
                  </a:tcPr>
                </a:tc>
                <a:tc>
                  <a:txBody>
                    <a:bodyPr/>
                    <a:lstStyle/>
                    <a:p>
                      <a:r>
                        <a:rPr sz="1400">
                          <a:solidFill>
                            <a:srgbClr val="1A1A1A"/>
                          </a:solidFill>
                        </a:rPr>
                        <a:t>El final de carrera da solo un pulso, en un sentido</a:t>
                      </a:r>
                    </a:p>
                  </a:txBody>
                  <a:tcPr marL="73152" marR="73152" marT="27432" marB="27432" anchor="ctr">
                    <a:solidFill>
                      <a:srgbClr val="FFFFFF"/>
                    </a:solidFill>
                  </a:tcPr>
                </a:tc>
                <a:tc>
                  <a:txBody>
                    <a:bodyPr/>
                    <a:lstStyle/>
                    <a:p>
                      <a:r>
                        <a:rPr sz="1400">
                          <a:solidFill>
                            <a:srgbClr val="1A1A1A"/>
                          </a:solidFill>
                        </a:rPr>
                        <a:t>Pocos componentes</a:t>
                      </a:r>
                    </a:p>
                  </a:txBody>
                  <a:tcPr marL="73152" marR="73152" marT="27432" marB="27432" anchor="ctr">
                    <a:solidFill>
                      <a:srgbClr val="FFFFFF"/>
                    </a:solidFill>
                  </a:tcPr>
                </a:tc>
                <a:tc>
                  <a:txBody>
                    <a:bodyPr/>
                    <a:lstStyle/>
                    <a:p>
                      <a:r>
                        <a:rPr sz="1400">
                          <a:solidFill>
                            <a:srgbClr val="1A1A1A"/>
                          </a:solidFill>
                        </a:rPr>
                        <a:t>No confirma la posición; poco robusto</a:t>
                      </a:r>
                    </a:p>
                  </a:txBody>
                  <a:tcPr marL="73152" marR="73152" marT="27432" marB="27432" anchor="ctr">
                    <a:solidFill>
                      <a:srgbClr val="FFFFFF"/>
                    </a:solidFill>
                  </a:tcPr>
                </a:tc>
              </a:tr>
              <a:tr h="685800">
                <a:tc>
                  <a:txBody>
                    <a:bodyPr/>
                    <a:lstStyle/>
                    <a:p>
                      <a:r>
                        <a:rPr sz="1400">
                          <a:solidFill>
                            <a:srgbClr val="1A1A1A"/>
                          </a:solidFill>
                        </a:rPr>
                        <a:t>Método cascada</a:t>
                      </a:r>
                    </a:p>
                  </a:txBody>
                  <a:tcPr marL="73152" marR="73152" marT="27432" marB="27432" anchor="ctr">
                    <a:solidFill>
                      <a:srgbClr val="ECF0F6"/>
                    </a:solidFill>
                  </a:tcPr>
                </a:tc>
                <a:tc>
                  <a:txBody>
                    <a:bodyPr/>
                    <a:lstStyle/>
                    <a:p>
                      <a:r>
                        <a:rPr sz="1400">
                          <a:solidFill>
                            <a:srgbClr val="1A1A1A"/>
                          </a:solidFill>
                        </a:rPr>
                        <a:t>Dividir la secuencia en grupos; solo un grupo tiene aire</a:t>
                      </a:r>
                    </a:p>
                  </a:txBody>
                  <a:tcPr marL="73152" marR="73152" marT="27432" marB="27432" anchor="ctr">
                    <a:solidFill>
                      <a:srgbClr val="ECF0F6"/>
                    </a:solidFill>
                  </a:tcPr>
                </a:tc>
                <a:tc>
                  <a:txBody>
                    <a:bodyPr/>
                    <a:lstStyle/>
                    <a:p>
                      <a:r>
                        <a:rPr sz="1400">
                          <a:solidFill>
                            <a:srgbClr val="1A1A1A"/>
                          </a:solidFill>
                        </a:rPr>
                        <a:t>Sistemático, seguro</a:t>
                      </a:r>
                    </a:p>
                  </a:txBody>
                  <a:tcPr marL="73152" marR="73152" marT="27432" marB="27432" anchor="ctr">
                    <a:solidFill>
                      <a:srgbClr val="ECF0F6"/>
                    </a:solidFill>
                  </a:tcPr>
                </a:tc>
                <a:tc>
                  <a:txBody>
                    <a:bodyPr/>
                    <a:lstStyle/>
                    <a:p>
                      <a:r>
                        <a:rPr sz="1400">
                          <a:solidFill>
                            <a:srgbClr val="1A1A1A"/>
                          </a:solidFill>
                        </a:rPr>
                        <a:t>Más válvulas; cambios de grupo</a:t>
                      </a:r>
                    </a:p>
                  </a:txBody>
                  <a:tcPr marL="73152" marR="73152" marT="27432" marB="27432" anchor="ctr">
                    <a:solidFill>
                      <a:srgbClr val="ECF0F6"/>
                    </a:solidFill>
                  </a:tcPr>
                </a:tc>
              </a:tr>
              <a:tr h="685800">
                <a:tc>
                  <a:txBody>
                    <a:bodyPr/>
                    <a:lstStyle/>
                    <a:p>
                      <a:r>
                        <a:rPr sz="1400">
                          <a:solidFill>
                            <a:srgbClr val="1A1A1A"/>
                          </a:solidFill>
                        </a:rPr>
                        <a:t>Temporizadores / PLC</a:t>
                      </a:r>
                    </a:p>
                  </a:txBody>
                  <a:tcPr marL="73152" marR="73152" marT="27432" marB="27432" anchor="ctr">
                    <a:solidFill>
                      <a:srgbClr val="FFFFFF"/>
                    </a:solidFill>
                  </a:tcPr>
                </a:tc>
                <a:tc>
                  <a:txBody>
                    <a:bodyPr/>
                    <a:lstStyle/>
                    <a:p>
                      <a:r>
                        <a:rPr sz="1400">
                          <a:solidFill>
                            <a:srgbClr val="1A1A1A"/>
                          </a:solidFill>
                        </a:rPr>
                        <a:t>La lógica corta la señal (electrónica)</a:t>
                      </a:r>
                    </a:p>
                  </a:txBody>
                  <a:tcPr marL="73152" marR="73152" marT="27432" marB="27432" anchor="ctr">
                    <a:solidFill>
                      <a:srgbClr val="FFFFFF"/>
                    </a:solidFill>
                  </a:tcPr>
                </a:tc>
                <a:tc>
                  <a:txBody>
                    <a:bodyPr/>
                    <a:lstStyle/>
                    <a:p>
                      <a:r>
                        <a:rPr sz="1400">
                          <a:solidFill>
                            <a:srgbClr val="1A1A1A"/>
                          </a:solidFill>
                        </a:rPr>
                        <a:t>Flexible</a:t>
                      </a:r>
                    </a:p>
                  </a:txBody>
                  <a:tcPr marL="73152" marR="73152" marT="27432" marB="27432" anchor="ctr">
                    <a:solidFill>
                      <a:srgbClr val="FFFFFF"/>
                    </a:solidFill>
                  </a:tcPr>
                </a:tc>
                <a:tc>
                  <a:txBody>
                    <a:bodyPr/>
                    <a:lstStyle/>
                    <a:p>
                      <a:r>
                        <a:rPr sz="1400">
                          <a:solidFill>
                            <a:srgbClr val="1A1A1A"/>
                          </a:solidFill>
                        </a:rPr>
                        <a:t>Fuera del alcance de esta semana</a:t>
                      </a:r>
                    </a:p>
                  </a:txBody>
                  <a:tcPr marL="73152" marR="73152" marT="27432" marB="27432" anchor="ctr">
                    <a:solidFill>
                      <a:srgbClr val="FFFFFF"/>
                    </a:solidFill>
                  </a:tcPr>
                </a:tc>
              </a:tr>
            </a:tbl>
          </a:graphicData>
        </a:graphic>
      </p:graphicFrame>
      <p:sp>
        <p:nvSpPr>
          <p:cNvPr id="5" name="Rounded Rectangle 4"/>
          <p:cNvSpPr/>
          <p:nvPr/>
        </p:nvSpPr>
        <p:spPr>
          <a:xfrm>
            <a:off x="548640" y="4526280"/>
            <a:ext cx="11064240" cy="86868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617720"/>
            <a:ext cx="10698480" cy="731520"/>
          </a:xfrm>
          <a:prstGeom prst="rect">
            <a:avLst/>
          </a:prstGeom>
          <a:noFill/>
        </p:spPr>
        <p:txBody>
          <a:bodyPr wrap="square" lIns="45720" rIns="45720" tIns="27432" bIns="27432" anchor="ctr">
            <a:spAutoFit/>
          </a:bodyPr>
          <a:lstStyle/>
          <a:p>
            <a:pPr algn="l">
              <a:spcAft>
                <a:spcPts val="600"/>
              </a:spcAft>
            </a:pPr>
            <a:r>
              <a:rPr sz="1600" b="0" i="0">
                <a:solidFill>
                  <a:srgbClr val="1A1A1A"/>
                </a:solidFill>
              </a:rPr>
              <a:t>En la práctica usaremos el </a:t>
            </a:r>
            <a:r>
              <a:rPr sz="1600" b="1" i="0">
                <a:solidFill>
                  <a:srgbClr val="0B7A53"/>
                </a:solidFill>
              </a:rPr>
              <a:t>método cascada</a:t>
            </a:r>
            <a:r>
              <a:rPr sz="1600" b="0" i="0">
                <a:solidFill>
                  <a:srgbClr val="1A1A1A"/>
                </a:solidFill>
              </a:rPr>
              <a:t>: siempre funciona y se dibuja paso a paso.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Método cascada: receta</a:t>
            </a:r>
          </a:p>
        </p:txBody>
      </p:sp>
      <p:sp>
        <p:nvSpPr>
          <p:cNvPr id="3" name="Slide Number Placeholder 2"/>
          <p:cNvSpPr>
            <a:spLocks noGrp="1"/>
          </p:cNvSpPr>
          <p:nvPr>
            <p:ph type="sldNum" idx="12"/>
          </p:nvPr>
        </p:nvSpPr>
        <p:spPr/>
        <p:txBody>
          <a:bodyPr/>
          <a:p>
            <a:fld id="{B76CB56D-553B-44F7-8C43-7EF21C7D69D8}" type="slidenum">
              <a:rPr lang="es-PE"/>
              <a:t>25</a:t>
            </a:fld>
          </a:p>
        </p:txBody>
      </p:sp>
      <p:sp>
        <p:nvSpPr>
          <p:cNvPr id="4" name="Oval 3"/>
          <p:cNvSpPr/>
          <p:nvPr/>
        </p:nvSpPr>
        <p:spPr>
          <a:xfrm>
            <a:off x="594360" y="1453896"/>
            <a:ext cx="402336" cy="402336"/>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1</a:t>
            </a:r>
          </a:p>
        </p:txBody>
      </p:sp>
      <p:sp>
        <p:nvSpPr>
          <p:cNvPr id="5" name="TextBox 4"/>
          <p:cNvSpPr txBox="1"/>
          <p:nvPr/>
        </p:nvSpPr>
        <p:spPr>
          <a:xfrm>
            <a:off x="1143000" y="1417320"/>
            <a:ext cx="6172200" cy="548640"/>
          </a:xfrm>
          <a:prstGeom prst="rect">
            <a:avLst/>
          </a:prstGeom>
          <a:noFill/>
        </p:spPr>
        <p:txBody>
          <a:bodyPr wrap="square" lIns="45720" rIns="45720" tIns="27432" bIns="27432" anchor="ctr">
            <a:spAutoFit/>
          </a:bodyPr>
          <a:lstStyle/>
          <a:p>
            <a:pPr algn="l">
              <a:spcAft>
                <a:spcPts val="600"/>
              </a:spcAft>
            </a:pPr>
            <a:r>
              <a:rPr sz="1500" b="0" i="0">
                <a:solidFill>
                  <a:srgbClr val="1A1A1A"/>
                </a:solidFill>
              </a:rPr>
              <a:t>Escribe la secuencia y córtala en grupos donde ninguna letra se repita</a:t>
            </a:r>
          </a:p>
        </p:txBody>
      </p:sp>
      <p:sp>
        <p:nvSpPr>
          <p:cNvPr id="6" name="Oval 5"/>
          <p:cNvSpPr/>
          <p:nvPr/>
        </p:nvSpPr>
        <p:spPr>
          <a:xfrm>
            <a:off x="594360" y="2020824"/>
            <a:ext cx="402336" cy="402336"/>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2</a:t>
            </a:r>
          </a:p>
        </p:txBody>
      </p:sp>
      <p:sp>
        <p:nvSpPr>
          <p:cNvPr id="7" name="TextBox 6"/>
          <p:cNvSpPr txBox="1"/>
          <p:nvPr/>
        </p:nvSpPr>
        <p:spPr>
          <a:xfrm>
            <a:off x="1143000" y="1984248"/>
            <a:ext cx="6172200" cy="548640"/>
          </a:xfrm>
          <a:prstGeom prst="rect">
            <a:avLst/>
          </a:prstGeom>
          <a:noFill/>
        </p:spPr>
        <p:txBody>
          <a:bodyPr wrap="square" lIns="45720" rIns="45720" tIns="27432" bIns="27432" anchor="ctr">
            <a:spAutoFit/>
          </a:bodyPr>
          <a:lstStyle/>
          <a:p>
            <a:pPr algn="l">
              <a:spcAft>
                <a:spcPts val="600"/>
              </a:spcAft>
            </a:pPr>
            <a:r>
              <a:rPr sz="1500" b="0" i="0">
                <a:solidFill>
                  <a:srgbClr val="1A1A1A"/>
                </a:solidFill>
              </a:rPr>
              <a:t>N.º de válvulas selectoras = n.º de grupos − 1 (2 grupos → 1 VG 5/2 biestable)</a:t>
            </a:r>
          </a:p>
        </p:txBody>
      </p:sp>
      <p:sp>
        <p:nvSpPr>
          <p:cNvPr id="8" name="Oval 7"/>
          <p:cNvSpPr/>
          <p:nvPr/>
        </p:nvSpPr>
        <p:spPr>
          <a:xfrm>
            <a:off x="594360" y="2587752"/>
            <a:ext cx="402336" cy="402336"/>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3</a:t>
            </a:r>
          </a:p>
        </p:txBody>
      </p:sp>
      <p:sp>
        <p:nvSpPr>
          <p:cNvPr id="9" name="TextBox 8"/>
          <p:cNvSpPr txBox="1"/>
          <p:nvPr/>
        </p:nvSpPr>
        <p:spPr>
          <a:xfrm>
            <a:off x="1143000" y="2551176"/>
            <a:ext cx="6172200" cy="548640"/>
          </a:xfrm>
          <a:prstGeom prst="rect">
            <a:avLst/>
          </a:prstGeom>
          <a:noFill/>
        </p:spPr>
        <p:txBody>
          <a:bodyPr wrap="square" lIns="45720" rIns="45720" tIns="27432" bIns="27432" anchor="ctr">
            <a:spAutoFit/>
          </a:bodyPr>
          <a:lstStyle/>
          <a:p>
            <a:pPr algn="l">
              <a:spcAft>
                <a:spcPts val="600"/>
              </a:spcAft>
            </a:pPr>
            <a:r>
              <a:rPr sz="1500" b="0" i="0">
                <a:solidFill>
                  <a:srgbClr val="1A1A1A"/>
                </a:solidFill>
              </a:rPr>
              <a:t>Cada grupo es una línea de alimentación; en cada instante solo una tiene aire</a:t>
            </a:r>
          </a:p>
        </p:txBody>
      </p:sp>
      <p:sp>
        <p:nvSpPr>
          <p:cNvPr id="10" name="Oval 9"/>
          <p:cNvSpPr/>
          <p:nvPr/>
        </p:nvSpPr>
        <p:spPr>
          <a:xfrm>
            <a:off x="594360" y="3154680"/>
            <a:ext cx="402336" cy="402336"/>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4</a:t>
            </a:r>
          </a:p>
        </p:txBody>
      </p:sp>
      <p:sp>
        <p:nvSpPr>
          <p:cNvPr id="11" name="TextBox 10"/>
          <p:cNvSpPr txBox="1"/>
          <p:nvPr/>
        </p:nvSpPr>
        <p:spPr>
          <a:xfrm>
            <a:off x="1143000" y="3118104"/>
            <a:ext cx="6172200" cy="548640"/>
          </a:xfrm>
          <a:prstGeom prst="rect">
            <a:avLst/>
          </a:prstGeom>
          <a:noFill/>
        </p:spPr>
        <p:txBody>
          <a:bodyPr wrap="square" lIns="45720" rIns="45720" tIns="27432" bIns="27432" anchor="ctr">
            <a:spAutoFit/>
          </a:bodyPr>
          <a:lstStyle/>
          <a:p>
            <a:pPr algn="l">
              <a:spcAft>
                <a:spcPts val="600"/>
              </a:spcAft>
            </a:pPr>
            <a:r>
              <a:rPr sz="1500" b="0" i="0">
                <a:solidFill>
                  <a:srgbClr val="1A1A1A"/>
                </a:solidFill>
              </a:rPr>
              <a:t>El primer movimiento de cada grupo se pilota directo desde su línea</a:t>
            </a:r>
          </a:p>
        </p:txBody>
      </p:sp>
      <p:sp>
        <p:nvSpPr>
          <p:cNvPr id="12" name="Oval 11"/>
          <p:cNvSpPr/>
          <p:nvPr/>
        </p:nvSpPr>
        <p:spPr>
          <a:xfrm>
            <a:off x="594360" y="3721608"/>
            <a:ext cx="402336" cy="402336"/>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5</a:t>
            </a:r>
          </a:p>
        </p:txBody>
      </p:sp>
      <p:sp>
        <p:nvSpPr>
          <p:cNvPr id="13" name="TextBox 12"/>
          <p:cNvSpPr txBox="1"/>
          <p:nvPr/>
        </p:nvSpPr>
        <p:spPr>
          <a:xfrm>
            <a:off x="1143000" y="3685032"/>
            <a:ext cx="6172200" cy="548640"/>
          </a:xfrm>
          <a:prstGeom prst="rect">
            <a:avLst/>
          </a:prstGeom>
          <a:noFill/>
        </p:spPr>
        <p:txBody>
          <a:bodyPr wrap="square" lIns="45720" rIns="45720" tIns="27432" bIns="27432" anchor="ctr">
            <a:spAutoFit/>
          </a:bodyPr>
          <a:lstStyle/>
          <a:p>
            <a:pPr algn="l">
              <a:spcAft>
                <a:spcPts val="600"/>
              </a:spcAft>
            </a:pPr>
            <a:r>
              <a:rPr sz="1500" b="0" i="0">
                <a:solidFill>
                  <a:srgbClr val="1A1A1A"/>
                </a:solidFill>
              </a:rPr>
              <a:t>Los siguientes los dispara el final de carrera anterior, alimentado desde la línea</a:t>
            </a:r>
          </a:p>
        </p:txBody>
      </p:sp>
      <p:sp>
        <p:nvSpPr>
          <p:cNvPr id="14" name="Oval 13"/>
          <p:cNvSpPr/>
          <p:nvPr/>
        </p:nvSpPr>
        <p:spPr>
          <a:xfrm>
            <a:off x="594360" y="4288536"/>
            <a:ext cx="402336" cy="402336"/>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6</a:t>
            </a:r>
          </a:p>
        </p:txBody>
      </p:sp>
      <p:sp>
        <p:nvSpPr>
          <p:cNvPr id="15" name="TextBox 14"/>
          <p:cNvSpPr txBox="1"/>
          <p:nvPr/>
        </p:nvSpPr>
        <p:spPr>
          <a:xfrm>
            <a:off x="1143000" y="4251960"/>
            <a:ext cx="6172200" cy="548640"/>
          </a:xfrm>
          <a:prstGeom prst="rect">
            <a:avLst/>
          </a:prstGeom>
          <a:noFill/>
        </p:spPr>
        <p:txBody>
          <a:bodyPr wrap="square" lIns="45720" rIns="45720" tIns="27432" bIns="27432" anchor="ctr">
            <a:spAutoFit/>
          </a:bodyPr>
          <a:lstStyle/>
          <a:p>
            <a:pPr algn="l">
              <a:spcAft>
                <a:spcPts val="600"/>
              </a:spcAft>
            </a:pPr>
            <a:r>
              <a:rPr sz="1500" b="0" i="0">
                <a:solidFill>
                  <a:srgbClr val="1A1A1A"/>
                </a:solidFill>
              </a:rPr>
              <a:t>El último final de carrera del grupo conmuta VG al grupo siguiente</a:t>
            </a:r>
          </a:p>
        </p:txBody>
      </p:sp>
      <p:sp>
        <p:nvSpPr>
          <p:cNvPr id="16" name="Oval 15"/>
          <p:cNvSpPr/>
          <p:nvPr/>
        </p:nvSpPr>
        <p:spPr>
          <a:xfrm>
            <a:off x="594360" y="4855464"/>
            <a:ext cx="402336" cy="402336"/>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7</a:t>
            </a:r>
          </a:p>
        </p:txBody>
      </p:sp>
      <p:sp>
        <p:nvSpPr>
          <p:cNvPr id="17" name="TextBox 16"/>
          <p:cNvSpPr txBox="1"/>
          <p:nvPr/>
        </p:nvSpPr>
        <p:spPr>
          <a:xfrm>
            <a:off x="1143000" y="4818888"/>
            <a:ext cx="6172200" cy="548640"/>
          </a:xfrm>
          <a:prstGeom prst="rect">
            <a:avLst/>
          </a:prstGeom>
          <a:noFill/>
        </p:spPr>
        <p:txBody>
          <a:bodyPr wrap="square" lIns="45720" rIns="45720" tIns="27432" bIns="27432" anchor="ctr">
            <a:spAutoFit/>
          </a:bodyPr>
          <a:lstStyle/>
          <a:p>
            <a:pPr algn="l">
              <a:spcAft>
                <a:spcPts val="600"/>
              </a:spcAft>
            </a:pPr>
            <a:r>
              <a:rPr sz="1500" b="0" i="0">
                <a:solidFill>
                  <a:srgbClr val="1A1A1A"/>
                </a:solidFill>
              </a:rPr>
              <a:t>El arranque S va en la última línea (activa en reposo)</a:t>
            </a:r>
          </a:p>
        </p:txBody>
      </p:sp>
      <p:sp>
        <p:nvSpPr>
          <p:cNvPr id="18" name="Rounded Rectangle 17"/>
          <p:cNvSpPr/>
          <p:nvPr/>
        </p:nvSpPr>
        <p:spPr>
          <a:xfrm>
            <a:off x="7498079" y="1463040"/>
            <a:ext cx="4114800" cy="393192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80960" y="1554480"/>
            <a:ext cx="3749039" cy="41148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Ejemplo</a:t>
            </a:r>
          </a:p>
        </p:txBody>
      </p:sp>
      <p:sp>
        <p:nvSpPr>
          <p:cNvPr id="20" name="TextBox 19"/>
          <p:cNvSpPr txBox="1"/>
          <p:nvPr/>
        </p:nvSpPr>
        <p:spPr>
          <a:xfrm>
            <a:off x="7680960" y="2057400"/>
            <a:ext cx="3749039" cy="548640"/>
          </a:xfrm>
          <a:prstGeom prst="rect">
            <a:avLst/>
          </a:prstGeom>
          <a:noFill/>
        </p:spPr>
        <p:txBody>
          <a:bodyPr wrap="square" lIns="45720" rIns="45720" tIns="27432" bIns="27432" anchor="t">
            <a:spAutoFit/>
          </a:bodyPr>
          <a:lstStyle/>
          <a:p>
            <a:pPr algn="l">
              <a:spcAft>
                <a:spcPts val="600"/>
              </a:spcAft>
            </a:pPr>
            <a:r>
              <a:rPr sz="2600" b="1" i="0">
                <a:solidFill>
                  <a:srgbClr val="0B7A53"/>
                </a:solidFill>
              </a:rPr>
              <a:t>A+ B+ </a:t>
            </a:r>
            <a:r>
              <a:rPr sz="2600" b="1" i="0">
                <a:solidFill>
                  <a:srgbClr val="1A1A1A"/>
                </a:solidFill>
              </a:rPr>
              <a:t>|</a:t>
            </a:r>
            <a:r>
              <a:rPr sz="2600" b="1" i="0">
                <a:solidFill>
                  <a:srgbClr val="B5651D"/>
                </a:solidFill>
              </a:rPr>
              <a:t> B− A−</a:t>
            </a:r>
          </a:p>
        </p:txBody>
      </p:sp>
      <p:sp>
        <p:nvSpPr>
          <p:cNvPr id="21" name="TextBox 20"/>
          <p:cNvSpPr txBox="1"/>
          <p:nvPr/>
        </p:nvSpPr>
        <p:spPr>
          <a:xfrm>
            <a:off x="7680960" y="2788920"/>
            <a:ext cx="3749039" cy="2560320"/>
          </a:xfrm>
          <a:prstGeom prst="rect">
            <a:avLst/>
          </a:prstGeom>
          <a:noFill/>
        </p:spPr>
        <p:txBody>
          <a:bodyPr wrap="square" lIns="45720" rIns="45720" tIns="27432" bIns="27432" anchor="t">
            <a:spAutoFit/>
          </a:bodyPr>
          <a:lstStyle/>
          <a:p>
            <a:pPr algn="l">
              <a:spcAft>
                <a:spcPts val="600"/>
              </a:spcAft>
            </a:pPr>
            <a:r>
              <a:rPr sz="1500" b="1" i="0">
                <a:solidFill>
                  <a:srgbClr val="0B7A53"/>
                </a:solidFill>
              </a:rPr>
              <a:t>Grupo I: </a:t>
            </a:r>
            <a:r>
              <a:rPr sz="1500" b="0" i="0">
                <a:solidFill>
                  <a:srgbClr val="1A1A1A"/>
                </a:solidFill>
              </a:rPr>
              <a:t>A+ B+</a:t>
            </a:r>
          </a:p>
          <a:p>
            <a:pPr algn="l">
              <a:spcAft>
                <a:spcPts val="600"/>
              </a:spcAft>
            </a:pPr>
            <a:r>
              <a:rPr sz="1500" b="1" i="0">
                <a:solidFill>
                  <a:srgbClr val="B5651D"/>
                </a:solidFill>
              </a:rPr>
              <a:t>Grupo II: </a:t>
            </a:r>
            <a:r>
              <a:rPr sz="1500" b="0" i="0">
                <a:solidFill>
                  <a:srgbClr val="1A1A1A"/>
                </a:solidFill>
              </a:rPr>
              <a:t>B− A−</a:t>
            </a:r>
          </a:p>
          <a:p>
            <a:pPr algn="l">
              <a:spcAft>
                <a:spcPts val="600"/>
              </a:spcAft>
            </a:pPr>
            <a:r>
              <a:rPr sz="1500" b="0" i="0">
                <a:solidFill>
                  <a:srgbClr val="1A1A1A"/>
                </a:solidFill>
              </a:rPr>
              <a:t>2 grupos → 1 válvula VG</a:t>
            </a:r>
          </a:p>
          <a:p>
            <a:pPr algn="l">
              <a:spcAft>
                <a:spcPts val="600"/>
              </a:spcAft>
            </a:pPr>
            <a:r>
              <a:rPr sz="1500" b="0" i="0">
                <a:solidFill>
                  <a:srgbClr val="1A1A1A"/>
                </a:solidFill>
              </a:rPr>
              <a:t>I → II con </a:t>
            </a:r>
            <a:r>
              <a:rPr sz="1500" b="1" i="0">
                <a:solidFill>
                  <a:srgbClr val="1A1A1A"/>
                </a:solidFill>
              </a:rPr>
              <a:t>b1</a:t>
            </a:r>
          </a:p>
          <a:p>
            <a:pPr algn="l">
              <a:spcAft>
                <a:spcPts val="600"/>
              </a:spcAft>
            </a:pPr>
            <a:r>
              <a:rPr sz="1500" b="0" i="0">
                <a:solidFill>
                  <a:srgbClr val="1A1A1A"/>
                </a:solidFill>
              </a:rPr>
              <a:t>II → I con </a:t>
            </a:r>
            <a:r>
              <a:rPr sz="1500" b="1" i="0">
                <a:solidFill>
                  <a:srgbClr val="1A1A1A"/>
                </a:solidFill>
              </a:rPr>
              <a:t>S · a0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Cascada A+ B+ | B− A−: el circuito</a:t>
            </a:r>
          </a:p>
        </p:txBody>
      </p:sp>
      <p:sp>
        <p:nvSpPr>
          <p:cNvPr id="3" name="Slide Number Placeholder 2"/>
          <p:cNvSpPr>
            <a:spLocks noGrp="1"/>
          </p:cNvSpPr>
          <p:nvPr>
            <p:ph type="sldNum" idx="12"/>
          </p:nvPr>
        </p:nvSpPr>
        <p:spPr/>
        <p:txBody>
          <a:bodyPr/>
          <a:p>
            <a:fld id="{602CA0CC-CBC2-407F-A98C-3F832203A533}" type="slidenum">
              <a:rPr lang="es-PE"/>
              <a:t>26</a:t>
            </a:fld>
          </a:p>
        </p:txBody>
      </p:sp>
      <p:pic>
        <p:nvPicPr>
          <p:cNvPr id="4" name="t_cascada_ABBA" descr="t_cascada_ABBA.png"/>
          <p:cNvPicPr>
            <a:picLocks noChangeAspect="1"/>
          </p:cNvPicPr>
          <p:nvPr/>
        </p:nvPicPr>
        <p:blipFill>
          <a:blip r:embed="rId3"/>
          <a:stretch>
            <a:fillRect/>
          </a:stretch>
        </p:blipFill>
        <p:spPr>
          <a:xfrm>
            <a:off x="1428595" y="1280160"/>
            <a:ext cx="5738169" cy="4297680"/>
          </a:xfrm>
          <a:prstGeom prst="rect">
            <a:avLst/>
          </a:prstGeom>
        </p:spPr>
      </p:pic>
      <p:pic>
        <p:nvPicPr>
          <p:cNvPr id="5" name="fase_ABBA_cascada" descr="fase_ABBA_cascada.png"/>
          <p:cNvPicPr>
            <a:picLocks noChangeAspect="1"/>
          </p:cNvPicPr>
          <p:nvPr/>
        </p:nvPicPr>
        <p:blipFill>
          <a:blip r:embed="rId4"/>
          <a:stretch>
            <a:fillRect/>
          </a:stretch>
        </p:blipFill>
        <p:spPr>
          <a:xfrm>
            <a:off x="8229600" y="1748848"/>
            <a:ext cx="3429000" cy="1897263"/>
          </a:xfrm>
          <a:prstGeom prst="rect">
            <a:avLst/>
          </a:prstGeom>
        </p:spPr>
      </p:pic>
      <p:sp>
        <p:nvSpPr>
          <p:cNvPr id="6" name="Rounded Rectangle 5"/>
          <p:cNvSpPr/>
          <p:nvPr/>
        </p:nvSpPr>
        <p:spPr>
          <a:xfrm>
            <a:off x="8229600" y="4114800"/>
            <a:ext cx="3429000" cy="132588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39327" y="4160520"/>
            <a:ext cx="3246120" cy="1234440"/>
          </a:xfrm>
          <a:prstGeom prst="rect">
            <a:avLst/>
          </a:prstGeom>
          <a:noFill/>
        </p:spPr>
        <p:txBody>
          <a:bodyPr wrap="square" lIns="45720" rIns="45720" tIns="27432" bIns="27432" anchor="ctr">
            <a:spAutoFit/>
          </a:bodyPr>
          <a:lstStyle/>
          <a:p>
            <a:pPr algn="l">
              <a:spcAft>
                <a:spcPts val="600"/>
              </a:spcAft>
            </a:pPr>
            <a:r>
              <a:rPr sz="1400" b="0" i="0">
                <a:solidFill>
                  <a:srgbClr val="1A1A1A"/>
                </a:solidFill>
              </a:rPr>
              <a:t>Una señal sin aire no puede bloquear: esa es toda la idea de la cascada.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Practiquemos: ¿cuántos grupos?</a:t>
            </a:r>
          </a:p>
        </p:txBody>
      </p:sp>
      <p:sp>
        <p:nvSpPr>
          <p:cNvPr id="3" name="Slide Number Placeholder 2"/>
          <p:cNvSpPr>
            <a:spLocks noGrp="1"/>
          </p:cNvSpPr>
          <p:nvPr>
            <p:ph type="sldNum" idx="12"/>
          </p:nvPr>
        </p:nvSpPr>
        <p:spPr/>
        <p:txBody>
          <a:bodyPr/>
          <a:p>
            <a:fld id="{148262FE-0F20-4089-AD35-79A067AB49BD}" type="slidenum">
              <a:rPr lang="es-PE"/>
              <a:t>27</a:t>
            </a:fld>
          </a:p>
        </p:txBody>
      </p:sp>
      <p:graphicFrame>
        <p:nvGraphicFramePr>
          <p:cNvPr id="4" name="Table 3"/>
          <p:cNvGraphicFramePr>
            <a:graphicFrameLocks noGrp="1"/>
          </p:cNvGraphicFramePr>
          <p:nvPr/>
        </p:nvGraphicFramePr>
        <p:xfrm>
          <a:off x="548640" y="1463040"/>
          <a:ext cx="6949440" cy="2834640"/>
        </p:xfrm>
        <a:graphic>
          <a:graphicData uri="http://schemas.openxmlformats.org/drawingml/2006/table">
            <a:tbl>
              <a:tblPr firstRow="1" bandRow="1">
                <a:tableStyleId>{5C22544A-7EE6-4342-B048-85BDC9FD1C3A}</a:tableStyleId>
              </a:tblPr>
              <a:tblGrid>
                <a:gridCol w="2926080"/>
                <a:gridCol w="2743200"/>
                <a:gridCol w="1280160"/>
              </a:tblGrid>
              <a:tr h="566928">
                <a:tc>
                  <a:txBody>
                    <a:bodyPr/>
                    <a:lstStyle/>
                    <a:p>
                      <a:r>
                        <a:rPr sz="1600" b="1">
                          <a:solidFill>
                            <a:srgbClr val="FFFFFF"/>
                          </a:solidFill>
                        </a:rPr>
                        <a:t>Secuencia</a:t>
                      </a:r>
                    </a:p>
                  </a:txBody>
                  <a:tcPr marL="73152" marR="73152" marT="27432" marB="27432" anchor="ctr">
                    <a:solidFill>
                      <a:srgbClr val="042254"/>
                    </a:solidFill>
                  </a:tcPr>
                </a:tc>
                <a:tc>
                  <a:txBody>
                    <a:bodyPr/>
                    <a:lstStyle/>
                    <a:p>
                      <a:r>
                        <a:rPr sz="1600" b="1">
                          <a:solidFill>
                            <a:srgbClr val="FFFFFF"/>
                          </a:solidFill>
                        </a:rPr>
                        <a:t>Grupos</a:t>
                      </a:r>
                    </a:p>
                  </a:txBody>
                  <a:tcPr marL="73152" marR="73152" marT="27432" marB="27432" anchor="ctr">
                    <a:solidFill>
                      <a:srgbClr val="042254"/>
                    </a:solidFill>
                  </a:tcPr>
                </a:tc>
                <a:tc>
                  <a:txBody>
                    <a:bodyPr/>
                    <a:lstStyle/>
                    <a:p>
                      <a:r>
                        <a:rPr sz="1600" b="1">
                          <a:solidFill>
                            <a:srgbClr val="FFFFFF"/>
                          </a:solidFill>
                        </a:rPr>
                        <a:t>N.º VG</a:t>
                      </a:r>
                    </a:p>
                  </a:txBody>
                  <a:tcPr marL="73152" marR="73152" marT="27432" marB="27432" anchor="ctr">
                    <a:solidFill>
                      <a:srgbClr val="042254"/>
                    </a:solidFill>
                  </a:tcPr>
                </a:tc>
              </a:tr>
              <a:tr h="566928">
                <a:tc>
                  <a:txBody>
                    <a:bodyPr/>
                    <a:lstStyle/>
                    <a:p>
                      <a:r>
                        <a:rPr sz="1600">
                          <a:solidFill>
                            <a:srgbClr val="1A1A1A"/>
                          </a:solidFill>
                        </a:rPr>
                        <a:t>A+ B+ A− B−</a:t>
                      </a:r>
                    </a:p>
                  </a:txBody>
                  <a:tcPr marL="73152" marR="73152" marT="27432" marB="27432" anchor="ctr">
                    <a:solidFill>
                      <a:srgbClr val="FFFFFF"/>
                    </a:solidFill>
                  </a:tcPr>
                </a:tc>
                <a:tc>
                  <a:txBody>
                    <a:bodyPr/>
                    <a:lstStyle/>
                    <a:p>
                      <a:r>
                        <a:rPr sz="1600">
                          <a:solidFill>
                            <a:srgbClr val="1A1A1A"/>
                          </a:solidFill>
                        </a:rPr>
                        <a:t/>
                      </a:r>
                    </a:p>
                  </a:txBody>
                  <a:tcPr marL="73152" marR="73152" marT="27432" marB="27432" anchor="ctr">
                    <a:solidFill>
                      <a:srgbClr val="FFFFFF"/>
                    </a:solidFill>
                  </a:tcPr>
                </a:tc>
                <a:tc>
                  <a:txBody>
                    <a:bodyPr/>
                    <a:lstStyle/>
                    <a:p>
                      <a:r>
                        <a:rPr sz="1600">
                          <a:solidFill>
                            <a:srgbClr val="1A1A1A"/>
                          </a:solidFill>
                        </a:rPr>
                        <a:t/>
                      </a:r>
                    </a:p>
                  </a:txBody>
                  <a:tcPr marL="73152" marR="73152" marT="27432" marB="27432" anchor="ctr">
                    <a:solidFill>
                      <a:srgbClr val="FFFFFF"/>
                    </a:solidFill>
                  </a:tcPr>
                </a:tc>
              </a:tr>
              <a:tr h="566928">
                <a:tc>
                  <a:txBody>
                    <a:bodyPr/>
                    <a:lstStyle/>
                    <a:p>
                      <a:r>
                        <a:rPr sz="1600">
                          <a:solidFill>
                            <a:srgbClr val="1A1A1A"/>
                          </a:solidFill>
                        </a:rPr>
                        <a:t>A+ B+ C+ (A− B− C−)</a:t>
                      </a:r>
                    </a:p>
                  </a:txBody>
                  <a:tcPr marL="73152" marR="73152" marT="27432" marB="27432" anchor="ctr">
                    <a:solidFill>
                      <a:srgbClr val="ECF0F6"/>
                    </a:solidFill>
                  </a:tcPr>
                </a:tc>
                <a:tc>
                  <a:txBody>
                    <a:bodyPr/>
                    <a:lstStyle/>
                    <a:p>
                      <a:r>
                        <a:rPr sz="1600">
                          <a:solidFill>
                            <a:srgbClr val="1A1A1A"/>
                          </a:solidFill>
                        </a:rPr>
                        <a:t/>
                      </a:r>
                    </a:p>
                  </a:txBody>
                  <a:tcPr marL="73152" marR="73152" marT="27432" marB="27432" anchor="ctr">
                    <a:solidFill>
                      <a:srgbClr val="ECF0F6"/>
                    </a:solidFill>
                  </a:tcPr>
                </a:tc>
                <a:tc>
                  <a:txBody>
                    <a:bodyPr/>
                    <a:lstStyle/>
                    <a:p>
                      <a:r>
                        <a:rPr sz="1600">
                          <a:solidFill>
                            <a:srgbClr val="1A1A1A"/>
                          </a:solidFill>
                        </a:rPr>
                        <a:t/>
                      </a:r>
                    </a:p>
                  </a:txBody>
                  <a:tcPr marL="73152" marR="73152" marT="27432" marB="27432" anchor="ctr">
                    <a:solidFill>
                      <a:srgbClr val="ECF0F6"/>
                    </a:solidFill>
                  </a:tcPr>
                </a:tc>
              </a:tr>
              <a:tr h="566928">
                <a:tc>
                  <a:txBody>
                    <a:bodyPr/>
                    <a:lstStyle/>
                    <a:p>
                      <a:r>
                        <a:rPr sz="1600">
                          <a:solidFill>
                            <a:srgbClr val="1A1A1A"/>
                          </a:solidFill>
                        </a:rPr>
                        <a:t>(A+ B+) A− B−</a:t>
                      </a:r>
                    </a:p>
                  </a:txBody>
                  <a:tcPr marL="73152" marR="73152" marT="27432" marB="27432" anchor="ctr">
                    <a:solidFill>
                      <a:srgbClr val="FFFFFF"/>
                    </a:solidFill>
                  </a:tcPr>
                </a:tc>
                <a:tc>
                  <a:txBody>
                    <a:bodyPr/>
                    <a:lstStyle/>
                    <a:p>
                      <a:r>
                        <a:rPr sz="1600">
                          <a:solidFill>
                            <a:srgbClr val="1A1A1A"/>
                          </a:solidFill>
                        </a:rPr>
                        <a:t/>
                      </a:r>
                    </a:p>
                  </a:txBody>
                  <a:tcPr marL="73152" marR="73152" marT="27432" marB="27432" anchor="ctr">
                    <a:solidFill>
                      <a:srgbClr val="FFFFFF"/>
                    </a:solidFill>
                  </a:tcPr>
                </a:tc>
                <a:tc>
                  <a:txBody>
                    <a:bodyPr/>
                    <a:lstStyle/>
                    <a:p>
                      <a:r>
                        <a:rPr sz="1600">
                          <a:solidFill>
                            <a:srgbClr val="1A1A1A"/>
                          </a:solidFill>
                        </a:rPr>
                        <a:t/>
                      </a:r>
                    </a:p>
                  </a:txBody>
                  <a:tcPr marL="73152" marR="73152" marT="27432" marB="27432" anchor="ctr">
                    <a:solidFill>
                      <a:srgbClr val="FFFFFF"/>
                    </a:solidFill>
                  </a:tcPr>
                </a:tc>
              </a:tr>
              <a:tr h="566928">
                <a:tc>
                  <a:txBody>
                    <a:bodyPr/>
                    <a:lstStyle/>
                    <a:p>
                      <a:r>
                        <a:rPr sz="1600">
                          <a:solidFill>
                            <a:srgbClr val="1A1A1A"/>
                          </a:solidFill>
                        </a:rPr>
                        <a:t>A+ B+ (A− B−) C+ C−</a:t>
                      </a:r>
                    </a:p>
                  </a:txBody>
                  <a:tcPr marL="73152" marR="73152" marT="27432" marB="27432" anchor="ctr">
                    <a:solidFill>
                      <a:srgbClr val="ECF0F6"/>
                    </a:solidFill>
                  </a:tcPr>
                </a:tc>
                <a:tc>
                  <a:txBody>
                    <a:bodyPr/>
                    <a:lstStyle/>
                    <a:p>
                      <a:r>
                        <a:rPr sz="1600">
                          <a:solidFill>
                            <a:srgbClr val="1A1A1A"/>
                          </a:solidFill>
                        </a:rPr>
                        <a:t/>
                      </a:r>
                    </a:p>
                  </a:txBody>
                  <a:tcPr marL="73152" marR="73152" marT="27432" marB="27432" anchor="ctr">
                    <a:solidFill>
                      <a:srgbClr val="ECF0F6"/>
                    </a:solidFill>
                  </a:tcPr>
                </a:tc>
                <a:tc>
                  <a:txBody>
                    <a:bodyPr/>
                    <a:lstStyle/>
                    <a:p>
                      <a:r>
                        <a:rPr sz="1600">
                          <a:solidFill>
                            <a:srgbClr val="1A1A1A"/>
                          </a:solidFill>
                        </a:rPr>
                        <a:t/>
                      </a:r>
                    </a:p>
                  </a:txBody>
                  <a:tcPr marL="73152" marR="73152" marT="27432" marB="27432" anchor="ctr">
                    <a:solidFill>
                      <a:srgbClr val="ECF0F6"/>
                    </a:solidFill>
                  </a:tcPr>
                </a:tc>
              </a:tr>
            </a:tbl>
          </a:graphicData>
        </a:graphic>
      </p:graphicFrame>
      <p:sp>
        <p:nvSpPr>
          <p:cNvPr id="5" name="Rounded Rectangle 4"/>
          <p:cNvSpPr/>
          <p:nvPr/>
        </p:nvSpPr>
        <p:spPr>
          <a:xfrm>
            <a:off x="7818120" y="1463040"/>
            <a:ext cx="3794760" cy="393192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001000" y="1600200"/>
            <a:ext cx="3429000" cy="411480"/>
          </a:xfrm>
          <a:prstGeom prst="rect">
            <a:avLst/>
          </a:prstGeom>
          <a:noFill/>
        </p:spPr>
        <p:txBody>
          <a:bodyPr wrap="square" lIns="45720" rIns="45720" tIns="27432" bIns="27432" anchor="t">
            <a:spAutoFit/>
          </a:bodyPr>
          <a:lstStyle/>
          <a:p>
            <a:pPr algn="l">
              <a:spcAft>
                <a:spcPts val="600"/>
              </a:spcAft>
            </a:pPr>
            <a:r>
              <a:rPr sz="1800" b="1" i="0">
                <a:solidFill>
                  <a:srgbClr val="0B7A53"/>
                </a:solidFill>
              </a:rPr>
              <a:t>Pistas</a:t>
            </a:r>
          </a:p>
        </p:txBody>
      </p:sp>
      <p:sp>
        <p:nvSpPr>
          <p:cNvPr id="7" name="TextBox 6"/>
          <p:cNvSpPr txBox="1"/>
          <p:nvPr/>
        </p:nvSpPr>
        <p:spPr>
          <a:xfrm>
            <a:off x="8001000" y="2103120"/>
            <a:ext cx="3429000" cy="3200400"/>
          </a:xfrm>
          <a:prstGeom prst="rect">
            <a:avLst/>
          </a:prstGeom>
          <a:noFill/>
        </p:spPr>
        <p:txBody>
          <a:bodyPr wrap="square" lIns="45720" rIns="45720" tIns="27432" bIns="27432" anchor="t">
            <a:spAutoFit/>
          </a:bodyPr>
          <a:lstStyle/>
          <a:p>
            <a:pPr algn="l" marL="256032" indent="-219456">
              <a:spcAft>
                <a:spcPts val="800"/>
              </a:spcAft>
              <a:buClr>
                <a:srgbClr val="16C78E"/>
              </a:buClr>
              <a:buChar char="•"/>
            </a:pPr>
            <a:r>
              <a:rPr sz="1400" b="0" i="0">
                <a:solidFill>
                  <a:srgbClr val="1A1A1A"/>
                </a:solidFill>
              </a:rPr>
              <a:t>Corta donde una letra se repetiría</a:t>
            </a:r>
          </a:p>
          <a:p>
            <a:pPr algn="l" marL="256032" indent="-219456">
              <a:spcAft>
                <a:spcPts val="800"/>
              </a:spcAft>
              <a:buClr>
                <a:srgbClr val="16C78E"/>
              </a:buClr>
              <a:buChar char="•"/>
            </a:pPr>
            <a:r>
              <a:rPr sz="1400" b="0" i="0">
                <a:solidFill>
                  <a:srgbClr val="1A1A1A"/>
                </a:solidFill>
              </a:rPr>
              <a:t>Movimientos simultáneos (…) van en el mismo grupo</a:t>
            </a:r>
          </a:p>
          <a:p>
            <a:pPr algn="l" marL="256032" indent="-219456">
              <a:spcAft>
                <a:spcPts val="800"/>
              </a:spcAft>
              <a:buClr>
                <a:srgbClr val="16C78E"/>
              </a:buClr>
              <a:buChar char="•"/>
            </a:pPr>
            <a:r>
              <a:rPr sz="1400" b="0" i="0">
                <a:solidFill>
                  <a:srgbClr val="1A1A1A"/>
                </a:solidFill>
              </a:rPr>
              <a:t>El último grupo puede unirse al primero si no repite letras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Del enunciado al circuito: metodología</a:t>
            </a:r>
          </a:p>
        </p:txBody>
      </p:sp>
      <p:sp>
        <p:nvSpPr>
          <p:cNvPr id="3" name="Slide Number Placeholder 2"/>
          <p:cNvSpPr>
            <a:spLocks noGrp="1"/>
          </p:cNvSpPr>
          <p:nvPr>
            <p:ph type="sldNum" idx="12"/>
          </p:nvPr>
        </p:nvSpPr>
        <p:spPr/>
        <p:txBody>
          <a:bodyPr/>
          <a:p>
            <a:fld id="{CE171D62-D3D5-46CA-A95E-108208F0A6D1}" type="slidenum">
              <a:rPr lang="es-PE"/>
              <a:t>28</a:t>
            </a:fld>
          </a:p>
        </p:txBody>
      </p:sp>
      <p:sp>
        <p:nvSpPr>
          <p:cNvPr id="4" name="Rounded Rectangle 3"/>
          <p:cNvSpPr/>
          <p:nvPr/>
        </p:nvSpPr>
        <p:spPr>
          <a:xfrm>
            <a:off x="548640" y="1463040"/>
            <a:ext cx="3520440" cy="182880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31520" y="1645920"/>
            <a:ext cx="457200" cy="457200"/>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6" name="TextBox 5"/>
          <p:cNvSpPr txBox="1"/>
          <p:nvPr/>
        </p:nvSpPr>
        <p:spPr>
          <a:xfrm>
            <a:off x="1325880" y="1664208"/>
            <a:ext cx="2651760" cy="41148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Leer</a:t>
            </a:r>
          </a:p>
        </p:txBody>
      </p:sp>
      <p:sp>
        <p:nvSpPr>
          <p:cNvPr id="7" name="TextBox 6"/>
          <p:cNvSpPr txBox="1"/>
          <p:nvPr/>
        </p:nvSpPr>
        <p:spPr>
          <a:xfrm>
            <a:off x="731520" y="2194560"/>
            <a:ext cx="3200400" cy="1051560"/>
          </a:xfrm>
          <a:prstGeom prst="rect">
            <a:avLst/>
          </a:prstGeom>
          <a:noFill/>
        </p:spPr>
        <p:txBody>
          <a:bodyPr wrap="square" lIns="45720" rIns="45720" tIns="27432" bIns="27432" anchor="t">
            <a:spAutoFit/>
          </a:bodyPr>
          <a:lstStyle/>
          <a:p>
            <a:pPr algn="l">
              <a:spcAft>
                <a:spcPts val="600"/>
              </a:spcAft>
            </a:pPr>
            <a:r>
              <a:rPr sz="1500" b="0" i="0">
                <a:solidFill>
                  <a:srgbClr val="1A1A1A"/>
                </a:solidFill>
              </a:rPr>
              <a:t>Identifica actuadores, mandos y condiciones (velocidad, seguridad, posición inicial).</a:t>
            </a:r>
          </a:p>
        </p:txBody>
      </p:sp>
      <p:sp>
        <p:nvSpPr>
          <p:cNvPr id="8" name="Rounded Rectangle 7"/>
          <p:cNvSpPr/>
          <p:nvPr/>
        </p:nvSpPr>
        <p:spPr>
          <a:xfrm>
            <a:off x="4297679" y="1463040"/>
            <a:ext cx="3520440" cy="182880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80559" y="1645920"/>
            <a:ext cx="457200" cy="457200"/>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0" name="TextBox 9"/>
          <p:cNvSpPr txBox="1"/>
          <p:nvPr/>
        </p:nvSpPr>
        <p:spPr>
          <a:xfrm>
            <a:off x="5074919" y="1664208"/>
            <a:ext cx="2651760" cy="41148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Secuencia</a:t>
            </a:r>
          </a:p>
        </p:txBody>
      </p:sp>
      <p:sp>
        <p:nvSpPr>
          <p:cNvPr id="11" name="TextBox 10"/>
          <p:cNvSpPr txBox="1"/>
          <p:nvPr/>
        </p:nvSpPr>
        <p:spPr>
          <a:xfrm>
            <a:off x="4480559" y="2194560"/>
            <a:ext cx="3200400" cy="1051560"/>
          </a:xfrm>
          <a:prstGeom prst="rect">
            <a:avLst/>
          </a:prstGeom>
          <a:noFill/>
        </p:spPr>
        <p:txBody>
          <a:bodyPr wrap="square" lIns="45720" rIns="45720" tIns="27432" bIns="27432" anchor="t">
            <a:spAutoFit/>
          </a:bodyPr>
          <a:lstStyle/>
          <a:p>
            <a:pPr algn="l">
              <a:spcAft>
                <a:spcPts val="600"/>
              </a:spcAft>
            </a:pPr>
            <a:r>
              <a:rPr sz="1500" b="0" i="0">
                <a:solidFill>
                  <a:srgbClr val="1A1A1A"/>
                </a:solidFill>
              </a:rPr>
              <a:t>Escribe A+ B+ … y el diagrama espacio-fase con las señales.</a:t>
            </a:r>
          </a:p>
        </p:txBody>
      </p:sp>
      <p:sp>
        <p:nvSpPr>
          <p:cNvPr id="12" name="Rounded Rectangle 11"/>
          <p:cNvSpPr/>
          <p:nvPr/>
        </p:nvSpPr>
        <p:spPr>
          <a:xfrm>
            <a:off x="8046719" y="1463040"/>
            <a:ext cx="3520440" cy="182880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229599" y="1645920"/>
            <a:ext cx="457200" cy="457200"/>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4" name="TextBox 13"/>
          <p:cNvSpPr txBox="1"/>
          <p:nvPr/>
        </p:nvSpPr>
        <p:spPr>
          <a:xfrm>
            <a:off x="8823959" y="1664208"/>
            <a:ext cx="2651760" cy="41148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Potencia</a:t>
            </a:r>
          </a:p>
        </p:txBody>
      </p:sp>
      <p:sp>
        <p:nvSpPr>
          <p:cNvPr id="15" name="TextBox 14"/>
          <p:cNvSpPr txBox="1"/>
          <p:nvPr/>
        </p:nvSpPr>
        <p:spPr>
          <a:xfrm>
            <a:off x="8229599" y="2194560"/>
            <a:ext cx="3200400" cy="1051560"/>
          </a:xfrm>
          <a:prstGeom prst="rect">
            <a:avLst/>
          </a:prstGeom>
          <a:noFill/>
        </p:spPr>
        <p:txBody>
          <a:bodyPr wrap="square" lIns="45720" rIns="45720" tIns="27432" bIns="27432" anchor="t">
            <a:spAutoFit/>
          </a:bodyPr>
          <a:lstStyle/>
          <a:p>
            <a:pPr algn="l">
              <a:spcAft>
                <a:spcPts val="600"/>
              </a:spcAft>
            </a:pPr>
            <a:r>
              <a:rPr sz="1500" b="0" i="0">
                <a:solidFill>
                  <a:srgbClr val="1A1A1A"/>
                </a:solidFill>
              </a:rPr>
              <a:t>Elige válvulas (5/2 biestable si hay pulsos) y reguladoras (meter-out).</a:t>
            </a:r>
          </a:p>
        </p:txBody>
      </p:sp>
      <p:sp>
        <p:nvSpPr>
          <p:cNvPr id="16" name="Rounded Rectangle 15"/>
          <p:cNvSpPr/>
          <p:nvPr/>
        </p:nvSpPr>
        <p:spPr>
          <a:xfrm>
            <a:off x="548640" y="3474720"/>
            <a:ext cx="3520440" cy="182880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31520" y="3657600"/>
            <a:ext cx="457200" cy="457200"/>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18" name="TextBox 17"/>
          <p:cNvSpPr txBox="1"/>
          <p:nvPr/>
        </p:nvSpPr>
        <p:spPr>
          <a:xfrm>
            <a:off x="1325880" y="3675888"/>
            <a:ext cx="2651760" cy="41148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Señales</a:t>
            </a:r>
          </a:p>
        </p:txBody>
      </p:sp>
      <p:sp>
        <p:nvSpPr>
          <p:cNvPr id="19" name="TextBox 18"/>
          <p:cNvSpPr txBox="1"/>
          <p:nvPr/>
        </p:nvSpPr>
        <p:spPr>
          <a:xfrm>
            <a:off x="731520" y="4206240"/>
            <a:ext cx="3200400" cy="1051560"/>
          </a:xfrm>
          <a:prstGeom prst="rect">
            <a:avLst/>
          </a:prstGeom>
          <a:noFill/>
        </p:spPr>
        <p:txBody>
          <a:bodyPr wrap="square" lIns="45720" rIns="45720" tIns="27432" bIns="27432" anchor="t">
            <a:spAutoFit/>
          </a:bodyPr>
          <a:lstStyle/>
          <a:p>
            <a:pPr algn="l">
              <a:spcAft>
                <a:spcPts val="600"/>
              </a:spcAft>
            </a:pPr>
            <a:r>
              <a:rPr sz="1500" b="0" i="0">
                <a:solidFill>
                  <a:srgbClr val="1A1A1A"/>
                </a:solidFill>
              </a:rPr>
              <a:t>Asigna a cada fase su señal: pulsador, final de carrera, O / Y.</a:t>
            </a:r>
          </a:p>
        </p:txBody>
      </p:sp>
      <p:sp>
        <p:nvSpPr>
          <p:cNvPr id="20" name="Rounded Rectangle 19"/>
          <p:cNvSpPr/>
          <p:nvPr/>
        </p:nvSpPr>
        <p:spPr>
          <a:xfrm>
            <a:off x="4297679" y="3474720"/>
            <a:ext cx="3520440" cy="182880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480559" y="3657600"/>
            <a:ext cx="457200" cy="457200"/>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5</a:t>
            </a:r>
          </a:p>
        </p:txBody>
      </p:sp>
      <p:sp>
        <p:nvSpPr>
          <p:cNvPr id="22" name="TextBox 21"/>
          <p:cNvSpPr txBox="1"/>
          <p:nvPr/>
        </p:nvSpPr>
        <p:spPr>
          <a:xfrm>
            <a:off x="5074919" y="3675888"/>
            <a:ext cx="2651760" cy="41148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Bloqueos</a:t>
            </a:r>
          </a:p>
        </p:txBody>
      </p:sp>
      <p:sp>
        <p:nvSpPr>
          <p:cNvPr id="23" name="TextBox 22"/>
          <p:cNvSpPr txBox="1"/>
          <p:nvPr/>
        </p:nvSpPr>
        <p:spPr>
          <a:xfrm>
            <a:off x="4480559" y="4206240"/>
            <a:ext cx="3200400" cy="1051560"/>
          </a:xfrm>
          <a:prstGeom prst="rect">
            <a:avLst/>
          </a:prstGeom>
          <a:noFill/>
        </p:spPr>
        <p:txBody>
          <a:bodyPr wrap="square" lIns="45720" rIns="45720" tIns="27432" bIns="27432" anchor="t">
            <a:spAutoFit/>
          </a:bodyPr>
          <a:lstStyle/>
          <a:p>
            <a:pPr algn="l">
              <a:spcAft>
                <a:spcPts val="600"/>
              </a:spcAft>
            </a:pPr>
            <a:r>
              <a:rPr sz="1500" b="0" i="0">
                <a:solidFill>
                  <a:srgbClr val="1A1A1A"/>
                </a:solidFill>
              </a:rPr>
              <a:t>¿Alguna señal sigue activa cuando hay que invertir? → cascada.</a:t>
            </a:r>
          </a:p>
        </p:txBody>
      </p:sp>
      <p:sp>
        <p:nvSpPr>
          <p:cNvPr id="24" name="Rounded Rectangle 23"/>
          <p:cNvSpPr/>
          <p:nvPr/>
        </p:nvSpPr>
        <p:spPr>
          <a:xfrm>
            <a:off x="8046719" y="3474720"/>
            <a:ext cx="3520440" cy="182880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229599" y="3657600"/>
            <a:ext cx="457200" cy="457200"/>
          </a:xfrm>
          <a:prstGeom prst="ellipse">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6</a:t>
            </a:r>
          </a:p>
        </p:txBody>
      </p:sp>
      <p:sp>
        <p:nvSpPr>
          <p:cNvPr id="26" name="TextBox 25"/>
          <p:cNvSpPr txBox="1"/>
          <p:nvPr/>
        </p:nvSpPr>
        <p:spPr>
          <a:xfrm>
            <a:off x="8823959" y="3675888"/>
            <a:ext cx="2651760" cy="411480"/>
          </a:xfrm>
          <a:prstGeom prst="rect">
            <a:avLst/>
          </a:prstGeom>
          <a:noFill/>
        </p:spPr>
        <p:txBody>
          <a:bodyPr wrap="square" lIns="45720" rIns="45720" tIns="27432" bIns="27432" anchor="t">
            <a:spAutoFit/>
          </a:bodyPr>
          <a:lstStyle/>
          <a:p>
            <a:pPr algn="l">
              <a:spcAft>
                <a:spcPts val="600"/>
              </a:spcAft>
            </a:pPr>
            <a:r>
              <a:rPr sz="1700" b="1" i="0">
                <a:solidFill>
                  <a:srgbClr val="042254"/>
                </a:solidFill>
              </a:rPr>
              <a:t>Dibujar y simular</a:t>
            </a:r>
          </a:p>
        </p:txBody>
      </p:sp>
      <p:sp>
        <p:nvSpPr>
          <p:cNvPr id="27" name="TextBox 26"/>
          <p:cNvSpPr txBox="1"/>
          <p:nvPr/>
        </p:nvSpPr>
        <p:spPr>
          <a:xfrm>
            <a:off x="8229599" y="4206240"/>
            <a:ext cx="3200400" cy="1051560"/>
          </a:xfrm>
          <a:prstGeom prst="rect">
            <a:avLst/>
          </a:prstGeom>
          <a:noFill/>
        </p:spPr>
        <p:txBody>
          <a:bodyPr wrap="square" lIns="45720" rIns="45720" tIns="27432" bIns="27432" anchor="t">
            <a:spAutoFit/>
          </a:bodyPr>
          <a:lstStyle/>
          <a:p>
            <a:pPr algn="l">
              <a:spcAft>
                <a:spcPts val="600"/>
              </a:spcAft>
            </a:pPr>
            <a:r>
              <a:rPr sz="1500" b="0" i="0">
                <a:solidFill>
                  <a:srgbClr val="1A1A1A"/>
                </a:solidFill>
              </a:rPr>
              <a:t>En FluidSim, en reposo, por niveles; simula y verifica cada fase.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914400"/>
          </a:xfrm>
        </p:spPr>
        <p:txBody>
          <a:bodyPr/>
          <a:lstStyle/>
          <a:p>
            <a:r>
              <a:rPr b="1" sz="3000">
                <a:solidFill>
                  <a:srgbClr val="042254"/>
                </a:solidFill>
              </a:rPr>
              <a:t>Resumen y práctica dirigida</a:t>
            </a:r>
          </a:p>
        </p:txBody>
      </p:sp>
      <p:sp>
        <p:nvSpPr>
          <p:cNvPr id="3" name="Slide Number Placeholder 2"/>
          <p:cNvSpPr>
            <a:spLocks noGrp="1"/>
          </p:cNvSpPr>
          <p:nvPr>
            <p:ph type="sldNum" idx="12"/>
          </p:nvPr>
        </p:nvSpPr>
        <p:spPr/>
        <p:txBody>
          <a:bodyPr/>
          <a:p>
            <a:fld id="{1A40FE1B-94F7-48F5-81D7-4D274B17CC78}" type="slidenum">
              <a:rPr lang="es-PE"/>
              <a:t>29</a:t>
            </a:fld>
          </a:p>
        </p:txBody>
      </p:sp>
      <p:sp>
        <p:nvSpPr>
          <p:cNvPr id="4" name="Rounded Rectangle 3"/>
          <p:cNvSpPr/>
          <p:nvPr/>
        </p:nvSpPr>
        <p:spPr>
          <a:xfrm>
            <a:off x="548640" y="1463040"/>
            <a:ext cx="5394960" cy="3931920"/>
          </a:xfrm>
          <a:prstGeom prst="roundRect">
            <a:avLst>
              <a:gd name="adj" fmla="val 8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600200"/>
            <a:ext cx="5029200" cy="411480"/>
          </a:xfrm>
          <a:prstGeom prst="rect">
            <a:avLst/>
          </a:prstGeom>
          <a:noFill/>
        </p:spPr>
        <p:txBody>
          <a:bodyPr wrap="square" lIns="45720" rIns="45720" tIns="27432" bIns="27432" anchor="t">
            <a:spAutoFit/>
          </a:bodyPr>
          <a:lstStyle/>
          <a:p>
            <a:pPr algn="l">
              <a:spcAft>
                <a:spcPts val="600"/>
              </a:spcAft>
            </a:pPr>
            <a:r>
              <a:rPr sz="1800" b="1" i="0">
                <a:solidFill>
                  <a:srgbClr val="042254"/>
                </a:solidFill>
              </a:rPr>
              <a:t>Hoy aprendimos</a:t>
            </a:r>
          </a:p>
        </p:txBody>
      </p:sp>
      <p:sp>
        <p:nvSpPr>
          <p:cNvPr id="6" name="TextBox 5"/>
          <p:cNvSpPr txBox="1"/>
          <p:nvPr/>
        </p:nvSpPr>
        <p:spPr>
          <a:xfrm>
            <a:off x="731520" y="2103120"/>
            <a:ext cx="5029200" cy="3200400"/>
          </a:xfrm>
          <a:prstGeom prst="rect">
            <a:avLst/>
          </a:prstGeom>
          <a:noFill/>
        </p:spPr>
        <p:txBody>
          <a:bodyPr wrap="square" lIns="45720" rIns="45720" tIns="27432" bIns="27432" anchor="t">
            <a:spAutoFit/>
          </a:bodyPr>
          <a:lstStyle/>
          <a:p>
            <a:pPr algn="l" marL="256032" indent="-219456">
              <a:spcAft>
                <a:spcPts val="800"/>
              </a:spcAft>
              <a:buClr>
                <a:srgbClr val="16C78E"/>
              </a:buClr>
              <a:buChar char="•"/>
            </a:pPr>
            <a:r>
              <a:rPr sz="1600" b="0" i="0">
                <a:solidFill>
                  <a:srgbClr val="1A1A1A"/>
                </a:solidFill>
              </a:rPr>
              <a:t>Símbolos ISO 1219: cilindros, válvulas X/Y, accionamientos</a:t>
            </a:r>
          </a:p>
          <a:p>
            <a:pPr algn="l" marL="256032" indent="-219456">
              <a:spcAft>
                <a:spcPts val="800"/>
              </a:spcAft>
              <a:buClr>
                <a:srgbClr val="16C78E"/>
              </a:buClr>
              <a:buChar char="•"/>
            </a:pPr>
            <a:r>
              <a:rPr sz="1600" b="0" i="0">
                <a:solidFill>
                  <a:srgbClr val="1A1A1A"/>
                </a:solidFill>
              </a:rPr>
              <a:t>Reglas de dibujo: niveles, reposo, nombres a0/a1</a:t>
            </a:r>
          </a:p>
          <a:p>
            <a:pPr algn="l" marL="256032" indent="-219456">
              <a:spcAft>
                <a:spcPts val="800"/>
              </a:spcAft>
              <a:buClr>
                <a:srgbClr val="16C78E"/>
              </a:buClr>
              <a:buChar char="•"/>
            </a:pPr>
            <a:r>
              <a:rPr sz="1600" b="0" i="0">
                <a:solidFill>
                  <a:srgbClr val="1A1A1A"/>
                </a:solidFill>
              </a:rPr>
              <a:t>Mando indirecto, memoria, meter-out, O / Y</a:t>
            </a:r>
          </a:p>
          <a:p>
            <a:pPr algn="l" marL="256032" indent="-219456">
              <a:spcAft>
                <a:spcPts val="800"/>
              </a:spcAft>
              <a:buClr>
                <a:srgbClr val="16C78E"/>
              </a:buClr>
              <a:buChar char="•"/>
            </a:pPr>
            <a:r>
              <a:rPr sz="1600" b="0" i="0">
                <a:solidFill>
                  <a:srgbClr val="1A1A1A"/>
                </a:solidFill>
              </a:rPr>
              <a:t>Secuencias y diagrama espacio-fase</a:t>
            </a:r>
          </a:p>
          <a:p>
            <a:pPr algn="l" marL="256032" indent="-219456">
              <a:spcAft>
                <a:spcPts val="800"/>
              </a:spcAft>
              <a:buClr>
                <a:srgbClr val="16C78E"/>
              </a:buClr>
              <a:buChar char="•"/>
            </a:pPr>
            <a:r>
              <a:rPr sz="1600" b="0" i="0">
                <a:solidFill>
                  <a:srgbClr val="1A1A1A"/>
                </a:solidFill>
              </a:rPr>
              <a:t>Señales bloqueadas y método cascada</a:t>
            </a:r>
          </a:p>
        </p:txBody>
      </p:sp>
      <p:sp>
        <p:nvSpPr>
          <p:cNvPr id="7" name="Rounded Rectangle 6"/>
          <p:cNvSpPr/>
          <p:nvPr/>
        </p:nvSpPr>
        <p:spPr>
          <a:xfrm>
            <a:off x="6217920" y="1463040"/>
            <a:ext cx="5394960" cy="3931920"/>
          </a:xfrm>
          <a:prstGeom prst="roundRect">
            <a:avLst>
              <a:gd name="adj" fmla="val 8000"/>
            </a:avLst>
          </a:prstGeom>
          <a:solidFill>
            <a:srgbClr val="E3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0" y="1600200"/>
            <a:ext cx="5029200" cy="411480"/>
          </a:xfrm>
          <a:prstGeom prst="rect">
            <a:avLst/>
          </a:prstGeom>
          <a:noFill/>
        </p:spPr>
        <p:txBody>
          <a:bodyPr wrap="square" lIns="45720" rIns="45720" tIns="27432" bIns="27432" anchor="t">
            <a:spAutoFit/>
          </a:bodyPr>
          <a:lstStyle/>
          <a:p>
            <a:pPr algn="l">
              <a:spcAft>
                <a:spcPts val="600"/>
              </a:spcAft>
            </a:pPr>
            <a:r>
              <a:rPr sz="1800" b="1" i="0">
                <a:solidFill>
                  <a:srgbClr val="0B7A53"/>
                </a:solidFill>
              </a:rPr>
              <a:t>En la práctica dirigida (3 h)</a:t>
            </a:r>
          </a:p>
        </p:txBody>
      </p:sp>
      <p:sp>
        <p:nvSpPr>
          <p:cNvPr id="9" name="TextBox 8"/>
          <p:cNvSpPr txBox="1"/>
          <p:nvPr/>
        </p:nvSpPr>
        <p:spPr>
          <a:xfrm>
            <a:off x="6400800" y="2103120"/>
            <a:ext cx="5029200" cy="3200400"/>
          </a:xfrm>
          <a:prstGeom prst="rect">
            <a:avLst/>
          </a:prstGeom>
          <a:noFill/>
        </p:spPr>
        <p:txBody>
          <a:bodyPr wrap="square" lIns="45720" rIns="45720" tIns="27432" bIns="27432" anchor="t">
            <a:spAutoFit/>
          </a:bodyPr>
          <a:lstStyle/>
          <a:p>
            <a:pPr algn="l" marL="256032" indent="-219456">
              <a:spcAft>
                <a:spcPts val="800"/>
              </a:spcAft>
              <a:buClr>
                <a:srgbClr val="16C78E"/>
              </a:buClr>
              <a:buChar char="•"/>
            </a:pPr>
            <a:r>
              <a:rPr sz="1500" b="0" i="0">
                <a:solidFill>
                  <a:srgbClr val="1A1A1A"/>
                </a:solidFill>
              </a:rPr>
              <a:t>FluidSim: biblioteca, marcas de final de carrera, simulación</a:t>
            </a:r>
          </a:p>
          <a:p>
            <a:pPr algn="l" marL="256032" indent="-219456">
              <a:spcAft>
                <a:spcPts val="800"/>
              </a:spcAft>
              <a:buClr>
                <a:srgbClr val="16C78E"/>
              </a:buClr>
              <a:buChar char="•"/>
            </a:pPr>
            <a:r>
              <a:rPr sz="1500" b="0" i="0">
                <a:solidFill>
                  <a:srgbClr val="1A1A1A"/>
                </a:solidFill>
              </a:rPr>
              <a:t>Calentamiento: mando indirecto + retorno automático</a:t>
            </a:r>
          </a:p>
          <a:p>
            <a:pPr algn="l" marL="256032" indent="-219456">
              <a:spcAft>
                <a:spcPts val="800"/>
              </a:spcAft>
              <a:buClr>
                <a:srgbClr val="16C78E"/>
              </a:buClr>
              <a:buChar char="•"/>
            </a:pPr>
            <a:r>
              <a:rPr sz="1500" b="0" i="0">
                <a:solidFill>
                  <a:srgbClr val="1A1A1A"/>
                </a:solidFill>
              </a:rPr>
              <a:t>PD 10: puerta de garaje y cuchara de fundición</a:t>
            </a:r>
          </a:p>
          <a:p>
            <a:pPr algn="l" marL="256032" indent="-219456">
              <a:spcAft>
                <a:spcPts val="800"/>
              </a:spcAft>
              <a:buClr>
                <a:srgbClr val="16C78E"/>
              </a:buClr>
              <a:buChar char="•"/>
            </a:pPr>
            <a:r>
              <a:rPr sz="1500" b="0" i="0">
                <a:solidFill>
                  <a:srgbClr val="1A1A1A"/>
                </a:solidFill>
              </a:rPr>
              <a:t>PD 11: estampado, dobladora y prensa (cascada)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PUCP">
      <a:dk1>
        <a:srgbClr val="191919"/>
      </a:dk1>
      <a:lt1>
        <a:srgbClr val="FFFFFF"/>
      </a:lt1>
      <a:dk2>
        <a:srgbClr val="042354"/>
      </a:dk2>
      <a:lt2>
        <a:srgbClr val="E7EDED"/>
      </a:lt2>
      <a:accent1>
        <a:srgbClr val="2841DD"/>
      </a:accent1>
      <a:accent2>
        <a:srgbClr val="FF9929"/>
      </a:accent2>
      <a:accent3>
        <a:srgbClr val="7F32C8"/>
      </a:accent3>
      <a:accent4>
        <a:srgbClr val="F0AE19"/>
      </a:accent4>
      <a:accent5>
        <a:srgbClr val="0A7BC2"/>
      </a:accent5>
      <a:accent6>
        <a:srgbClr val="16C78E"/>
      </a:accent6>
      <a:hlink>
        <a:srgbClr val="004EA8"/>
      </a:hlink>
      <a:folHlink>
        <a:srgbClr val="C309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