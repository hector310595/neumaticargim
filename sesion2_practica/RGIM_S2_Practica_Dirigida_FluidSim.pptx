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para proyectar durante la práctica. Las diapositivas de solución están OCULTAS: no aparecen al presentar. Para mostrarlas: clic derecho en la miniatura → Mostrar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Ajustar tiempos según el avance. Si el grupo va lento, el ejercicio de estampado (el más largo) puede quedar como tarea, con la solución publicada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Hacer una demostración en vivo mientras los alumnos replican: un cilindro de doble efecto con una 5/2 de pulsador. Los nombres de menú pueden variar ligeramente según la versión de FluidSim.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Demostrar cada paso. Puntos donde se traban los alumnos: (1) la válvula configurable se edita con doble clic; (2) los finales de carrera solo funcionan si la etiqueta del rodillo coincide EXACTAMENTE con la marca del cilindro; (3) una conexión sin el punto negro no está conectada.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C1: repasa mando indirecto y memoria. C2: agrega un final de carrera. Pedir que prueben mantener S1 presionado en C2 y que expliquen por qué el cilindro no regresa: es la primera 'señal bloqueada'. C3 (opcional): agregar regulación meter-out al avance y comprobar en la simulación que solo el avance es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Empezamos por la cuchara (un cilindro, un final de carrera) y luego la puerta, que introduce lógica O / Y y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Dejar 10 minutos de trabajo autónomo antes de discutir. Pistas: la 4/2 biestable es la memoria; 'baja velocidad en ambos sentidos' = reguladora en cada línea, estrangulando el escape (antirretorno con paso libre hacia el cilindro).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Comentar que la 4/2 equivale a una 5/2 con escapes unidos. Variante de discusión: ¿cómo evitar el bloqueo si el operario mantiene el botón? → rodillo escamoteable o S1 en serie con a0.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Pista clave del paso 3: la orden depende de DÓNDE está la puerta. Si está cerrada (a0) el botón debe abrir; si está abierta (a1) debe cerrar → Y entre el botón y cada final de carrera (en serie: la salida de la O alimenta a a0 y a1). Aceptar también la variante de 4 pulsadores (abrir/cerrar en cada lado) si el grupo interpreta 'botón' como botonera.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Discutir la limitación: si el usuario mantiene el botón, al llegar a a1 la puerta vuelve a cerrarse. En la práctica real se agregaría un temporizador o se usaría electroneumática.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si el grupo interpreta 'un botón que abre y cierra' como un panel con dos pulsadores.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Orden sugerido: dobladora (la cascada más limpia), prensa (agrega O / Y en el arranque) y estampado (fusión de grupos + selectores manuales).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a1 manda B+ y sigue pisado cuando se ordena B− (retroceso simultáneo): bloqueo. Grupos: I = A+ B+ C+, II = A− B− C− → 1 VG. Arranque: S · a0 · b0 · c0 en la línea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Remarcar la cadena en serie a0-b0-c0-S como función Y: 'solo se puede iniciar si el ciclo completo ha terminado'.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Secuencia (A+ B+) A− B−. a0 está activo en reposo y manda B− mientras queremos B+ → bloqueo → cascada: I = (A+ B+), II = A− B−. Cambio I→II con a1 · b1 en serie. Arranque (P O S) · b0. Retorno rápido: sin estrangulación en el retorno (opcional: válvula de escape rápido).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se quiere un retorno aún más rápido: válvula de escape rápido en la cámara posterior (no es necesaria para la práctica).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Grupos: A+ B+ | (A− B−) C+ | C−. El último (C−) no repite letras con el primero → se fusionan: I = C− A+ B+, II = A− B− C+ → solo 1 VG. Arranque: S · c0 en la línea I. C+ con a0 · b0. Selectores: 5/2 pulsador/resorte → el cilindro sale mientras se mantiene el pulsador.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el grupo prefiere 3 grupos sin fusionar, también es correcto: necesita 2 válvulas selectoras en cascada.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circuitos independientes. Con 5/2 monoestable (pulsador/resorte) el selector sale mientras se mantiene presionado y vuelve solo al soltarlo; no necesita finales de carrera.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Repasar con ejemplos reales de lo que se vio durante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Puede usarse como rúbrica rápida de evaluación (1 punto por ítem).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5484" y="2571381"/>
            <a:ext cx="4143972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4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31" name="Google Shape;31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5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7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8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0" name="Google Shape;6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8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0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8" name="Google Shape;68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0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5183188" y="987426"/>
            <a:ext cx="6172200" cy="454130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39788" y="2057400"/>
            <a:ext cx="3932237" cy="355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77" name="Google Shape;77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1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2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85" name="Google Shape;85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2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Representación neumática · Práctica dirigida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42254"/>
                </a:solidFill>
              </a:rPr>
              <a:t>Práctica dirigida: representación neumática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F6D"/>
                </a:solidFill>
              </a:rPr>
              <a:t>Del enunciado al circuito en FluidSim</a:t>
            </a:r>
          </a:p>
          <a:p>
            <a:r>
              <a:rPr sz="2000">
                <a:solidFill>
                  <a:srgbClr val="555F6D"/>
                </a:solidFill>
              </a:rPr>
              <a:t>Sesión práctica · 3 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Plan de la sesión (180 min)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3B291E-773D-489D-BC58-50EA53593674}" type="slidenum">
              <a:rPr lang="es-PE"/>
              <a:t>3</a:t>
            </a:fld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212080"/>
              </a:tblGrid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Tiempo</a:t>
                      </a:r>
                    </a:p>
                  </a:txBody>
                  <a:tcPr marL="73152" marR="73152" marT="27432" marB="27432" anchor="ctr">
                    <a:solidFill>
                      <a:srgbClr val="0422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73152" marR="73152" marT="27432" marB="27432" anchor="ctr">
                    <a:solidFill>
                      <a:srgbClr val="04225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0:00 – 0:20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FluidSim en 20 minutos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0:20 – 0:40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Calentamiento: memoria y retorno automático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0:40 – 1:00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PD 10 · Ej. 2 — Cuchara de fundición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1:00 – 1:30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PD 10 · Ej. 1 — Puerta de garaje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1:30 – 1:40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Pausa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1:40 – 2:05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PD 11 · Ej. 2 — Dobladora (cascada)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2:05 – 2:25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PD 11 · Ej. 3 — Prensa de bandejas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2:25 – 2:50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PD 11 · Ej. 1 — Estampado y selección</a:t>
                      </a:r>
                    </a:p>
                  </a:txBody>
                  <a:tcPr marL="73152" marR="73152" marT="27432" marB="27432" anchor="ctr">
                    <a:solidFill>
                      <a:srgbClr val="ECF0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2:50 – 3:00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Errores frecuentes y cierre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4630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01000" y="1600200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Entregable por ejercicio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103120"/>
            <a:ext cx="347472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800"/>
              </a:spcAft>
              <a:buClr>
                <a:srgbClr val="16C78E"/>
              </a:buClr>
              <a:buChar char="•"/>
            </a:pPr>
            <a:r>
              <a:rPr sz="1600" b="0" i="0">
                <a:solidFill>
                  <a:srgbClr val="1A1A1A"/>
                </a:solidFill>
              </a:rPr>
              <a:t>Secuencia y diagrama espacio-fase</a:t>
            </a:r>
          </a:p>
          <a:p>
            <a:pPr algn="l" marL="256032" indent="-219456">
              <a:spcAft>
                <a:spcPts val="800"/>
              </a:spcAft>
              <a:buClr>
                <a:srgbClr val="16C78E"/>
              </a:buClr>
              <a:buChar char="•"/>
            </a:pPr>
            <a:r>
              <a:rPr sz="1600" b="0" i="0">
                <a:solidFill>
                  <a:srgbClr val="1A1A1A"/>
                </a:solidFill>
              </a:rPr>
              <a:t>Circuito en FluidSim (archivo .ct)</a:t>
            </a:r>
          </a:p>
          <a:p>
            <a:pPr algn="l" marL="256032" indent="-219456">
              <a:spcAft>
                <a:spcPts val="800"/>
              </a:spcAft>
              <a:buClr>
                <a:srgbClr val="16C78E"/>
              </a:buClr>
              <a:buChar char="•"/>
            </a:pPr>
            <a:r>
              <a:rPr sz="1600" b="0" i="0">
                <a:solidFill>
                  <a:srgbClr val="1A1A1A"/>
                </a:solidFill>
              </a:rPr>
              <a:t>Captura de la simulación funcionando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6C78E"/>
                </a:solidFill>
              </a:rPr>
              <a:t>0  </a:t>
            </a:r>
            <a:r>
              <a:rPr b="1">
                <a:solidFill>
                  <a:srgbClr val="042254"/>
                </a:solidFill>
              </a:rPr>
              <a:t>FluidSim en 20 minutos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F6D"/>
                </a:solidFill>
              </a:rPr>
              <a:t>Lo mínimo para dibujar y simular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Flujo de trabajo en FluidSim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236522D-5860-4EFB-B25E-8F20522D7CF9}" type="slidenum">
              <a:rPr lang="es-PE"/>
              <a:t>5</a:t>
            </a:fld>
          </a:p>
        </p:txBody>
      </p:sp>
      <p:sp>
        <p:nvSpPr>
          <p:cNvPr id="4" name="Oval 3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Nuevo circuito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64792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Archivo → Nuevo. Abre la biblioteca de componentes neumáticos.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41448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Arrastrar 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Cilindro de doble efecto, válvula configurable, fuente de aire, unidad de mantenimiento.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6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Configurar válvulas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13048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Doble clic: elige 3/2, 4/2 o 5/2 y el accionamiento de cada lado (pulsador, rodillo, piloto, resorte).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89704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Conectar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37176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Arrastra desde un puerto hasta otro. Revisa que aparezca el punto de unión.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490472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Finales de carrera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64792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En el cilindro define marcas (a0, a1); en la válvula de rodillo escribe la MISMA etiqueta.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441448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Simular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88920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Botón Iniciar simulación. Clic en los pulsadores. Azul oscuro = línea con presión.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3538728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65576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Verificar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13048"/>
            <a:ext cx="4846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Agrega un diagrama de estado y compáralo con tu diagrama espacio-fase.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262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52578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7A53"/>
                </a:solidFill>
              </a:rPr>
              <a:t>Tip: </a:t>
            </a:r>
            <a:r>
              <a:rPr sz="1300" b="0" i="0">
                <a:solidFill>
                  <a:srgbClr val="1A1A1A"/>
                </a:solidFill>
              </a:rPr>
              <a:t>dibuja siempre en reposo y por niveles, igual que en la teoría; FluidSim no ordena el esquema por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Calentamiento (20 min)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F88FDC-C69B-47B2-95B6-79A725F19032}" type="slidenum">
              <a:rPr lang="es-PE"/>
              <a:t>6</a:t>
            </a:fld>
          </a:p>
        </p:txBody>
      </p:sp>
      <p:pic>
        <p:nvPicPr>
          <p:cNvPr id="4" name="t_mando_indirecto_memoria" descr="t_mando_indirecto_mem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9245"/>
            <a:ext cx="3566160" cy="3176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09160"/>
            <a:ext cx="3566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C1 · S1 → A+, S2 → A− con 5/2 biestable</a:t>
            </a:r>
          </a:p>
        </p:txBody>
      </p:sp>
      <p:pic>
        <p:nvPicPr>
          <p:cNvPr id="6" name="t_semiautomatico" descr="t_semiautomat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04991"/>
            <a:ext cx="3931920" cy="30250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4709160"/>
            <a:ext cx="3931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C2 · S1 → A+, a1 → A− (retorno automático)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463040"/>
            <a:ext cx="3200400" cy="393192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41080" y="16002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Reto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03120"/>
            <a:ext cx="283464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800"/>
              </a:spcAft>
              <a:buClr>
                <a:srgbClr val="16C78E"/>
              </a:buClr>
              <a:buChar char="•"/>
            </a:pPr>
            <a:r>
              <a:rPr sz="1500" b="0" i="0">
                <a:solidFill>
                  <a:srgbClr val="1A1A1A"/>
                </a:solidFill>
              </a:rPr>
              <a:t>En C2 mantén S1 presionado: ¿qué pasa? ¿por qué?</a:t>
            </a:r>
          </a:p>
          <a:p>
            <a:pPr algn="l" marL="256032" indent="-219456">
              <a:spcAft>
                <a:spcPts val="800"/>
              </a:spcAft>
              <a:buClr>
                <a:srgbClr val="16C78E"/>
              </a:buClr>
              <a:buChar char="•"/>
            </a:pPr>
            <a:r>
              <a:rPr sz="1500" b="0" i="0">
                <a:solidFill>
                  <a:srgbClr val="1A1A1A"/>
                </a:solidFill>
              </a:rPr>
              <a:t>C3: haz que solo el avance sea lento (meter-out)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6C78E"/>
                </a:solidFill>
              </a:rPr>
              <a:t>10  </a:t>
            </a:r>
            <a:r>
              <a:rPr b="1">
                <a:solidFill>
                  <a:srgbClr val="042254"/>
                </a:solidFill>
              </a:rPr>
              <a:t>Práctica dirigida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F6D"/>
                </a:solidFill>
              </a:rPr>
              <a:t>Cuchara de fundición y puerta de garaje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PD 10 · Ej. 2 — Cuchara de fundición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6F78108-CE78-4963-8CAE-06A46470A236}" type="slidenum">
              <a:rPr lang="es-PE"/>
              <a:t>8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06240" cy="402336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enunciados/pd10_cuchara" descr="pd10_cuch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276" y="1508760"/>
            <a:ext cx="2890967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77639"/>
            <a:ext cx="393192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Un operador, a distancia, inicia con un botón. El vástago sale y se retrae a baja velocidad; al final de carrera un rodillo invierte el movimiento. Componentes: 4/2 pulso/pulso, 3/2 pulsador, 3/2 rodillo, 2 reguladoras.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19" y="1371600"/>
            <a:ext cx="6583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Paso a paso</a:t>
            </a:r>
          </a:p>
        </p:txBody>
      </p:sp>
      <p:sp>
        <p:nvSpPr>
          <p:cNvPr id="8" name="Oval 7"/>
          <p:cNvSpPr/>
          <p:nvPr/>
        </p:nvSpPr>
        <p:spPr>
          <a:xfrm>
            <a:off x="5074919" y="184708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39" y="1801368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Escribe la secuencia y su diagrama espacio-fase.</a:t>
            </a:r>
          </a:p>
        </p:txBody>
      </p:sp>
      <p:sp>
        <p:nvSpPr>
          <p:cNvPr id="10" name="Oval 9"/>
          <p:cNvSpPr/>
          <p:nvPr/>
        </p:nvSpPr>
        <p:spPr>
          <a:xfrm>
            <a:off x="5074919" y="2569464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39" y="2523744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¿Qué señal pilota 14 y cuál 12 de la 4/2?</a:t>
            </a:r>
          </a:p>
        </p:txBody>
      </p:sp>
      <p:sp>
        <p:nvSpPr>
          <p:cNvPr id="12" name="Oval 11"/>
          <p:cNvSpPr/>
          <p:nvPr/>
        </p:nvSpPr>
        <p:spPr>
          <a:xfrm>
            <a:off x="5074919" y="329184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39" y="3246120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¿Dónde van las 2 reguladoras y en qué sentido el antirretorno?</a:t>
            </a:r>
          </a:p>
        </p:txBody>
      </p:sp>
      <p:sp>
        <p:nvSpPr>
          <p:cNvPr id="14" name="Oval 13"/>
          <p:cNvSpPr/>
          <p:nvPr/>
        </p:nvSpPr>
        <p:spPr>
          <a:xfrm>
            <a:off x="5074919" y="4014215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39" y="3968496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Dibuja en reposo: ¿el rodillo a1 está accionado al inicio?</a:t>
            </a:r>
          </a:p>
        </p:txBody>
      </p:sp>
      <p:sp>
        <p:nvSpPr>
          <p:cNvPr id="16" name="Oval 15"/>
          <p:cNvSpPr/>
          <p:nvPr/>
        </p:nvSpPr>
        <p:spPr>
          <a:xfrm>
            <a:off x="5074919" y="4736592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4690872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Simula. ¿Qué pasa si mantienes el botón presionado?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Cuchara: A+ A−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943735-FCB5-43A9-B8B0-44A554BD0762}" type="slidenum">
              <a:rPr lang="es-PE"/>
              <a:t>9</a:t>
            </a:fld>
          </a:p>
        </p:txBody>
      </p:sp>
      <p:pic>
        <p:nvPicPr>
          <p:cNvPr id="4" name="e1_2_cuchara" descr="e1_2_cuch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22" y="1280160"/>
            <a:ext cx="4169235" cy="4297680"/>
          </a:xfrm>
          <a:prstGeom prst="rect">
            <a:avLst/>
          </a:prstGeom>
        </p:spPr>
      </p:pic>
      <p:pic>
        <p:nvPicPr>
          <p:cNvPr id="5" name="fase_e1_2" descr="fase_e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447" y="1325880"/>
            <a:ext cx="3209305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33375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39327" y="3410712"/>
            <a:ext cx="320954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S1 (3/2 NC) → 14 de VA: A+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a1 (3/2 rodillo) → 12 de VA: A−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R1 y R2 meter-out: paso libre hacia el cilindro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a1 NO está accionado en reposo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Si S1 sigue pulsado al llegar a a1, VA recibe 14 y 12 → no retrocede (señal bloqueada)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PD 10 · Ej. 1 — Puerta de garaje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C5834C6-8589-4DE1-B680-46156F833A71}" type="slidenum">
              <a:rPr lang="es-PE"/>
              <a:t>10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06240" cy="402336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8404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2254"/>
                </a:solidFill>
              </a:rPr>
              <a:t>Enunciado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840479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Abrir y cerrar desde dentro y desde fuera. Un actuador. Un botón exterior y otro interior, cada uno abre Y cierra. Cierre con velocidad limitada. Al inicio la puerta está cerrada.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19" y="1371600"/>
            <a:ext cx="6583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Paso a paso</a:t>
            </a:r>
          </a:p>
        </p:txBody>
      </p:sp>
      <p:sp>
        <p:nvSpPr>
          <p:cNvPr id="8" name="Oval 7"/>
          <p:cNvSpPr/>
          <p:nvPr/>
        </p:nvSpPr>
        <p:spPr>
          <a:xfrm>
            <a:off x="5074919" y="184708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39" y="1801368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¿Qué movimiento es abrir: A+ o A−? ¿Cómo empieza el cilindro?</a:t>
            </a:r>
          </a:p>
        </p:txBody>
      </p:sp>
      <p:sp>
        <p:nvSpPr>
          <p:cNvPr id="10" name="Oval 9"/>
          <p:cNvSpPr/>
          <p:nvPr/>
        </p:nvSpPr>
        <p:spPr>
          <a:xfrm>
            <a:off x="5074919" y="2569464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39" y="2523744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Dos lugares de mando → ¿qué función lógica?</a:t>
            </a:r>
          </a:p>
        </p:txBody>
      </p:sp>
      <p:sp>
        <p:nvSpPr>
          <p:cNvPr id="12" name="Oval 11"/>
          <p:cNvSpPr/>
          <p:nvPr/>
        </p:nvSpPr>
        <p:spPr>
          <a:xfrm>
            <a:off x="5074919" y="329184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39" y="3246120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Un mismo botón abre y cierra: ¿de qué depende la orden?</a:t>
            </a:r>
          </a:p>
        </p:txBody>
      </p:sp>
      <p:sp>
        <p:nvSpPr>
          <p:cNvPr id="14" name="Oval 13"/>
          <p:cNvSpPr/>
          <p:nvPr/>
        </p:nvSpPr>
        <p:spPr>
          <a:xfrm>
            <a:off x="5074919" y="4014215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39" y="3968496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¿Qué válvula de potencia 'recuerda' si la puerta quedó abierta?</a:t>
            </a:r>
          </a:p>
        </p:txBody>
      </p:sp>
      <p:sp>
        <p:nvSpPr>
          <p:cNvPr id="16" name="Oval 15"/>
          <p:cNvSpPr/>
          <p:nvPr/>
        </p:nvSpPr>
        <p:spPr>
          <a:xfrm>
            <a:off x="5074919" y="4736592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4690872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¿Dónde limitas solo la velocidad de cierre?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Puerta: botón conmutado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3E08887-0369-40E2-9D4C-C26C1C30198A}" type="slidenum">
              <a:rPr lang="es-PE"/>
              <a:t>11</a:t>
            </a:fld>
          </a:p>
        </p:txBody>
      </p:sp>
      <p:pic>
        <p:nvPicPr>
          <p:cNvPr id="4" name="e1_1_puerta_conmutada" descr="e1_1_puerta_conmu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49" y="1280160"/>
            <a:ext cx="319702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17320"/>
            <a:ext cx="5623559" cy="406908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44768" y="1490472"/>
            <a:ext cx="5404103" cy="3922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S1 O S2 (selectora) alimenta a los rodillos a0 y a1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Puerta cerrada → a0 pisado → 14: abre (A+)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Puerta abierta → a1 pisado → 12: cierra (A−)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VA 5/2 biestable = memoria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R1 en la cámara posterior: frena el escape al cerrar (A−)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 mitad de carrera el botón no hace nada; si se mantiene pulsado, la puerta oscila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Variante · Puerta con botonera (4 pulsadores)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D49CA8-0065-4550-81D0-D9538CFA859D}" type="slidenum">
              <a:rPr lang="es-PE"/>
              <a:t>12</a:t>
            </a:fld>
          </a:p>
        </p:txBody>
      </p:sp>
      <p:pic>
        <p:nvPicPr>
          <p:cNvPr id="4" name="e1_1_puerta_botonera" descr="e1_1_puerta_boton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759" y="1280160"/>
            <a:ext cx="39828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1417320"/>
            <a:ext cx="4709159" cy="406908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59168" y="1490472"/>
            <a:ext cx="4489703" cy="3922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Abrir: S1 (interior) O S2 (exterior) → 14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Cerrar: S3 (interior) O S4 (exterior) → 12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Dos válvulas selectoras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Más simple de razonar; usa más pulsadores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6C78E"/>
                </a:solidFill>
              </a:rPr>
              <a:t>11  </a:t>
            </a:r>
            <a:r>
              <a:rPr b="1">
                <a:solidFill>
                  <a:srgbClr val="042254"/>
                </a:solidFill>
              </a:rPr>
              <a:t>Práctica dirigida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F6D"/>
                </a:solidFill>
              </a:rPr>
              <a:t>Secuencias con método cascada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PD 11 · Ej. 2 — Dobladora de chapa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CAD0617-20EF-486C-9777-880FA586BAA1}" type="slidenum">
              <a:rPr lang="es-PE"/>
              <a:t>14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06240" cy="402336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enunciados/pd11_dobladora" descr="pd11_doblad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1" y="1508760"/>
            <a:ext cx="3890356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77639"/>
            <a:ext cx="393192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A sujeta, B hace el 1.er doblez, C el 2.º; luego todos regresan a la vez. Pulsador alejado. Sujeción y doblado lentos. Solo se inicia si el ciclo terminó.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19" y="1371600"/>
            <a:ext cx="6583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Paso a paso</a:t>
            </a:r>
          </a:p>
        </p:txBody>
      </p:sp>
      <p:sp>
        <p:nvSpPr>
          <p:cNvPr id="8" name="Oval 7"/>
          <p:cNvSpPr/>
          <p:nvPr/>
        </p:nvSpPr>
        <p:spPr>
          <a:xfrm>
            <a:off x="5074919" y="184708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39" y="1801368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Secuencia: A+ B+ C+ (A− B− C−). Dibuja el espacio-fase.</a:t>
            </a:r>
          </a:p>
        </p:txBody>
      </p:sp>
      <p:sp>
        <p:nvSpPr>
          <p:cNvPr id="10" name="Oval 9"/>
          <p:cNvSpPr/>
          <p:nvPr/>
        </p:nvSpPr>
        <p:spPr>
          <a:xfrm>
            <a:off x="5074919" y="2569464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39" y="2523744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¿Hay señales bloqueadas? Revisa a1 y b1 al retroceder.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19" y="329184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39" y="3246120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Forma los grupos. ¿Cuántas válvulas selectoras?</a:t>
            </a:r>
          </a:p>
        </p:txBody>
      </p:sp>
      <p:sp>
        <p:nvSpPr>
          <p:cNvPr id="14" name="Oval 13"/>
          <p:cNvSpPr/>
          <p:nvPr/>
        </p:nvSpPr>
        <p:spPr>
          <a:xfrm>
            <a:off x="5074919" y="4014215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39" y="3968496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Condición de arranque: ¿qué finales de carrera van en serie con S?</a:t>
            </a:r>
          </a:p>
        </p:txBody>
      </p:sp>
      <p:sp>
        <p:nvSpPr>
          <p:cNvPr id="16" name="Oval 15"/>
          <p:cNvSpPr/>
          <p:nvPr/>
        </p:nvSpPr>
        <p:spPr>
          <a:xfrm>
            <a:off x="5074919" y="4736592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4690872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Reguladoras: ¿en qué línea frenas el avance?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Dobladora (2 grupos)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F9CD93-EDB7-45C9-80A6-50F6A74419D3}" type="slidenum">
              <a:rPr lang="es-PE"/>
              <a:t>15</a:t>
            </a:fld>
          </a:p>
        </p:txBody>
      </p:sp>
      <p:pic>
        <p:nvPicPr>
          <p:cNvPr id="4" name="e2_2_doblado" descr="e2_2_dobl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26" y="1280160"/>
            <a:ext cx="6715427" cy="4297680"/>
          </a:xfrm>
          <a:prstGeom prst="rect">
            <a:avLst/>
          </a:prstGeom>
        </p:spPr>
      </p:pic>
      <p:pic>
        <p:nvPicPr>
          <p:cNvPr id="5" name="fase_e2_2" descr="fase_e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441" y="1325880"/>
            <a:ext cx="2661317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33375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39327" y="3410712"/>
            <a:ext cx="320954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I: A+ directo; a1 → B+; b1 → C+; c1 → II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II: A−, B−, C− directos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Arranque: a0 · b0 · c0 · S → VG 14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Meter-out en lado vástago (avance lento)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a0, b0, c0 dibujados accionados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PD 11 · Ej. 3 — Prensa de bandejas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D67DD21-C12C-474A-9F55-DC15A89DBB5F}" type="slidenum">
              <a:rPr lang="es-PE"/>
              <a:t>16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06240" cy="402336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enunciados/pd11_prensa" descr="pd11_pren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412" y="1508760"/>
            <a:ext cx="2126694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77639"/>
            <a:ext cx="393192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Pedal O pulsador (a 2 m). Las plataformas 3 y 4 salen a la vez y aplastan la lámina; luego 3 se retira rápido y, cuando está contraída, 4 también. Salida lenta, retorno rápido. La plataforma 4 debe estar en su posición inicial para empezar.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19" y="1371600"/>
            <a:ext cx="6583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Paso a paso</a:t>
            </a:r>
          </a:p>
        </p:txBody>
      </p:sp>
      <p:sp>
        <p:nvSpPr>
          <p:cNvPr id="8" name="Oval 7"/>
          <p:cNvSpPr/>
          <p:nvPr/>
        </p:nvSpPr>
        <p:spPr>
          <a:xfrm>
            <a:off x="5074919" y="184708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39" y="1801368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Nombra A = plataforma 3, B = plataforma 4. Escribe la secuencia.</a:t>
            </a:r>
          </a:p>
        </p:txBody>
      </p:sp>
      <p:sp>
        <p:nvSpPr>
          <p:cNvPr id="10" name="Oval 9"/>
          <p:cNvSpPr/>
          <p:nvPr/>
        </p:nvSpPr>
        <p:spPr>
          <a:xfrm>
            <a:off x="5074919" y="2569464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39" y="2523744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Arranque: ¿cómo combinas pedal, pulsador y b0?</a:t>
            </a:r>
          </a:p>
        </p:txBody>
      </p:sp>
      <p:sp>
        <p:nvSpPr>
          <p:cNvPr id="12" name="Oval 11"/>
          <p:cNvSpPr/>
          <p:nvPr/>
        </p:nvSpPr>
        <p:spPr>
          <a:xfrm>
            <a:off x="5074919" y="329184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39" y="3246120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¿a0 bloquea algo? (pista: a0 manda B− y está pisado al inicio)</a:t>
            </a:r>
          </a:p>
        </p:txBody>
      </p:sp>
      <p:sp>
        <p:nvSpPr>
          <p:cNvPr id="14" name="Oval 13"/>
          <p:cNvSpPr/>
          <p:nvPr/>
        </p:nvSpPr>
        <p:spPr>
          <a:xfrm>
            <a:off x="5074919" y="4014215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39" y="3968496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Grupos y válvula selectora.</a:t>
            </a:r>
          </a:p>
        </p:txBody>
      </p:sp>
      <p:sp>
        <p:nvSpPr>
          <p:cNvPr id="16" name="Oval 15"/>
          <p:cNvSpPr/>
          <p:nvPr/>
        </p:nvSpPr>
        <p:spPr>
          <a:xfrm>
            <a:off x="5074919" y="4736592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4690872"/>
            <a:ext cx="608076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¿Cómo logras salida lenta y retorno rápido?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Prensa (2 grupos)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65624C9-E419-4754-8042-0F1058D80232}" type="slidenum">
              <a:rPr lang="es-PE"/>
              <a:t>17</a:t>
            </a:fld>
          </a:p>
        </p:txBody>
      </p:sp>
      <p:pic>
        <p:nvPicPr>
          <p:cNvPr id="4" name="e2_3_prensa" descr="e2_3_pren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48" y="1280160"/>
            <a:ext cx="6131582" cy="4297680"/>
          </a:xfrm>
          <a:prstGeom prst="rect">
            <a:avLst/>
          </a:prstGeom>
        </p:spPr>
      </p:pic>
      <p:pic>
        <p:nvPicPr>
          <p:cNvPr id="5" name="fase_e2_3" descr="fase_e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832" y="1325880"/>
            <a:ext cx="2944535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33375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39327" y="3410712"/>
            <a:ext cx="320954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Arranque: (P O S) · b0 → VG 14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I: A+ y B+ directos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a1 · b1 (serie) → VG 12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II: A− directo; a0 → B−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Meter-out en el avance; retorno libre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PD 11 · Ej. 1 — Estampado y selección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34B7742-CD3D-4405-B4EE-866DDF2AF4C1}" type="slidenum">
              <a:rPr lang="es-PE"/>
              <a:t>18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572000" cy="402336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enunciados/pd11_estampado" descr="pd11_estamp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82" y="1508760"/>
            <a:ext cx="39269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77639"/>
            <a:ext cx="42976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Botón 'Iniciar estampado': A sujeta, B estampa, A y B se retraen, C entrega a la faja y regresa. En la faja, 3 botones independientes accionan los selectores D, E, F (sin finales de carrera).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79" y="1371600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7A53"/>
                </a:solidFill>
              </a:rPr>
              <a:t>Paso a paso</a:t>
            </a:r>
          </a:p>
        </p:txBody>
      </p:sp>
      <p:sp>
        <p:nvSpPr>
          <p:cNvPr id="8" name="Oval 7"/>
          <p:cNvSpPr/>
          <p:nvPr/>
        </p:nvSpPr>
        <p:spPr>
          <a:xfrm>
            <a:off x="5440679" y="184708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9" y="1801368"/>
            <a:ext cx="571500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Secuencia: A+ B+ (A− B−) C+ C−. Espacio-fase.</a:t>
            </a:r>
          </a:p>
        </p:txBody>
      </p:sp>
      <p:sp>
        <p:nvSpPr>
          <p:cNvPr id="10" name="Oval 9"/>
          <p:cNvSpPr/>
          <p:nvPr/>
        </p:nvSpPr>
        <p:spPr>
          <a:xfrm>
            <a:off x="5440679" y="2569464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9" y="2523744"/>
            <a:ext cx="571500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Agrupa. ¿Puedes unir el último grupo con el primero?</a:t>
            </a:r>
          </a:p>
        </p:txBody>
      </p:sp>
      <p:sp>
        <p:nvSpPr>
          <p:cNvPr id="12" name="Oval 11"/>
          <p:cNvSpPr/>
          <p:nvPr/>
        </p:nvSpPr>
        <p:spPr>
          <a:xfrm>
            <a:off x="5440679" y="329184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9" y="3246120"/>
            <a:ext cx="571500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¿Qué señales disparan C+ y el arranque?</a:t>
            </a:r>
          </a:p>
        </p:txBody>
      </p:sp>
      <p:sp>
        <p:nvSpPr>
          <p:cNvPr id="14" name="Oval 13"/>
          <p:cNvSpPr/>
          <p:nvPr/>
        </p:nvSpPr>
        <p:spPr>
          <a:xfrm>
            <a:off x="5440679" y="4014215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9" y="3968496"/>
            <a:ext cx="571500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Selectores D, E, F: ¿qué válvula usas si no hay finales de carrera?</a:t>
            </a:r>
          </a:p>
        </p:txBody>
      </p:sp>
      <p:sp>
        <p:nvSpPr>
          <p:cNvPr id="16" name="Oval 15"/>
          <p:cNvSpPr/>
          <p:nvPr/>
        </p:nvSpPr>
        <p:spPr>
          <a:xfrm>
            <a:off x="5440679" y="4736592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9" y="4690872"/>
            <a:ext cx="5715000" cy="7223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Dibuja dos esquemas: estación de estampado y faja.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Estampado (2 grupos tras fusionar)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AED6532-19B6-4D07-861D-2F4438081CF8}" type="slidenum">
              <a:rPr lang="es-PE"/>
              <a:t>19</a:t>
            </a:fld>
          </a:p>
        </p:txBody>
      </p:sp>
      <p:pic>
        <p:nvPicPr>
          <p:cNvPr id="4" name="e2_1_estampado_ABC" descr="e2_1_estampado_A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9" y="1280160"/>
            <a:ext cx="6955121" cy="4297680"/>
          </a:xfrm>
          <a:prstGeom prst="rect">
            <a:avLst/>
          </a:prstGeom>
        </p:spPr>
      </p:pic>
      <p:pic>
        <p:nvPicPr>
          <p:cNvPr id="5" name="fase_e2_1" descr="fase_e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767" y="1325880"/>
            <a:ext cx="3064664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33375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39327" y="3410712"/>
            <a:ext cx="3209544" cy="20025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 = C− A+ B+ ; II = A− B− C+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Reposo: línea I con aire (C− asegurado)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S · c0 → A+ ; a1 → B+ ; b1 → II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II: A−, B− directos; a0 · b0 → C+ ; c1 → I</a:t>
            </a:r>
          </a:p>
          <a:p>
            <a:pPr algn="l" marL="256032" indent="-219456">
              <a:spcAft>
                <a:spcPts val="300"/>
              </a:spcAft>
              <a:buClr>
                <a:srgbClr val="16C78E"/>
              </a:buClr>
              <a:buChar char="•"/>
            </a:pPr>
            <a:r>
              <a:rPr sz="1400" b="0" i="0">
                <a:solidFill>
                  <a:srgbClr val="1A1A1A"/>
                </a:solidFill>
              </a:rPr>
              <a:t>Sin fusionar serían 3 grupos (2 VG)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Solución · Selectores D, E, F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B3A0932-1044-4C06-8CAD-FAD5FE7A12A8}" type="slidenum">
              <a:rPr lang="es-PE"/>
              <a:t>20</a:t>
            </a:fld>
          </a:p>
        </p:txBody>
      </p:sp>
      <p:pic>
        <p:nvPicPr>
          <p:cNvPr id="4" name="e2_1_selectores_DEF" descr="e2_1_selectores_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70" y="1463040"/>
            <a:ext cx="997458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</a:rPr>
              <a:t>Cada selector: 5/2 pulsador/resorte + cilindro de doble efecto (alternativa: 3/2 + simple efecto).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Errores frecuentes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BE3F76-1854-41E0-9DE6-F8C84F751938}" type="slidenum">
              <a:rPr lang="es-PE"/>
              <a:t>21</a:t>
            </a:fld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a0 dibujado sin accionar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En reposo el vástago pisa a0: se dibuja accionado.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Antirretorno al revés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Frena el movimiento equivocado: paso libre HACIA el cilindro.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Monoestable con pulsos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El cilindro regresa al soltar: usa 5/2 biestable.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8892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288036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Rodillos alimentados desde la fuente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91839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En cascada se alimentan desde la línea del grupo.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Arranque sin condición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S debe ir en serie con el final del ciclo (a0, b0…).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1480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</a:rPr>
              <a:t>Etiquetas que no coinciden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17720"/>
            <a:ext cx="5120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</a:rPr>
              <a:t>En FluidSim el rodillo 'a1' no actúa si la marca del cilindro se llama distinto.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b="1" sz="3000">
                <a:solidFill>
                  <a:srgbClr val="042254"/>
                </a:solidFill>
              </a:rPr>
              <a:t>Lista de verificación de tu circuito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1A1B08A-B87F-433A-908E-52B0F60FB353}" type="slidenum">
              <a:rPr lang="es-PE"/>
              <a:t>22</a:t>
            </a:fld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146304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Secuencia escrita y diagrama espacio-fase con las 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3288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Esquema por niveles y en posición de reposo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9300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Nombres: A, B, C; VA, VB; a0, a1… también en el cilindro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5312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434340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Válvulas de potencia adecuadas (memoria donde hay pulsos)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146304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Reguladoras en el lugar y sentido correctos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53288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0" y="242316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Señales bloqueadas resueltas (cascada o escamoteable)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49300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0" y="338328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Condición de arranque y de seguridad cumplida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453128"/>
            <a:ext cx="411480" cy="411480"/>
          </a:xfrm>
          <a:prstGeom prst="rect">
            <a:avLst/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0" y="4343400"/>
            <a:ext cx="4937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Simulación verificada fase por fase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