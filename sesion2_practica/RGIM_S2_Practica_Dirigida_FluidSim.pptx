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s-E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Material para proyectar durante la práctica. Las diapositivas de solución están OCULTAS: no aparecen al presentar. Para mostrarlas: clic derecho en la miniatura → Mostrar diapositiva.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Ajustar tiempos según el avance. Si el grupo va lento, el ejercicio de estampado (el más largo) puede quedar como tarea, con la solución publicada después.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Hacer una demostración en vivo mientras los alumnos replican: un cilindro de doble efecto con una 5/2 de pulsador. Los nombres de menú pueden variar ligeramente según la versión de FluidSim.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Demostrar cada paso. Puntos donde se traban los alumnos: (1) la válvula configurable se edita con doble clic; (2) los finales de carrera solo funcionan si la etiqueta del rodillo coincide EXACTAMENTE con la marca del cilindro; (3) una conexión sin el punto negro no está conectada.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C1: repasa mando indirecto y memoria. C2: agrega un final de carrera. Pedir que prueben mantener S1 presionado en C2 y que expliquen por qué el cilindro no regresa: es la primera 'señal bloqueada'. C3 (opcional): agregar regulación meter-out al avance y comprobar en la simulación que solo el avance es lento.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Empezamos por la cuchara (un cilindro, un final de carrera) y luego la puerta, que introduce lógica O / Y y memoria.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Dejar 10 minutos de trabajo autónomo antes de discutir. Pistas: la 4/2 biestable es la memoria; 'baja velocidad en ambos sentidos' = reguladora en cada línea, estrangulando el escape (antirretorno con paso libre hacia el cilindro).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Comentar que la 4/2 equivale a una 5/2 con escapes unidos. Variante de discusión: ¿cómo evitar el bloqueo si el operario mantiene el botón? → rodillo escamoteable o S1 en serie con a0.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Pista clave del paso 3: la orden depende de DÓNDE está la puerta. Si está cerrada (a0) el botón debe abrir; si está abierta (a1) debe cerrar → Y entre el botón y cada final de carrera (en serie: la salida de la O alimenta a a0 y a1). Aceptar también la variante de 4 pulsadores (abrir/cerrar en cada lado) si el grupo interpreta 'botón' como botonera.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Discutir la limitación: si el usuario mantiene el botón, al llegar a a1 la puerta vuelve a cerrarse. En la práctica real se agregaría un temporizador o se usaría electroneumática.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Usar si el grupo interpreta 'un botón que abre y cierra' como un panel con dos pulsadores.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Orden sugerido: dobladora (la cascada más limpia), prensa (agrega O / Y en el arranque) y estampado (fusión de grupos + selectores manuales).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a1 manda B+ y sigue pisado cuando se ordena B− (retroceso simultáneo): bloqueo. Grupos: I = A+ B+ C+, II = A− B− C− → 1 VG. Arranque: S · a0 · b0 · c0 en la línea II.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Remarcar la cadena en serie a0-b0-c0-S como función Y: 'solo se puede iniciar si el ciclo completo ha terminado'.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Secuencia (A+ B+) A− B−. a0 está activo en reposo y manda B− mientras queremos B+ → bloqueo → cascada: I = (A+ B+), II = A− B−. Cambio I→II con a1 · b1 en serie. Arranque (P O S) · b0. Retorno rápido: sin estrangulación en el retorno (opcional: válvula de escape rápido).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Si se quiere un retorno aún más rápido: válvula de escape rápido en la cámara posterior (no es necesaria para la práctica).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Grupos: A+ B+ | (A− B−) C+ | C−. El último (C−) no repite letras con el primero → se fusionan: I = C− A+ B+, II = A− B− C+ → solo 1 VG. Arranque: S · c0 en la línea I. C+ con a0 · b0. Selectores: 5/2 pulsador/resorte → el cilindro sale mientras se mantiene el pulsador.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Si el grupo prefiere 3 grupos sin fusionar, también es correcto: necesita 2 válvulas selectoras en cascada.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Tres circuitos independientes. Con 5/2 monoestable (pulsador/resorte) el selector sale mientras se mantiene presionado y vuelve solo al soltarlo; no necesita finales de carrera.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Repasar con ejemplos reales de lo que se vio durante la sesión.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Puede usarse como rúbrica rápida de evaluación (1 punto por ítem).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ntrada" type="blank">
  <p:cSld name="BLANK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6" name="Google Shape;16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95484" y="2571381"/>
            <a:ext cx="4143972" cy="13733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iapositiva de título" type="title">
  <p:cSld name="TITLE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Google Shape;18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844521" y="5547936"/>
            <a:ext cx="2504546" cy="826405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3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Font typeface="Arial"/>
              <a:buNone/>
              <a:defRPr b="1" sz="4800">
                <a:solidFill>
                  <a:schemeClr val="dk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48585"/>
              </a:buClr>
              <a:buSzPts val="2400"/>
              <a:buNone/>
              <a:defRPr i="1" sz="2400">
                <a:solidFill>
                  <a:srgbClr val="648585"/>
                </a:solidFill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y objetos">
  <p:cSld name="Título y objetos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oogle Shape;22;p4"/>
          <p:cNvGrpSpPr/>
          <p:nvPr/>
        </p:nvGrpSpPr>
        <p:grpSpPr>
          <a:xfrm>
            <a:off x="0" y="5716598"/>
            <a:ext cx="11959674" cy="939388"/>
            <a:chOff x="0" y="5716598"/>
            <a:chExt cx="11959674" cy="939388"/>
          </a:xfrm>
        </p:grpSpPr>
        <p:pic>
          <p:nvPicPr>
            <p:cNvPr id="23" name="Google Shape;23;p4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0" y="5716598"/>
              <a:ext cx="11034643" cy="939388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4" name="Google Shape;24;p4"/>
            <p:cNvSpPr/>
            <p:nvPr/>
          </p:nvSpPr>
          <p:spPr>
            <a:xfrm>
              <a:off x="11020286" y="5716598"/>
              <a:ext cx="939388" cy="939388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5" name="Google Shape;25;p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" type="body"/>
          </p:nvPr>
        </p:nvSpPr>
        <p:spPr>
          <a:xfrm>
            <a:off x="838200" y="1825626"/>
            <a:ext cx="10515600" cy="38688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7" name="Google Shape;27;p4"/>
          <p:cNvSpPr txBox="1"/>
          <p:nvPr>
            <p:ph idx="12" type="sldNum"/>
          </p:nvPr>
        </p:nvSpPr>
        <p:spPr>
          <a:xfrm>
            <a:off x="11194770" y="6004476"/>
            <a:ext cx="624696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28" name="Google Shape;28;p4"/>
          <p:cNvSpPr/>
          <p:nvPr/>
        </p:nvSpPr>
        <p:spPr>
          <a:xfrm>
            <a:off x="237434" y="6004476"/>
            <a:ext cx="5680765" cy="347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s-ES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Representación neumática · Práctica dirigida</a:t>
            </a:r>
            <a:endParaRPr b="1" i="0" sz="1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ido con título" type="objTx">
  <p:cSld name="OBJECT_WITH_CAPTION_TEXT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oogle Shape;30;p5"/>
          <p:cNvGrpSpPr/>
          <p:nvPr/>
        </p:nvGrpSpPr>
        <p:grpSpPr>
          <a:xfrm>
            <a:off x="0" y="5716598"/>
            <a:ext cx="11959674" cy="939388"/>
            <a:chOff x="0" y="5716598"/>
            <a:chExt cx="11959674" cy="939388"/>
          </a:xfrm>
        </p:grpSpPr>
        <p:pic>
          <p:nvPicPr>
            <p:cNvPr id="31" name="Google Shape;31;p5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0" y="5716598"/>
              <a:ext cx="11034643" cy="939388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2" name="Google Shape;32;p5"/>
            <p:cNvSpPr/>
            <p:nvPr/>
          </p:nvSpPr>
          <p:spPr>
            <a:xfrm>
              <a:off x="11020286" y="5716598"/>
              <a:ext cx="939388" cy="939388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3" name="Google Shape;33;p5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Font typeface="Arial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5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35" name="Google Shape;35;p5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36" name="Google Shape;36;p5"/>
          <p:cNvSpPr txBox="1"/>
          <p:nvPr>
            <p:ph idx="12" type="sldNum"/>
          </p:nvPr>
        </p:nvSpPr>
        <p:spPr>
          <a:xfrm>
            <a:off x="11194770" y="6004476"/>
            <a:ext cx="624696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37" name="Google Shape;37;p5"/>
          <p:cNvSpPr/>
          <p:nvPr/>
        </p:nvSpPr>
        <p:spPr>
          <a:xfrm>
            <a:off x="237434" y="6004476"/>
            <a:ext cx="5680765" cy="347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s-ES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Representación neumática · Práctica dirigida</a:t>
            </a:r>
            <a:endParaRPr b="1" i="0" sz="1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os objetos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Google Shape;39;p6"/>
          <p:cNvGrpSpPr/>
          <p:nvPr/>
        </p:nvGrpSpPr>
        <p:grpSpPr>
          <a:xfrm>
            <a:off x="0" y="5716598"/>
            <a:ext cx="11959674" cy="939388"/>
            <a:chOff x="0" y="5716598"/>
            <a:chExt cx="11959674" cy="939388"/>
          </a:xfrm>
        </p:grpSpPr>
        <p:pic>
          <p:nvPicPr>
            <p:cNvPr id="40" name="Google Shape;40;p6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0" y="5716598"/>
              <a:ext cx="11034643" cy="939388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1" name="Google Shape;41;p6"/>
            <p:cNvSpPr/>
            <p:nvPr/>
          </p:nvSpPr>
          <p:spPr>
            <a:xfrm>
              <a:off x="11020286" y="5716598"/>
              <a:ext cx="939388" cy="939388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2" name="Google Shape;42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6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2" type="sldNum"/>
          </p:nvPr>
        </p:nvSpPr>
        <p:spPr>
          <a:xfrm>
            <a:off x="11194770" y="6004476"/>
            <a:ext cx="624696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46" name="Google Shape;46;p6"/>
          <p:cNvSpPr/>
          <p:nvPr/>
        </p:nvSpPr>
        <p:spPr>
          <a:xfrm>
            <a:off x="237434" y="6004476"/>
            <a:ext cx="5680765" cy="347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s-ES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Representación neumática · Práctica dirigida</a:t>
            </a:r>
            <a:endParaRPr b="1" i="0" sz="1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ación" type="twoTxTwoObj">
  <p:cSld name="TWO_OBJECTS_WITH_TEXT"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Google Shape;48;p7"/>
          <p:cNvGrpSpPr/>
          <p:nvPr/>
        </p:nvGrpSpPr>
        <p:grpSpPr>
          <a:xfrm>
            <a:off x="0" y="5716598"/>
            <a:ext cx="11959674" cy="939388"/>
            <a:chOff x="0" y="5716598"/>
            <a:chExt cx="11959674" cy="939388"/>
          </a:xfrm>
        </p:grpSpPr>
        <p:pic>
          <p:nvPicPr>
            <p:cNvPr id="49" name="Google Shape;49;p7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0" y="5716598"/>
              <a:ext cx="11034643" cy="939388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50" name="Google Shape;50;p7"/>
            <p:cNvSpPr/>
            <p:nvPr/>
          </p:nvSpPr>
          <p:spPr>
            <a:xfrm>
              <a:off x="11020286" y="5716598"/>
              <a:ext cx="939388" cy="939388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1" name="Google Shape;51;p7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2" type="sldNum"/>
          </p:nvPr>
        </p:nvSpPr>
        <p:spPr>
          <a:xfrm>
            <a:off x="11194770" y="6004476"/>
            <a:ext cx="624696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57" name="Google Shape;57;p7"/>
          <p:cNvSpPr/>
          <p:nvPr/>
        </p:nvSpPr>
        <p:spPr>
          <a:xfrm>
            <a:off x="237434" y="6004476"/>
            <a:ext cx="5680765" cy="347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s-ES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Representación neumática · Práctica dirigida</a:t>
            </a:r>
            <a:endParaRPr b="1" i="0" sz="1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lo el título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Google Shape;59;p8"/>
          <p:cNvGrpSpPr/>
          <p:nvPr/>
        </p:nvGrpSpPr>
        <p:grpSpPr>
          <a:xfrm>
            <a:off x="0" y="5716598"/>
            <a:ext cx="11959674" cy="939388"/>
            <a:chOff x="0" y="5716598"/>
            <a:chExt cx="11959674" cy="939388"/>
          </a:xfrm>
        </p:grpSpPr>
        <p:pic>
          <p:nvPicPr>
            <p:cNvPr id="60" name="Google Shape;60;p8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0" y="5716598"/>
              <a:ext cx="11034643" cy="939388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61" name="Google Shape;61;p8"/>
            <p:cNvSpPr/>
            <p:nvPr/>
          </p:nvSpPr>
          <p:spPr>
            <a:xfrm>
              <a:off x="11020286" y="5716598"/>
              <a:ext cx="939388" cy="939388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62" name="Google Shape;62;p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2" type="sldNum"/>
          </p:nvPr>
        </p:nvSpPr>
        <p:spPr>
          <a:xfrm>
            <a:off x="11194770" y="6004476"/>
            <a:ext cx="624696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64" name="Google Shape;64;p8"/>
          <p:cNvSpPr/>
          <p:nvPr/>
        </p:nvSpPr>
        <p:spPr>
          <a:xfrm>
            <a:off x="237434" y="6004476"/>
            <a:ext cx="5680765" cy="347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s-ES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Representación neumática · Práctica dirigida</a:t>
            </a:r>
            <a:endParaRPr b="1" i="0" sz="1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n blanco">
  <p:cSld name="En blanco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n con título" type="picTx">
  <p:cSld name="PICTURE_WITH_CAPTION_TEXT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7" name="Google Shape;67;p10"/>
          <p:cNvGrpSpPr/>
          <p:nvPr/>
        </p:nvGrpSpPr>
        <p:grpSpPr>
          <a:xfrm>
            <a:off x="0" y="5716598"/>
            <a:ext cx="11959674" cy="939388"/>
            <a:chOff x="0" y="5716598"/>
            <a:chExt cx="11959674" cy="939388"/>
          </a:xfrm>
        </p:grpSpPr>
        <p:pic>
          <p:nvPicPr>
            <p:cNvPr id="68" name="Google Shape;68;p10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0" y="5716598"/>
              <a:ext cx="11034643" cy="939388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69" name="Google Shape;69;p10"/>
            <p:cNvSpPr/>
            <p:nvPr/>
          </p:nvSpPr>
          <p:spPr>
            <a:xfrm>
              <a:off x="11020286" y="5716598"/>
              <a:ext cx="939388" cy="939388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70" name="Google Shape;70;p10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Font typeface="Arial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10"/>
          <p:cNvSpPr/>
          <p:nvPr>
            <p:ph idx="2" type="pic"/>
          </p:nvPr>
        </p:nvSpPr>
        <p:spPr>
          <a:xfrm>
            <a:off x="5183188" y="987426"/>
            <a:ext cx="6172200" cy="4541308"/>
          </a:xfrm>
          <a:prstGeom prst="rect">
            <a:avLst/>
          </a:prstGeom>
          <a:noFill/>
          <a:ln>
            <a:noFill/>
          </a:ln>
        </p:spPr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839788" y="2057400"/>
            <a:ext cx="3932237" cy="35516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73" name="Google Shape;73;p10"/>
          <p:cNvSpPr txBox="1"/>
          <p:nvPr>
            <p:ph idx="12" type="sldNum"/>
          </p:nvPr>
        </p:nvSpPr>
        <p:spPr>
          <a:xfrm>
            <a:off x="11194770" y="6004476"/>
            <a:ext cx="624696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4" name="Google Shape;74;p10"/>
          <p:cNvSpPr/>
          <p:nvPr/>
        </p:nvSpPr>
        <p:spPr>
          <a:xfrm>
            <a:off x="237434" y="6004476"/>
            <a:ext cx="5680765" cy="347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s-ES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Representación neumática · Práctica dirigida</a:t>
            </a:r>
            <a:endParaRPr b="1" i="0" sz="1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y texto vertical" type="vertTx">
  <p:cSld name="VERTICAL_TEXT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6" name="Google Shape;76;p11"/>
          <p:cNvGrpSpPr/>
          <p:nvPr/>
        </p:nvGrpSpPr>
        <p:grpSpPr>
          <a:xfrm>
            <a:off x="0" y="5716598"/>
            <a:ext cx="11959674" cy="939388"/>
            <a:chOff x="0" y="5716598"/>
            <a:chExt cx="11959674" cy="939388"/>
          </a:xfrm>
        </p:grpSpPr>
        <p:pic>
          <p:nvPicPr>
            <p:cNvPr id="77" name="Google Shape;77;p11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0" y="5716598"/>
              <a:ext cx="11034643" cy="939388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78" name="Google Shape;78;p11"/>
            <p:cNvSpPr/>
            <p:nvPr/>
          </p:nvSpPr>
          <p:spPr>
            <a:xfrm>
              <a:off x="11020286" y="5716598"/>
              <a:ext cx="939388" cy="939388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79" name="Google Shape;79;p1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4161556" y="-1497730"/>
            <a:ext cx="386888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2" type="sldNum"/>
          </p:nvPr>
        </p:nvSpPr>
        <p:spPr>
          <a:xfrm>
            <a:off x="11194770" y="6004476"/>
            <a:ext cx="624696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82" name="Google Shape;82;p11"/>
          <p:cNvSpPr/>
          <p:nvPr/>
        </p:nvSpPr>
        <p:spPr>
          <a:xfrm>
            <a:off x="237434" y="6004476"/>
            <a:ext cx="5680765" cy="347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s-ES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Representación neumática · Práctica dirigida</a:t>
            </a:r>
            <a:endParaRPr b="1" i="0" sz="1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vertical y texto" type="vertTitleAndTx">
  <p:cSld name="VERTICAL_TITLE_AND_VERTICAL_TEXT"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4" name="Google Shape;84;p12"/>
          <p:cNvGrpSpPr/>
          <p:nvPr/>
        </p:nvGrpSpPr>
        <p:grpSpPr>
          <a:xfrm>
            <a:off x="0" y="5716598"/>
            <a:ext cx="11959674" cy="939388"/>
            <a:chOff x="0" y="5716598"/>
            <a:chExt cx="11959674" cy="939388"/>
          </a:xfrm>
        </p:grpSpPr>
        <p:pic>
          <p:nvPicPr>
            <p:cNvPr id="85" name="Google Shape;85;p12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0" y="5716598"/>
              <a:ext cx="11034643" cy="939388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86" name="Google Shape;86;p12"/>
            <p:cNvSpPr/>
            <p:nvPr/>
          </p:nvSpPr>
          <p:spPr>
            <a:xfrm>
              <a:off x="11020286" y="5716598"/>
              <a:ext cx="939388" cy="939388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7" name="Google Shape;87;p12"/>
          <p:cNvSpPr txBox="1"/>
          <p:nvPr>
            <p:ph type="title"/>
          </p:nvPr>
        </p:nvSpPr>
        <p:spPr>
          <a:xfrm rot="5400000">
            <a:off x="7363614" y="1726412"/>
            <a:ext cx="5351473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" type="body"/>
          </p:nvPr>
        </p:nvSpPr>
        <p:spPr>
          <a:xfrm rot="5400000">
            <a:off x="2029614" y="-826288"/>
            <a:ext cx="5351473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1194770" y="6004476"/>
            <a:ext cx="624696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90" name="Google Shape;90;p12"/>
          <p:cNvSpPr/>
          <p:nvPr/>
        </p:nvSpPr>
        <p:spPr>
          <a:xfrm>
            <a:off x="237434" y="6004476"/>
            <a:ext cx="5680765" cy="347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s-ES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Representación neumática · Práctica dirigida</a:t>
            </a:r>
            <a:endParaRPr b="1" i="0" sz="1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  <a:defRPr b="1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838200" y="1825626"/>
            <a:ext cx="10515600" cy="38688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1" type="ftr"/>
          </p:nvPr>
        </p:nvSpPr>
        <p:spPr>
          <a:xfrm>
            <a:off x="237435" y="6013034"/>
            <a:ext cx="6070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2" type="sldNum"/>
          </p:nvPr>
        </p:nvSpPr>
        <p:spPr>
          <a:xfrm>
            <a:off x="11194770" y="6004476"/>
            <a:ext cx="624696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8.png"/><Relationship Id="rId4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b="1">
                <a:solidFill>
                  <a:srgbClr val="042254"/>
                </a:solidFill>
              </a:rPr>
              <a:t>Práctica dirigida: representación neumática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000">
                <a:solidFill>
                  <a:srgbClr val="555F6D"/>
                </a:solidFill>
              </a:rPr>
              <a:t>Del enunciado al circuito en FluidSim</a:t>
            </a:r>
          </a:p>
          <a:p>
            <a:r>
              <a:rPr sz="2000">
                <a:solidFill>
                  <a:srgbClr val="555F6D"/>
                </a:solidFill>
              </a:rPr>
              <a:t>Sesión práctica · 3 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64240" cy="914400"/>
          </a:xfrm>
        </p:spPr>
        <p:txBody>
          <a:bodyPr/>
          <a:lstStyle/>
          <a:p>
            <a:r>
              <a:rPr b="1" sz="3000">
                <a:solidFill>
                  <a:srgbClr val="042254"/>
                </a:solidFill>
              </a:rPr>
              <a:t>Plan de la sesión (180 min)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41A3C822-92A9-438A-81DC-0A2AA3E62EA7}" type="slidenum">
              <a:rPr lang="es-PE"/>
              <a:t>3</a:t>
            </a:fld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17320"/>
          <a:ext cx="694944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5212080"/>
              </a:tblGrid>
              <a:tr h="393192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Tiempo</a:t>
                      </a:r>
                    </a:p>
                  </a:txBody>
                  <a:tcPr marL="73152" marR="73152" marT="27432" marB="27432" anchor="ctr">
                    <a:solidFill>
                      <a:srgbClr val="04225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Actividad</a:t>
                      </a:r>
                    </a:p>
                  </a:txBody>
                  <a:tcPr marL="73152" marR="73152" marT="27432" marB="27432" anchor="ctr">
                    <a:solidFill>
                      <a:srgbClr val="042254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</a:rPr>
                        <a:t>0:00 – 0:20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</a:rPr>
                        <a:t>FluidSim en 20 minutos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</a:rPr>
                        <a:t>0:20 – 0:40</a:t>
                      </a:r>
                    </a:p>
                  </a:txBody>
                  <a:tcPr marL="73152" marR="73152" marT="27432" marB="27432" anchor="ctr">
                    <a:solidFill>
                      <a:srgbClr val="ECF0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</a:rPr>
                        <a:t>Calentamiento: memoria y retorno automático</a:t>
                      </a:r>
                    </a:p>
                  </a:txBody>
                  <a:tcPr marL="73152" marR="73152" marT="27432" marB="27432" anchor="ctr">
                    <a:solidFill>
                      <a:srgbClr val="ECF0F6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</a:rPr>
                        <a:t>0:40 – 1:00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</a:rPr>
                        <a:t>PD 10 · Ej. 2 — Cuchara de fundición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</a:rPr>
                        <a:t>1:00 – 1:30</a:t>
                      </a:r>
                    </a:p>
                  </a:txBody>
                  <a:tcPr marL="73152" marR="73152" marT="27432" marB="27432" anchor="ctr">
                    <a:solidFill>
                      <a:srgbClr val="ECF0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</a:rPr>
                        <a:t>PD 10 · Ej. 1 — Puerta de garaje</a:t>
                      </a:r>
                    </a:p>
                  </a:txBody>
                  <a:tcPr marL="73152" marR="73152" marT="27432" marB="27432" anchor="ctr">
                    <a:solidFill>
                      <a:srgbClr val="ECF0F6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</a:rPr>
                        <a:t>1:30 – 1:40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</a:rPr>
                        <a:t>Pausa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</a:rPr>
                        <a:t>1:40 – 2:05</a:t>
                      </a:r>
                    </a:p>
                  </a:txBody>
                  <a:tcPr marL="73152" marR="73152" marT="27432" marB="27432" anchor="ctr">
                    <a:solidFill>
                      <a:srgbClr val="ECF0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</a:rPr>
                        <a:t>PD 11 · Ej. 2 — Dobladora (cascada)</a:t>
                      </a:r>
                    </a:p>
                  </a:txBody>
                  <a:tcPr marL="73152" marR="73152" marT="27432" marB="27432" anchor="ctr">
                    <a:solidFill>
                      <a:srgbClr val="ECF0F6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</a:rPr>
                        <a:t>2:05 – 2:25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</a:rPr>
                        <a:t>PD 11 · Ej. 3 — Prensa de bandejas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</a:rPr>
                        <a:t>2:25 – 2:50</a:t>
                      </a:r>
                    </a:p>
                  </a:txBody>
                  <a:tcPr marL="73152" marR="73152" marT="27432" marB="27432" anchor="ctr">
                    <a:solidFill>
                      <a:srgbClr val="ECF0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</a:rPr>
                        <a:t>PD 11 · Ej. 1 — Estampado y selección</a:t>
                      </a:r>
                    </a:p>
                  </a:txBody>
                  <a:tcPr marL="73152" marR="73152" marT="27432" marB="27432" anchor="ctr">
                    <a:solidFill>
                      <a:srgbClr val="ECF0F6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</a:rPr>
                        <a:t>2:50 – 3:00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</a:rPr>
                        <a:t>Errores frecuentes y cierre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818120" y="1463040"/>
            <a:ext cx="3840480" cy="3931920"/>
          </a:xfrm>
          <a:prstGeom prst="roundRect">
            <a:avLst>
              <a:gd name="adj" fmla="val 8000"/>
            </a:avLst>
          </a:prstGeom>
          <a:solidFill>
            <a:srgbClr val="E3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001000" y="1600200"/>
            <a:ext cx="347472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0B7A53"/>
                </a:solidFill>
              </a:rPr>
              <a:t>Entregable por ejercicio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01000" y="2103120"/>
            <a:ext cx="3474720" cy="32004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19456">
              <a:spcAft>
                <a:spcPts val="800"/>
              </a:spcAft>
              <a:buClr>
                <a:srgbClr val="16C78E"/>
              </a:buClr>
              <a:buChar char="•"/>
            </a:pPr>
            <a:r>
              <a:rPr sz="1600" b="0" i="0">
                <a:solidFill>
                  <a:srgbClr val="1A1A1A"/>
                </a:solidFill>
              </a:rPr>
              <a:t>Secuencia y diagrama espacio-fase</a:t>
            </a:r>
          </a:p>
          <a:p>
            <a:pPr algn="l" marL="256032" indent="-219456">
              <a:spcAft>
                <a:spcPts val="800"/>
              </a:spcAft>
              <a:buClr>
                <a:srgbClr val="16C78E"/>
              </a:buClr>
              <a:buChar char="•"/>
            </a:pPr>
            <a:r>
              <a:rPr sz="1600" b="0" i="0">
                <a:solidFill>
                  <a:srgbClr val="1A1A1A"/>
                </a:solidFill>
              </a:rPr>
              <a:t>Circuito en FluidSim (archivo .ct)</a:t>
            </a:r>
          </a:p>
          <a:p>
            <a:pPr algn="l" marL="256032" indent="-219456">
              <a:spcAft>
                <a:spcPts val="800"/>
              </a:spcAft>
              <a:buClr>
                <a:srgbClr val="16C78E"/>
              </a:buClr>
              <a:buChar char="•"/>
            </a:pPr>
            <a:r>
              <a:rPr sz="1600" b="0" i="0">
                <a:solidFill>
                  <a:srgbClr val="1A1A1A"/>
                </a:solidFill>
              </a:rPr>
              <a:t>Captura de la simulación funcionando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b="1">
                <a:solidFill>
                  <a:srgbClr val="16C78E"/>
                </a:solidFill>
              </a:rPr>
              <a:t>0  </a:t>
            </a:r>
            <a:r>
              <a:rPr b="1">
                <a:solidFill>
                  <a:srgbClr val="042254"/>
                </a:solidFill>
              </a:rPr>
              <a:t>FluidSim en 20 minutos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000">
                <a:solidFill>
                  <a:srgbClr val="555F6D"/>
                </a:solidFill>
              </a:rPr>
              <a:t>Lo mínimo para dibujar y simular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64240" cy="914400"/>
          </a:xfrm>
        </p:spPr>
        <p:txBody>
          <a:bodyPr/>
          <a:lstStyle/>
          <a:p>
            <a:r>
              <a:rPr b="1" sz="3000">
                <a:solidFill>
                  <a:srgbClr val="042254"/>
                </a:solidFill>
              </a:rPr>
              <a:t>Flujo de trabajo en FluidSim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1A6118CB-60A3-4242-AFC3-7A17A1A5EA58}" type="slidenum">
              <a:rPr lang="es-PE"/>
              <a:t>5</a:t>
            </a:fld>
          </a:p>
        </p:txBody>
      </p:sp>
      <p:sp>
        <p:nvSpPr>
          <p:cNvPr id="4" name="Oval 3"/>
          <p:cNvSpPr/>
          <p:nvPr/>
        </p:nvSpPr>
        <p:spPr>
          <a:xfrm>
            <a:off x="548640" y="1490472"/>
            <a:ext cx="457200" cy="457200"/>
          </a:xfrm>
          <a:prstGeom prst="ellipse">
            <a:avLst/>
          </a:prstGeom>
          <a:solidFill>
            <a:srgbClr val="16C7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417320"/>
            <a:ext cx="484632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42254"/>
                </a:solidFill>
              </a:rPr>
              <a:t>Nuevo circuito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764792"/>
            <a:ext cx="484632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</a:rPr>
              <a:t>Archivo → Nuevo. Abre la biblioteca de componentes neumáticos.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514600"/>
            <a:ext cx="457200" cy="457200"/>
          </a:xfrm>
          <a:prstGeom prst="ellipse">
            <a:avLst/>
          </a:prstGeom>
          <a:solidFill>
            <a:srgbClr val="16C7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441448"/>
            <a:ext cx="484632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42254"/>
                </a:solidFill>
              </a:rPr>
              <a:t>Arrastrar componentes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2788920"/>
            <a:ext cx="484632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</a:rPr>
              <a:t>Cilindro de doble efecto, válvula configurable, fuente de aire, unidad de mantenimiento.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538728"/>
            <a:ext cx="457200" cy="457200"/>
          </a:xfrm>
          <a:prstGeom prst="ellipse">
            <a:avLst/>
          </a:prstGeom>
          <a:solidFill>
            <a:srgbClr val="16C7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465576"/>
            <a:ext cx="484632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42254"/>
                </a:solidFill>
              </a:rPr>
              <a:t>Configurar válvulas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813048"/>
            <a:ext cx="484632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</a:rPr>
              <a:t>Doble clic: elige 3/2, 4/2 o 5/2 y el accionamiento de cada lado (pulsador, rodillo, piloto, resorte).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4562856"/>
            <a:ext cx="457200" cy="457200"/>
          </a:xfrm>
          <a:prstGeom prst="ellipse">
            <a:avLst/>
          </a:prstGeom>
          <a:solidFill>
            <a:srgbClr val="16C7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4489704"/>
            <a:ext cx="484632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42254"/>
                </a:solidFill>
              </a:rPr>
              <a:t>Conectar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837176"/>
            <a:ext cx="484632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</a:rPr>
              <a:t>Arrastra desde un puerto hasta otro. Revisa que aparezca el punto de unión.</a:t>
            </a:r>
          </a:p>
        </p:txBody>
      </p:sp>
      <p:sp>
        <p:nvSpPr>
          <p:cNvPr id="16" name="Oval 15"/>
          <p:cNvSpPr/>
          <p:nvPr/>
        </p:nvSpPr>
        <p:spPr>
          <a:xfrm>
            <a:off x="6172200" y="1490472"/>
            <a:ext cx="457200" cy="457200"/>
          </a:xfrm>
          <a:prstGeom prst="ellipse">
            <a:avLst/>
          </a:prstGeom>
          <a:solidFill>
            <a:srgbClr val="16C7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60" y="1417320"/>
            <a:ext cx="484632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42254"/>
                </a:solidFill>
              </a:rPr>
              <a:t>Finales de carrera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0" y="1764792"/>
            <a:ext cx="484632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</a:rPr>
              <a:t>En el cilindro define marcas (a0, a1); en la válvula de rodillo escribe la MISMA etiqueta.</a:t>
            </a:r>
          </a:p>
        </p:txBody>
      </p:sp>
      <p:sp>
        <p:nvSpPr>
          <p:cNvPr id="19" name="Oval 18"/>
          <p:cNvSpPr/>
          <p:nvPr/>
        </p:nvSpPr>
        <p:spPr>
          <a:xfrm>
            <a:off x="6172200" y="2514600"/>
            <a:ext cx="457200" cy="457200"/>
          </a:xfrm>
          <a:prstGeom prst="ellipse">
            <a:avLst/>
          </a:prstGeom>
          <a:solidFill>
            <a:srgbClr val="16C7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0" y="2441448"/>
            <a:ext cx="484632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42254"/>
                </a:solidFill>
              </a:rPr>
              <a:t>Simular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0" y="2788920"/>
            <a:ext cx="484632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</a:rPr>
              <a:t>Botón Iniciar simulación. Clic en los pulsadores. Azul oscuro = línea con presión.</a:t>
            </a:r>
          </a:p>
        </p:txBody>
      </p:sp>
      <p:sp>
        <p:nvSpPr>
          <p:cNvPr id="22" name="Oval 21"/>
          <p:cNvSpPr/>
          <p:nvPr/>
        </p:nvSpPr>
        <p:spPr>
          <a:xfrm>
            <a:off x="6172200" y="3538728"/>
            <a:ext cx="457200" cy="457200"/>
          </a:xfrm>
          <a:prstGeom prst="ellipse">
            <a:avLst/>
          </a:prstGeom>
          <a:solidFill>
            <a:srgbClr val="16C7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0" y="3465576"/>
            <a:ext cx="484632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42254"/>
                </a:solidFill>
              </a:rPr>
              <a:t>Verificar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66560" y="3813048"/>
            <a:ext cx="484632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</a:rPr>
              <a:t>Agrega un diagrama de estado y compáralo con tu diagrama espacio-fase.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4526280"/>
            <a:ext cx="5486400" cy="914400"/>
          </a:xfrm>
          <a:prstGeom prst="roundRect">
            <a:avLst>
              <a:gd name="adj" fmla="val 8000"/>
            </a:avLst>
          </a:prstGeom>
          <a:solidFill>
            <a:srgbClr val="E3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309360" y="4572000"/>
            <a:ext cx="5257800" cy="8229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0B7A53"/>
                </a:solidFill>
              </a:rPr>
              <a:t>Tip: </a:t>
            </a:r>
            <a:r>
              <a:rPr sz="1300" b="0" i="0">
                <a:solidFill>
                  <a:srgbClr val="1A1A1A"/>
                </a:solidFill>
              </a:rPr>
              <a:t>dibuja siempre en reposo y por niveles, igual que en la teoría; FluidSim no ordena el esquema por ti.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64240" cy="914400"/>
          </a:xfrm>
        </p:spPr>
        <p:txBody>
          <a:bodyPr/>
          <a:lstStyle/>
          <a:p>
            <a:r>
              <a:rPr b="1" sz="3000">
                <a:solidFill>
                  <a:srgbClr val="042254"/>
                </a:solidFill>
              </a:rPr>
              <a:t>Calentamiento (20 min)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54E5EE41-98FD-4731-8C32-A1E297845612}" type="slidenum">
              <a:rPr lang="es-PE"/>
              <a:t>6</a:t>
            </a:fld>
          </a:p>
        </p:txBody>
      </p:sp>
      <p:pic>
        <p:nvPicPr>
          <p:cNvPr id="4" name="t_mando_indirecto_memoria" descr="t_mando_indirecto_memor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29245"/>
            <a:ext cx="3566160" cy="31765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4709160"/>
            <a:ext cx="356616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</a:rPr>
              <a:t>C1 · S1 → A+, S2 → A− con 5/2 biestable</a:t>
            </a:r>
          </a:p>
        </p:txBody>
      </p:sp>
      <p:pic>
        <p:nvPicPr>
          <p:cNvPr id="6" name="t_semiautomatico" descr="t_semiautomati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80" y="1504991"/>
            <a:ext cx="3931920" cy="302505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297680" y="4709160"/>
            <a:ext cx="39319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</a:rPr>
              <a:t>C2 · S1 → A+, a1 → A− (retorno automático)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58200" y="1463040"/>
            <a:ext cx="3200400" cy="3931920"/>
          </a:xfrm>
          <a:prstGeom prst="roundRect">
            <a:avLst>
              <a:gd name="adj" fmla="val 8000"/>
            </a:avLst>
          </a:prstGeom>
          <a:solidFill>
            <a:srgbClr val="E3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641080" y="1600200"/>
            <a:ext cx="283464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0B7A53"/>
                </a:solidFill>
              </a:rPr>
              <a:t>Reto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41080" y="2103120"/>
            <a:ext cx="2834640" cy="32004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19456">
              <a:spcAft>
                <a:spcPts val="800"/>
              </a:spcAft>
              <a:buClr>
                <a:srgbClr val="16C78E"/>
              </a:buClr>
              <a:buChar char="•"/>
            </a:pPr>
            <a:r>
              <a:rPr sz="1500" b="0" i="0">
                <a:solidFill>
                  <a:srgbClr val="1A1A1A"/>
                </a:solidFill>
              </a:rPr>
              <a:t>En C2 mantén S1 presionado: ¿qué pasa? ¿por qué?</a:t>
            </a:r>
          </a:p>
          <a:p>
            <a:pPr algn="l" marL="256032" indent="-219456">
              <a:spcAft>
                <a:spcPts val="800"/>
              </a:spcAft>
              <a:buClr>
                <a:srgbClr val="16C78E"/>
              </a:buClr>
              <a:buChar char="•"/>
            </a:pPr>
            <a:r>
              <a:rPr sz="1500" b="0" i="0">
                <a:solidFill>
                  <a:srgbClr val="1A1A1A"/>
                </a:solidFill>
              </a:rPr>
              <a:t>C3: haz que solo el avance sea lento (meter-out)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b="1">
                <a:solidFill>
                  <a:srgbClr val="16C78E"/>
                </a:solidFill>
              </a:rPr>
              <a:t>10  </a:t>
            </a:r>
            <a:r>
              <a:rPr b="1">
                <a:solidFill>
                  <a:srgbClr val="042254"/>
                </a:solidFill>
              </a:rPr>
              <a:t>Práctica dirigida 10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000">
                <a:solidFill>
                  <a:srgbClr val="555F6D"/>
                </a:solidFill>
              </a:rPr>
              <a:t>Cuchara de fundición y puerta de garaje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64240" cy="914400"/>
          </a:xfrm>
        </p:spPr>
        <p:txBody>
          <a:bodyPr/>
          <a:lstStyle/>
          <a:p>
            <a:r>
              <a:rPr b="1" sz="3000">
                <a:solidFill>
                  <a:srgbClr val="042254"/>
                </a:solidFill>
              </a:rPr>
              <a:t>PD 10 · Ej. 2 — Cuchara de fundición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016A42F8-DF39-4B5B-A6B5-760DC66BDDAC}" type="slidenum">
              <a:rPr lang="es-PE"/>
              <a:t>8</a:t>
            </a:fld>
          </a:p>
        </p:txBody>
      </p:sp>
      <p:sp>
        <p:nvSpPr>
          <p:cNvPr id="4" name="Rounded Rectangle 3"/>
          <p:cNvSpPr/>
          <p:nvPr/>
        </p:nvSpPr>
        <p:spPr>
          <a:xfrm>
            <a:off x="548640" y="1417320"/>
            <a:ext cx="4206240" cy="4023360"/>
          </a:xfrm>
          <a:prstGeom prst="roundRect">
            <a:avLst>
              <a:gd name="adj" fmla="val 8000"/>
            </a:avLst>
          </a:prstGeom>
          <a:solidFill>
            <a:srgbClr val="EC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enunciados/pd10_cuchara" descr="pd10_cuchar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6276" y="1508760"/>
            <a:ext cx="2890967" cy="2377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3977639"/>
            <a:ext cx="3931920" cy="1417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</a:rPr>
              <a:t>Un operador, a distancia, inicia con un botón. El vástago sale y se retrae a baja velocidad; al final de carrera un rodillo invierte el movimiento. Componentes: 4/2 pulso/pulso, 3/2 pulsador, 3/2 rodillo, 2 reguladoras.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74919" y="1371600"/>
            <a:ext cx="65836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0B7A53"/>
                </a:solidFill>
              </a:rPr>
              <a:t>Paso a paso</a:t>
            </a:r>
          </a:p>
        </p:txBody>
      </p:sp>
      <p:sp>
        <p:nvSpPr>
          <p:cNvPr id="8" name="Oval 7"/>
          <p:cNvSpPr/>
          <p:nvPr/>
        </p:nvSpPr>
        <p:spPr>
          <a:xfrm>
            <a:off x="5074919" y="1847088"/>
            <a:ext cx="384048" cy="384048"/>
          </a:xfrm>
          <a:prstGeom prst="ellipse">
            <a:avLst/>
          </a:prstGeom>
          <a:solidFill>
            <a:srgbClr val="16C7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77839" y="1801368"/>
            <a:ext cx="6080760" cy="72237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</a:rPr>
              <a:t>Escribe la secuencia y su diagrama espacio-fase.</a:t>
            </a:r>
          </a:p>
        </p:txBody>
      </p:sp>
      <p:sp>
        <p:nvSpPr>
          <p:cNvPr id="10" name="Oval 9"/>
          <p:cNvSpPr/>
          <p:nvPr/>
        </p:nvSpPr>
        <p:spPr>
          <a:xfrm>
            <a:off x="5074919" y="2569464"/>
            <a:ext cx="384048" cy="384048"/>
          </a:xfrm>
          <a:prstGeom prst="ellipse">
            <a:avLst/>
          </a:prstGeom>
          <a:solidFill>
            <a:srgbClr val="16C7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77839" y="2523744"/>
            <a:ext cx="6080760" cy="72237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</a:rPr>
              <a:t>¿Qué señal pilota 14 y cuál 12 de la 4/2?</a:t>
            </a:r>
          </a:p>
        </p:txBody>
      </p:sp>
      <p:sp>
        <p:nvSpPr>
          <p:cNvPr id="12" name="Oval 11"/>
          <p:cNvSpPr/>
          <p:nvPr/>
        </p:nvSpPr>
        <p:spPr>
          <a:xfrm>
            <a:off x="5074919" y="3291840"/>
            <a:ext cx="384048" cy="384048"/>
          </a:xfrm>
          <a:prstGeom prst="ellipse">
            <a:avLst/>
          </a:prstGeom>
          <a:solidFill>
            <a:srgbClr val="16C7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39" y="3246120"/>
            <a:ext cx="6080760" cy="72237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</a:rPr>
              <a:t>¿Dónde van las 2 reguladoras y en qué sentido el antirretorno?</a:t>
            </a:r>
          </a:p>
        </p:txBody>
      </p:sp>
      <p:sp>
        <p:nvSpPr>
          <p:cNvPr id="14" name="Oval 13"/>
          <p:cNvSpPr/>
          <p:nvPr/>
        </p:nvSpPr>
        <p:spPr>
          <a:xfrm>
            <a:off x="5074919" y="4014215"/>
            <a:ext cx="384048" cy="384048"/>
          </a:xfrm>
          <a:prstGeom prst="ellipse">
            <a:avLst/>
          </a:prstGeom>
          <a:solidFill>
            <a:srgbClr val="16C7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77839" y="3968496"/>
            <a:ext cx="6080760" cy="72237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</a:rPr>
              <a:t>Dibuja en reposo: ¿el rodillo a1 está accionado al inicio?</a:t>
            </a:r>
          </a:p>
        </p:txBody>
      </p:sp>
      <p:sp>
        <p:nvSpPr>
          <p:cNvPr id="16" name="Oval 15"/>
          <p:cNvSpPr/>
          <p:nvPr/>
        </p:nvSpPr>
        <p:spPr>
          <a:xfrm>
            <a:off x="5074919" y="4736592"/>
            <a:ext cx="384048" cy="384048"/>
          </a:xfrm>
          <a:prstGeom prst="ellipse">
            <a:avLst/>
          </a:prstGeom>
          <a:solidFill>
            <a:srgbClr val="16C7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77839" y="4690872"/>
            <a:ext cx="6080760" cy="72237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</a:rPr>
              <a:t>Simula. ¿Qué pasa si mantienes el botón presionado?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64240" cy="914400"/>
          </a:xfrm>
        </p:spPr>
        <p:txBody>
          <a:bodyPr/>
          <a:lstStyle/>
          <a:p>
            <a:r>
              <a:rPr b="1" sz="3000">
                <a:solidFill>
                  <a:srgbClr val="042254"/>
                </a:solidFill>
              </a:rPr>
              <a:t>Solución · Cuchara: A+ A−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5FE799F2-A79D-45A3-8EF5-4171A95EA5D9}" type="slidenum">
              <a:rPr lang="es-PE"/>
              <a:t>9</a:t>
            </a:fld>
          </a:p>
        </p:txBody>
      </p:sp>
      <p:pic>
        <p:nvPicPr>
          <p:cNvPr id="4" name="e1_2_cuchara" descr="e1_2_cuchar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1622" y="1280160"/>
            <a:ext cx="4169235" cy="4297680"/>
          </a:xfrm>
          <a:prstGeom prst="rect">
            <a:avLst/>
          </a:prstGeom>
        </p:spPr>
      </p:pic>
      <p:pic>
        <p:nvPicPr>
          <p:cNvPr id="5" name="fase_e1_2" descr="fase_e1_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39447" y="1325880"/>
            <a:ext cx="3209305" cy="19202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229600" y="3337560"/>
            <a:ext cx="3429000" cy="2148840"/>
          </a:xfrm>
          <a:prstGeom prst="roundRect">
            <a:avLst>
              <a:gd name="adj" fmla="val 8000"/>
            </a:avLst>
          </a:prstGeom>
          <a:solidFill>
            <a:srgbClr val="E3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339327" y="3410712"/>
            <a:ext cx="3209544" cy="20025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19456">
              <a:spcAft>
                <a:spcPts val="300"/>
              </a:spcAft>
              <a:buClr>
                <a:srgbClr val="16C78E"/>
              </a:buClr>
              <a:buChar char="•"/>
            </a:pPr>
            <a:r>
              <a:rPr sz="1400" b="0" i="0">
                <a:solidFill>
                  <a:srgbClr val="1A1A1A"/>
                </a:solidFill>
              </a:rPr>
              <a:t>S1 (3/2 NC) → 14 de VA: A+</a:t>
            </a:r>
          </a:p>
          <a:p>
            <a:pPr algn="l" marL="256032" indent="-219456">
              <a:spcAft>
                <a:spcPts val="300"/>
              </a:spcAft>
              <a:buClr>
                <a:srgbClr val="16C78E"/>
              </a:buClr>
              <a:buChar char="•"/>
            </a:pPr>
            <a:r>
              <a:rPr sz="1400" b="0" i="0">
                <a:solidFill>
                  <a:srgbClr val="1A1A1A"/>
                </a:solidFill>
              </a:rPr>
              <a:t>a1 (3/2 rodillo) → 12 de VA: A−</a:t>
            </a:r>
          </a:p>
          <a:p>
            <a:pPr algn="l" marL="256032" indent="-219456">
              <a:spcAft>
                <a:spcPts val="300"/>
              </a:spcAft>
              <a:buClr>
                <a:srgbClr val="16C78E"/>
              </a:buClr>
              <a:buChar char="•"/>
            </a:pPr>
            <a:r>
              <a:rPr sz="1400" b="0" i="0">
                <a:solidFill>
                  <a:srgbClr val="1A1A1A"/>
                </a:solidFill>
              </a:rPr>
              <a:t>R1 y R2 meter-out: paso libre hacia el cilindro</a:t>
            </a:r>
          </a:p>
          <a:p>
            <a:pPr algn="l" marL="256032" indent="-219456">
              <a:spcAft>
                <a:spcPts val="300"/>
              </a:spcAft>
              <a:buClr>
                <a:srgbClr val="16C78E"/>
              </a:buClr>
              <a:buChar char="•"/>
            </a:pPr>
            <a:r>
              <a:rPr sz="1400" b="0" i="0">
                <a:solidFill>
                  <a:srgbClr val="1A1A1A"/>
                </a:solidFill>
              </a:rPr>
              <a:t>a1 NO está accionado en reposo</a:t>
            </a:r>
          </a:p>
          <a:p>
            <a:pPr algn="l" marL="256032" indent="-219456">
              <a:spcAft>
                <a:spcPts val="300"/>
              </a:spcAft>
              <a:buClr>
                <a:srgbClr val="16C78E"/>
              </a:buClr>
              <a:buChar char="•"/>
            </a:pPr>
            <a:r>
              <a:rPr sz="1400" b="0" i="0">
                <a:solidFill>
                  <a:srgbClr val="1A1A1A"/>
                </a:solidFill>
              </a:rPr>
              <a:t>Si S1 sigue pulsado al llegar a a1, VA recibe 14 y 12 → no retrocede (señal bloqueada)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64240" cy="914400"/>
          </a:xfrm>
        </p:spPr>
        <p:txBody>
          <a:bodyPr/>
          <a:lstStyle/>
          <a:p>
            <a:r>
              <a:rPr b="1" sz="3000">
                <a:solidFill>
                  <a:srgbClr val="042254"/>
                </a:solidFill>
              </a:rPr>
              <a:t>PD 10 · Ej. 1 — Puerta de garaje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23651996-B6A3-4229-B324-1900E336EAC9}" type="slidenum">
              <a:rPr lang="es-PE"/>
              <a:t>10</a:t>
            </a:fld>
          </a:p>
        </p:txBody>
      </p:sp>
      <p:sp>
        <p:nvSpPr>
          <p:cNvPr id="4" name="Rounded Rectangle 3"/>
          <p:cNvSpPr/>
          <p:nvPr/>
        </p:nvSpPr>
        <p:spPr>
          <a:xfrm>
            <a:off x="548640" y="1417320"/>
            <a:ext cx="4206240" cy="4023360"/>
          </a:xfrm>
          <a:prstGeom prst="roundRect">
            <a:avLst>
              <a:gd name="adj" fmla="val 8000"/>
            </a:avLst>
          </a:prstGeom>
          <a:solidFill>
            <a:srgbClr val="EC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3840479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42254"/>
                </a:solidFill>
              </a:rPr>
              <a:t>Enunciado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3840479" cy="3291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A1A1A"/>
                </a:solidFill>
              </a:rPr>
              <a:t>Abrir y cerrar desde dentro y desde fuera. Un actuador. Un botón exterior y otro interior, cada uno abre Y cierra. Cierre con velocidad limitada. Al inicio la puerta está cerrada.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74919" y="1371600"/>
            <a:ext cx="65836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0B7A53"/>
                </a:solidFill>
              </a:rPr>
              <a:t>Paso a paso</a:t>
            </a:r>
          </a:p>
        </p:txBody>
      </p:sp>
      <p:sp>
        <p:nvSpPr>
          <p:cNvPr id="8" name="Oval 7"/>
          <p:cNvSpPr/>
          <p:nvPr/>
        </p:nvSpPr>
        <p:spPr>
          <a:xfrm>
            <a:off x="5074919" y="1847088"/>
            <a:ext cx="384048" cy="384048"/>
          </a:xfrm>
          <a:prstGeom prst="ellipse">
            <a:avLst/>
          </a:prstGeom>
          <a:solidFill>
            <a:srgbClr val="16C7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77839" y="1801368"/>
            <a:ext cx="6080760" cy="72237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</a:rPr>
              <a:t>¿Qué movimiento es abrir: A+ o A−? ¿Cómo empieza el cilindro?</a:t>
            </a:r>
          </a:p>
        </p:txBody>
      </p:sp>
      <p:sp>
        <p:nvSpPr>
          <p:cNvPr id="10" name="Oval 9"/>
          <p:cNvSpPr/>
          <p:nvPr/>
        </p:nvSpPr>
        <p:spPr>
          <a:xfrm>
            <a:off x="5074919" y="2569464"/>
            <a:ext cx="384048" cy="384048"/>
          </a:xfrm>
          <a:prstGeom prst="ellipse">
            <a:avLst/>
          </a:prstGeom>
          <a:solidFill>
            <a:srgbClr val="16C7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77839" y="2523744"/>
            <a:ext cx="6080760" cy="72237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</a:rPr>
              <a:t>Dos lugares de mando → ¿qué función lógica?</a:t>
            </a:r>
          </a:p>
        </p:txBody>
      </p:sp>
      <p:sp>
        <p:nvSpPr>
          <p:cNvPr id="12" name="Oval 11"/>
          <p:cNvSpPr/>
          <p:nvPr/>
        </p:nvSpPr>
        <p:spPr>
          <a:xfrm>
            <a:off x="5074919" y="3291840"/>
            <a:ext cx="384048" cy="384048"/>
          </a:xfrm>
          <a:prstGeom prst="ellipse">
            <a:avLst/>
          </a:prstGeom>
          <a:solidFill>
            <a:srgbClr val="16C7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39" y="3246120"/>
            <a:ext cx="6080760" cy="72237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</a:rPr>
              <a:t>Un mismo botón abre y cierra: ¿de qué depende la orden?</a:t>
            </a:r>
          </a:p>
        </p:txBody>
      </p:sp>
      <p:sp>
        <p:nvSpPr>
          <p:cNvPr id="14" name="Oval 13"/>
          <p:cNvSpPr/>
          <p:nvPr/>
        </p:nvSpPr>
        <p:spPr>
          <a:xfrm>
            <a:off x="5074919" y="4014215"/>
            <a:ext cx="384048" cy="384048"/>
          </a:xfrm>
          <a:prstGeom prst="ellipse">
            <a:avLst/>
          </a:prstGeom>
          <a:solidFill>
            <a:srgbClr val="16C7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77839" y="3968496"/>
            <a:ext cx="6080760" cy="72237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</a:rPr>
              <a:t>¿Qué válvula de potencia 'recuerda' si la puerta quedó abierta?</a:t>
            </a:r>
          </a:p>
        </p:txBody>
      </p:sp>
      <p:sp>
        <p:nvSpPr>
          <p:cNvPr id="16" name="Oval 15"/>
          <p:cNvSpPr/>
          <p:nvPr/>
        </p:nvSpPr>
        <p:spPr>
          <a:xfrm>
            <a:off x="5074919" y="4736592"/>
            <a:ext cx="384048" cy="384048"/>
          </a:xfrm>
          <a:prstGeom prst="ellipse">
            <a:avLst/>
          </a:prstGeom>
          <a:solidFill>
            <a:srgbClr val="16C7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77839" y="4690872"/>
            <a:ext cx="6080760" cy="72237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</a:rPr>
              <a:t>¿Dónde limitas solo la velocidad de cierre?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64240" cy="914400"/>
          </a:xfrm>
        </p:spPr>
        <p:txBody>
          <a:bodyPr/>
          <a:lstStyle/>
          <a:p>
            <a:r>
              <a:rPr b="1" sz="3000">
                <a:solidFill>
                  <a:srgbClr val="042254"/>
                </a:solidFill>
              </a:rPr>
              <a:t>Solución · Puerta: botón conmutado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864A4A8E-073B-4BA4-9A5B-C9918B09086C}" type="slidenum">
              <a:rPr lang="es-PE"/>
              <a:t>11</a:t>
            </a:fld>
          </a:p>
        </p:txBody>
      </p:sp>
      <p:pic>
        <p:nvPicPr>
          <p:cNvPr id="4" name="e1_1_puerta_conmutada" descr="e1_1_puerta_conmuta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0449" y="1280160"/>
            <a:ext cx="3197020" cy="429768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035040" y="1417320"/>
            <a:ext cx="5623559" cy="4069080"/>
          </a:xfrm>
          <a:prstGeom prst="roundRect">
            <a:avLst>
              <a:gd name="adj" fmla="val 8000"/>
            </a:avLst>
          </a:prstGeom>
          <a:solidFill>
            <a:srgbClr val="E3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144768" y="1490472"/>
            <a:ext cx="5404103" cy="392277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19456">
              <a:spcAft>
                <a:spcPts val="300"/>
              </a:spcAft>
              <a:buClr>
                <a:srgbClr val="16C78E"/>
              </a:buClr>
              <a:buChar char="•"/>
            </a:pPr>
            <a:r>
              <a:rPr sz="1400" b="0" i="0">
                <a:solidFill>
                  <a:srgbClr val="1A1A1A"/>
                </a:solidFill>
              </a:rPr>
              <a:t>S1 O S2 (selectora) alimenta a los rodillos a0 y a1</a:t>
            </a:r>
          </a:p>
          <a:p>
            <a:pPr algn="l" marL="256032" indent="-219456">
              <a:spcAft>
                <a:spcPts val="300"/>
              </a:spcAft>
              <a:buClr>
                <a:srgbClr val="16C78E"/>
              </a:buClr>
              <a:buChar char="•"/>
            </a:pPr>
            <a:r>
              <a:rPr sz="1400" b="0" i="0">
                <a:solidFill>
                  <a:srgbClr val="1A1A1A"/>
                </a:solidFill>
              </a:rPr>
              <a:t>Puerta cerrada → a0 pisado → 14: abre (A+)</a:t>
            </a:r>
          </a:p>
          <a:p>
            <a:pPr algn="l" marL="256032" indent="-219456">
              <a:spcAft>
                <a:spcPts val="300"/>
              </a:spcAft>
              <a:buClr>
                <a:srgbClr val="16C78E"/>
              </a:buClr>
              <a:buChar char="•"/>
            </a:pPr>
            <a:r>
              <a:rPr sz="1400" b="0" i="0">
                <a:solidFill>
                  <a:srgbClr val="1A1A1A"/>
                </a:solidFill>
              </a:rPr>
              <a:t>Puerta abierta → a1 pisado → 12: cierra (A−)</a:t>
            </a:r>
          </a:p>
          <a:p>
            <a:pPr algn="l" marL="256032" indent="-219456">
              <a:spcAft>
                <a:spcPts val="300"/>
              </a:spcAft>
              <a:buClr>
                <a:srgbClr val="16C78E"/>
              </a:buClr>
              <a:buChar char="•"/>
            </a:pPr>
            <a:r>
              <a:rPr sz="1400" b="0" i="0">
                <a:solidFill>
                  <a:srgbClr val="1A1A1A"/>
                </a:solidFill>
              </a:rPr>
              <a:t>VA 5/2 biestable = memoria</a:t>
            </a:r>
          </a:p>
          <a:p>
            <a:pPr algn="l" marL="256032" indent="-219456">
              <a:spcAft>
                <a:spcPts val="300"/>
              </a:spcAft>
              <a:buClr>
                <a:srgbClr val="16C78E"/>
              </a:buClr>
              <a:buChar char="•"/>
            </a:pPr>
            <a:r>
              <a:rPr sz="1400" b="0" i="0">
                <a:solidFill>
                  <a:srgbClr val="1A1A1A"/>
                </a:solidFill>
              </a:rPr>
              <a:t>R1 en la cámara posterior: frena el escape al cerrar (A−)</a:t>
            </a:r>
          </a:p>
          <a:p>
            <a:pPr algn="l" marL="256032" indent="-219456">
              <a:spcAft>
                <a:spcPts val="300"/>
              </a:spcAft>
              <a:buClr>
                <a:srgbClr val="16C78E"/>
              </a:buClr>
              <a:buChar char="•"/>
            </a:pPr>
            <a:r>
              <a:rPr sz="1400" b="0" i="0">
                <a:solidFill>
                  <a:srgbClr val="1A1A1A"/>
                </a:solidFill>
              </a:rPr>
              <a:t>A mitad de carrera el botón no hace nada; si se mantiene pulsado, la puerta oscila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64240" cy="914400"/>
          </a:xfrm>
        </p:spPr>
        <p:txBody>
          <a:bodyPr/>
          <a:lstStyle/>
          <a:p>
            <a:r>
              <a:rPr b="1" sz="3000">
                <a:solidFill>
                  <a:srgbClr val="042254"/>
                </a:solidFill>
              </a:rPr>
              <a:t>Variante · Puerta con botonera (4 pulsadores)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300A5296-1920-4526-8A8F-899B7CA73C6D}" type="slidenum">
              <a:rPr lang="es-PE"/>
              <a:t>12</a:t>
            </a:fld>
          </a:p>
        </p:txBody>
      </p:sp>
      <p:pic>
        <p:nvPicPr>
          <p:cNvPr id="4" name="e1_1_puerta_botonera" descr="e1_1_puerta_botoner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4759" y="1280160"/>
            <a:ext cx="3982800" cy="429768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949440" y="1417320"/>
            <a:ext cx="4709159" cy="4069080"/>
          </a:xfrm>
          <a:prstGeom prst="roundRect">
            <a:avLst>
              <a:gd name="adj" fmla="val 8000"/>
            </a:avLst>
          </a:prstGeom>
          <a:solidFill>
            <a:srgbClr val="E3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059168" y="1490472"/>
            <a:ext cx="4489703" cy="392277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19456">
              <a:spcAft>
                <a:spcPts val="300"/>
              </a:spcAft>
              <a:buClr>
                <a:srgbClr val="16C78E"/>
              </a:buClr>
              <a:buChar char="•"/>
            </a:pPr>
            <a:r>
              <a:rPr sz="1400" b="0" i="0">
                <a:solidFill>
                  <a:srgbClr val="1A1A1A"/>
                </a:solidFill>
              </a:rPr>
              <a:t>Abrir: S1 (interior) O S2 (exterior) → 14</a:t>
            </a:r>
          </a:p>
          <a:p>
            <a:pPr algn="l" marL="256032" indent="-219456">
              <a:spcAft>
                <a:spcPts val="300"/>
              </a:spcAft>
              <a:buClr>
                <a:srgbClr val="16C78E"/>
              </a:buClr>
              <a:buChar char="•"/>
            </a:pPr>
            <a:r>
              <a:rPr sz="1400" b="0" i="0">
                <a:solidFill>
                  <a:srgbClr val="1A1A1A"/>
                </a:solidFill>
              </a:rPr>
              <a:t>Cerrar: S3 (interior) O S4 (exterior) → 12</a:t>
            </a:r>
          </a:p>
          <a:p>
            <a:pPr algn="l" marL="256032" indent="-219456">
              <a:spcAft>
                <a:spcPts val="300"/>
              </a:spcAft>
              <a:buClr>
                <a:srgbClr val="16C78E"/>
              </a:buClr>
              <a:buChar char="•"/>
            </a:pPr>
            <a:r>
              <a:rPr sz="1400" b="0" i="0">
                <a:solidFill>
                  <a:srgbClr val="1A1A1A"/>
                </a:solidFill>
              </a:rPr>
              <a:t>Dos válvulas selectoras</a:t>
            </a:r>
          </a:p>
          <a:p>
            <a:pPr algn="l" marL="256032" indent="-219456">
              <a:spcAft>
                <a:spcPts val="300"/>
              </a:spcAft>
              <a:buClr>
                <a:srgbClr val="16C78E"/>
              </a:buClr>
              <a:buChar char="•"/>
            </a:pPr>
            <a:r>
              <a:rPr sz="1400" b="0" i="0">
                <a:solidFill>
                  <a:srgbClr val="1A1A1A"/>
                </a:solidFill>
              </a:rPr>
              <a:t>Más simple de razonar; usa más pulsadores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b="1">
                <a:solidFill>
                  <a:srgbClr val="16C78E"/>
                </a:solidFill>
              </a:rPr>
              <a:t>11  </a:t>
            </a:r>
            <a:r>
              <a:rPr b="1">
                <a:solidFill>
                  <a:srgbClr val="042254"/>
                </a:solidFill>
              </a:rPr>
              <a:t>Práctica dirigida 11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000">
                <a:solidFill>
                  <a:srgbClr val="555F6D"/>
                </a:solidFill>
              </a:rPr>
              <a:t>Secuencias con método cascada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64240" cy="914400"/>
          </a:xfrm>
        </p:spPr>
        <p:txBody>
          <a:bodyPr/>
          <a:lstStyle/>
          <a:p>
            <a:r>
              <a:rPr b="1" sz="3000">
                <a:solidFill>
                  <a:srgbClr val="042254"/>
                </a:solidFill>
              </a:rPr>
              <a:t>PD 11 · Ej. 2 — Dobladora de chapa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142098E5-6E81-4760-8C69-8C19DB866971}" type="slidenum">
              <a:rPr lang="es-PE"/>
              <a:t>14</a:t>
            </a:fld>
          </a:p>
        </p:txBody>
      </p:sp>
      <p:sp>
        <p:nvSpPr>
          <p:cNvPr id="4" name="Rounded Rectangle 3"/>
          <p:cNvSpPr/>
          <p:nvPr/>
        </p:nvSpPr>
        <p:spPr>
          <a:xfrm>
            <a:off x="548640" y="1417320"/>
            <a:ext cx="4206240" cy="4023360"/>
          </a:xfrm>
          <a:prstGeom prst="roundRect">
            <a:avLst>
              <a:gd name="adj" fmla="val 8000"/>
            </a:avLst>
          </a:prstGeom>
          <a:solidFill>
            <a:srgbClr val="EC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enunciados/pd11_dobladora" descr="pd11_doblador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6581" y="1508760"/>
            <a:ext cx="3890356" cy="2377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3977639"/>
            <a:ext cx="3931920" cy="1417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</a:rPr>
              <a:t>A sujeta, B hace el 1.er doblez, C el 2.º; luego todos regresan a la vez. Pulsador alejado. Sujeción y doblado lentos. Solo se inicia si el ciclo terminó.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74919" y="1371600"/>
            <a:ext cx="65836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0B7A53"/>
                </a:solidFill>
              </a:rPr>
              <a:t>Paso a paso</a:t>
            </a:r>
          </a:p>
        </p:txBody>
      </p:sp>
      <p:sp>
        <p:nvSpPr>
          <p:cNvPr id="8" name="Oval 7"/>
          <p:cNvSpPr/>
          <p:nvPr/>
        </p:nvSpPr>
        <p:spPr>
          <a:xfrm>
            <a:off x="5074919" y="1847088"/>
            <a:ext cx="384048" cy="384048"/>
          </a:xfrm>
          <a:prstGeom prst="ellipse">
            <a:avLst/>
          </a:prstGeom>
          <a:solidFill>
            <a:srgbClr val="16C7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77839" y="1801368"/>
            <a:ext cx="6080760" cy="72237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</a:rPr>
              <a:t>Secuencia: A+ B+ C+ (A− B− C−). Dibuja el espacio-fase.</a:t>
            </a:r>
          </a:p>
        </p:txBody>
      </p:sp>
      <p:sp>
        <p:nvSpPr>
          <p:cNvPr id="10" name="Oval 9"/>
          <p:cNvSpPr/>
          <p:nvPr/>
        </p:nvSpPr>
        <p:spPr>
          <a:xfrm>
            <a:off x="5074919" y="2569464"/>
            <a:ext cx="384048" cy="384048"/>
          </a:xfrm>
          <a:prstGeom prst="ellipse">
            <a:avLst/>
          </a:prstGeom>
          <a:solidFill>
            <a:srgbClr val="16C7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77839" y="2523744"/>
            <a:ext cx="6080760" cy="72237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</a:rPr>
              <a:t>¿Hay señales bloqueadas? Revisa a1 y b1 al retroceder.</a:t>
            </a:r>
          </a:p>
        </p:txBody>
      </p:sp>
      <p:sp>
        <p:nvSpPr>
          <p:cNvPr id="12" name="Oval 11"/>
          <p:cNvSpPr/>
          <p:nvPr/>
        </p:nvSpPr>
        <p:spPr>
          <a:xfrm>
            <a:off x="5074919" y="3291840"/>
            <a:ext cx="384048" cy="384048"/>
          </a:xfrm>
          <a:prstGeom prst="ellipse">
            <a:avLst/>
          </a:prstGeom>
          <a:solidFill>
            <a:srgbClr val="16C7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39" y="3246120"/>
            <a:ext cx="6080760" cy="72237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</a:rPr>
              <a:t>Forma los grupos. ¿Cuántas válvulas selectoras?</a:t>
            </a:r>
          </a:p>
        </p:txBody>
      </p:sp>
      <p:sp>
        <p:nvSpPr>
          <p:cNvPr id="14" name="Oval 13"/>
          <p:cNvSpPr/>
          <p:nvPr/>
        </p:nvSpPr>
        <p:spPr>
          <a:xfrm>
            <a:off x="5074919" y="4014215"/>
            <a:ext cx="384048" cy="384048"/>
          </a:xfrm>
          <a:prstGeom prst="ellipse">
            <a:avLst/>
          </a:prstGeom>
          <a:solidFill>
            <a:srgbClr val="16C7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77839" y="3968496"/>
            <a:ext cx="6080760" cy="72237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</a:rPr>
              <a:t>Condición de arranque: ¿qué finales de carrera van en serie con S?</a:t>
            </a:r>
          </a:p>
        </p:txBody>
      </p:sp>
      <p:sp>
        <p:nvSpPr>
          <p:cNvPr id="16" name="Oval 15"/>
          <p:cNvSpPr/>
          <p:nvPr/>
        </p:nvSpPr>
        <p:spPr>
          <a:xfrm>
            <a:off x="5074919" y="4736592"/>
            <a:ext cx="384048" cy="384048"/>
          </a:xfrm>
          <a:prstGeom prst="ellipse">
            <a:avLst/>
          </a:prstGeom>
          <a:solidFill>
            <a:srgbClr val="16C7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77839" y="4690872"/>
            <a:ext cx="6080760" cy="72237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</a:rPr>
              <a:t>Reguladoras: ¿en qué línea frenas el avance?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64240" cy="914400"/>
          </a:xfrm>
        </p:spPr>
        <p:txBody>
          <a:bodyPr/>
          <a:lstStyle/>
          <a:p>
            <a:r>
              <a:rPr b="1" sz="3000">
                <a:solidFill>
                  <a:srgbClr val="042254"/>
                </a:solidFill>
              </a:rPr>
              <a:t>Solución · Dobladora (2 grupos)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AA7D27F9-F9A9-405A-87E1-31CF8CEAA5E7}" type="slidenum">
              <a:rPr lang="es-PE"/>
              <a:t>15</a:t>
            </a:fld>
          </a:p>
        </p:txBody>
      </p:sp>
      <p:pic>
        <p:nvPicPr>
          <p:cNvPr id="4" name="e2_2_doblado" descr="e2_2_doblad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526" y="1280160"/>
            <a:ext cx="6715427" cy="4297680"/>
          </a:xfrm>
          <a:prstGeom prst="rect">
            <a:avLst/>
          </a:prstGeom>
        </p:spPr>
      </p:pic>
      <p:pic>
        <p:nvPicPr>
          <p:cNvPr id="5" name="fase_e2_2" descr="fase_e2_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13441" y="1325880"/>
            <a:ext cx="2661317" cy="19202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229600" y="3337560"/>
            <a:ext cx="3429000" cy="2148840"/>
          </a:xfrm>
          <a:prstGeom prst="roundRect">
            <a:avLst>
              <a:gd name="adj" fmla="val 8000"/>
            </a:avLst>
          </a:prstGeom>
          <a:solidFill>
            <a:srgbClr val="E3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339327" y="3410712"/>
            <a:ext cx="3209544" cy="20025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19456">
              <a:spcAft>
                <a:spcPts val="300"/>
              </a:spcAft>
              <a:buClr>
                <a:srgbClr val="16C78E"/>
              </a:buClr>
              <a:buChar char="•"/>
            </a:pPr>
            <a:r>
              <a:rPr sz="1400" b="0" i="0">
                <a:solidFill>
                  <a:srgbClr val="1A1A1A"/>
                </a:solidFill>
              </a:rPr>
              <a:t>I: A+ directo; a1 → B+; b1 → C+; c1 → II</a:t>
            </a:r>
          </a:p>
          <a:p>
            <a:pPr algn="l" marL="256032" indent="-219456">
              <a:spcAft>
                <a:spcPts val="300"/>
              </a:spcAft>
              <a:buClr>
                <a:srgbClr val="16C78E"/>
              </a:buClr>
              <a:buChar char="•"/>
            </a:pPr>
            <a:r>
              <a:rPr sz="1400" b="0" i="0">
                <a:solidFill>
                  <a:srgbClr val="1A1A1A"/>
                </a:solidFill>
              </a:rPr>
              <a:t>II: A−, B−, C− directos</a:t>
            </a:r>
          </a:p>
          <a:p>
            <a:pPr algn="l" marL="256032" indent="-219456">
              <a:spcAft>
                <a:spcPts val="300"/>
              </a:spcAft>
              <a:buClr>
                <a:srgbClr val="16C78E"/>
              </a:buClr>
              <a:buChar char="•"/>
            </a:pPr>
            <a:r>
              <a:rPr sz="1400" b="0" i="0">
                <a:solidFill>
                  <a:srgbClr val="1A1A1A"/>
                </a:solidFill>
              </a:rPr>
              <a:t>Arranque: a0 · b0 · c0 · S → VG 14</a:t>
            </a:r>
          </a:p>
          <a:p>
            <a:pPr algn="l" marL="256032" indent="-219456">
              <a:spcAft>
                <a:spcPts val="300"/>
              </a:spcAft>
              <a:buClr>
                <a:srgbClr val="16C78E"/>
              </a:buClr>
              <a:buChar char="•"/>
            </a:pPr>
            <a:r>
              <a:rPr sz="1400" b="0" i="0">
                <a:solidFill>
                  <a:srgbClr val="1A1A1A"/>
                </a:solidFill>
              </a:rPr>
              <a:t>Meter-out en lado vástago (avance lento)</a:t>
            </a:r>
          </a:p>
          <a:p>
            <a:pPr algn="l" marL="256032" indent="-219456">
              <a:spcAft>
                <a:spcPts val="300"/>
              </a:spcAft>
              <a:buClr>
                <a:srgbClr val="16C78E"/>
              </a:buClr>
              <a:buChar char="•"/>
            </a:pPr>
            <a:r>
              <a:rPr sz="1400" b="0" i="0">
                <a:solidFill>
                  <a:srgbClr val="1A1A1A"/>
                </a:solidFill>
              </a:rPr>
              <a:t>a0, b0, c0 dibujados accionados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64240" cy="914400"/>
          </a:xfrm>
        </p:spPr>
        <p:txBody>
          <a:bodyPr/>
          <a:lstStyle/>
          <a:p>
            <a:r>
              <a:rPr b="1" sz="3000">
                <a:solidFill>
                  <a:srgbClr val="042254"/>
                </a:solidFill>
              </a:rPr>
              <a:t>PD 11 · Ej. 3 — Prensa de bandejas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F7BAD966-3EA2-4F6F-A06B-A7F96910B5BE}" type="slidenum">
              <a:rPr lang="es-PE"/>
              <a:t>16</a:t>
            </a:fld>
          </a:p>
        </p:txBody>
      </p:sp>
      <p:sp>
        <p:nvSpPr>
          <p:cNvPr id="4" name="Rounded Rectangle 3"/>
          <p:cNvSpPr/>
          <p:nvPr/>
        </p:nvSpPr>
        <p:spPr>
          <a:xfrm>
            <a:off x="548640" y="1417320"/>
            <a:ext cx="4206240" cy="4023360"/>
          </a:xfrm>
          <a:prstGeom prst="roundRect">
            <a:avLst>
              <a:gd name="adj" fmla="val 8000"/>
            </a:avLst>
          </a:prstGeom>
          <a:solidFill>
            <a:srgbClr val="EC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enunciados/pd11_prensa" descr="pd11_prens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8412" y="1508760"/>
            <a:ext cx="2126694" cy="2377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3977639"/>
            <a:ext cx="3931920" cy="1417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</a:rPr>
              <a:t>Pedal O pulsador (a 2 m). Las plataformas 3 y 4 salen a la vez y aplastan la lámina; luego 3 se retira rápido y, cuando está contraída, 4 también. Salida lenta, retorno rápido. La plataforma 4 debe estar en su posición inicial para empezar.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74919" y="1371600"/>
            <a:ext cx="65836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0B7A53"/>
                </a:solidFill>
              </a:rPr>
              <a:t>Paso a paso</a:t>
            </a:r>
          </a:p>
        </p:txBody>
      </p:sp>
      <p:sp>
        <p:nvSpPr>
          <p:cNvPr id="8" name="Oval 7"/>
          <p:cNvSpPr/>
          <p:nvPr/>
        </p:nvSpPr>
        <p:spPr>
          <a:xfrm>
            <a:off x="5074919" y="1847088"/>
            <a:ext cx="384048" cy="384048"/>
          </a:xfrm>
          <a:prstGeom prst="ellipse">
            <a:avLst/>
          </a:prstGeom>
          <a:solidFill>
            <a:srgbClr val="16C7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77839" y="1801368"/>
            <a:ext cx="6080760" cy="72237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</a:rPr>
              <a:t>Nombra A = plataforma 3, B = plataforma 4. Escribe la secuencia.</a:t>
            </a:r>
          </a:p>
        </p:txBody>
      </p:sp>
      <p:sp>
        <p:nvSpPr>
          <p:cNvPr id="10" name="Oval 9"/>
          <p:cNvSpPr/>
          <p:nvPr/>
        </p:nvSpPr>
        <p:spPr>
          <a:xfrm>
            <a:off x="5074919" y="2569464"/>
            <a:ext cx="384048" cy="384048"/>
          </a:xfrm>
          <a:prstGeom prst="ellipse">
            <a:avLst/>
          </a:prstGeom>
          <a:solidFill>
            <a:srgbClr val="16C7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77839" y="2523744"/>
            <a:ext cx="6080760" cy="72237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</a:rPr>
              <a:t>Arranque: ¿cómo combinas pedal, pulsador y b0?</a:t>
            </a:r>
          </a:p>
        </p:txBody>
      </p:sp>
      <p:sp>
        <p:nvSpPr>
          <p:cNvPr id="12" name="Oval 11"/>
          <p:cNvSpPr/>
          <p:nvPr/>
        </p:nvSpPr>
        <p:spPr>
          <a:xfrm>
            <a:off x="5074919" y="3291840"/>
            <a:ext cx="384048" cy="384048"/>
          </a:xfrm>
          <a:prstGeom prst="ellipse">
            <a:avLst/>
          </a:prstGeom>
          <a:solidFill>
            <a:srgbClr val="16C7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39" y="3246120"/>
            <a:ext cx="6080760" cy="72237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</a:rPr>
              <a:t>¿a0 bloquea algo? (pista: a0 manda B− y está pisado al inicio)</a:t>
            </a:r>
          </a:p>
        </p:txBody>
      </p:sp>
      <p:sp>
        <p:nvSpPr>
          <p:cNvPr id="14" name="Oval 13"/>
          <p:cNvSpPr/>
          <p:nvPr/>
        </p:nvSpPr>
        <p:spPr>
          <a:xfrm>
            <a:off x="5074919" y="4014215"/>
            <a:ext cx="384048" cy="384048"/>
          </a:xfrm>
          <a:prstGeom prst="ellipse">
            <a:avLst/>
          </a:prstGeom>
          <a:solidFill>
            <a:srgbClr val="16C7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77839" y="3968496"/>
            <a:ext cx="6080760" cy="72237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</a:rPr>
              <a:t>Grupos y válvula selectora.</a:t>
            </a:r>
          </a:p>
        </p:txBody>
      </p:sp>
      <p:sp>
        <p:nvSpPr>
          <p:cNvPr id="16" name="Oval 15"/>
          <p:cNvSpPr/>
          <p:nvPr/>
        </p:nvSpPr>
        <p:spPr>
          <a:xfrm>
            <a:off x="5074919" y="4736592"/>
            <a:ext cx="384048" cy="384048"/>
          </a:xfrm>
          <a:prstGeom prst="ellipse">
            <a:avLst/>
          </a:prstGeom>
          <a:solidFill>
            <a:srgbClr val="16C7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77839" y="4690872"/>
            <a:ext cx="6080760" cy="72237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</a:rPr>
              <a:t>¿Cómo logras salida lenta y retorno rápido?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64240" cy="914400"/>
          </a:xfrm>
        </p:spPr>
        <p:txBody>
          <a:bodyPr/>
          <a:lstStyle/>
          <a:p>
            <a:r>
              <a:rPr b="1" sz="3000">
                <a:solidFill>
                  <a:srgbClr val="042254"/>
                </a:solidFill>
              </a:rPr>
              <a:t>Solución · Prensa (2 grupos)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7CCA05F4-C269-43A1-9AA5-04F587EA02F0}" type="slidenum">
              <a:rPr lang="es-PE"/>
              <a:t>17</a:t>
            </a:fld>
          </a:p>
        </p:txBody>
      </p:sp>
      <p:pic>
        <p:nvPicPr>
          <p:cNvPr id="4" name="e2_3_prensa" descr="e2_3_prens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448" y="1280160"/>
            <a:ext cx="6131582" cy="4297680"/>
          </a:xfrm>
          <a:prstGeom prst="rect">
            <a:avLst/>
          </a:prstGeom>
        </p:spPr>
      </p:pic>
      <p:pic>
        <p:nvPicPr>
          <p:cNvPr id="5" name="fase_e2_3" descr="fase_e2_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71832" y="1325880"/>
            <a:ext cx="2944535" cy="19202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229600" y="3337560"/>
            <a:ext cx="3429000" cy="2148840"/>
          </a:xfrm>
          <a:prstGeom prst="roundRect">
            <a:avLst>
              <a:gd name="adj" fmla="val 8000"/>
            </a:avLst>
          </a:prstGeom>
          <a:solidFill>
            <a:srgbClr val="E3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339327" y="3410712"/>
            <a:ext cx="3209544" cy="20025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19456">
              <a:spcAft>
                <a:spcPts val="300"/>
              </a:spcAft>
              <a:buClr>
                <a:srgbClr val="16C78E"/>
              </a:buClr>
              <a:buChar char="•"/>
            </a:pPr>
            <a:r>
              <a:rPr sz="1400" b="0" i="0">
                <a:solidFill>
                  <a:srgbClr val="1A1A1A"/>
                </a:solidFill>
              </a:rPr>
              <a:t>Arranque: (P O S) · b0 → VG 14</a:t>
            </a:r>
          </a:p>
          <a:p>
            <a:pPr algn="l" marL="256032" indent="-219456">
              <a:spcAft>
                <a:spcPts val="300"/>
              </a:spcAft>
              <a:buClr>
                <a:srgbClr val="16C78E"/>
              </a:buClr>
              <a:buChar char="•"/>
            </a:pPr>
            <a:r>
              <a:rPr sz="1400" b="0" i="0">
                <a:solidFill>
                  <a:srgbClr val="1A1A1A"/>
                </a:solidFill>
              </a:rPr>
              <a:t>I: A+ y B+ directos</a:t>
            </a:r>
          </a:p>
          <a:p>
            <a:pPr algn="l" marL="256032" indent="-219456">
              <a:spcAft>
                <a:spcPts val="300"/>
              </a:spcAft>
              <a:buClr>
                <a:srgbClr val="16C78E"/>
              </a:buClr>
              <a:buChar char="•"/>
            </a:pPr>
            <a:r>
              <a:rPr sz="1400" b="0" i="0">
                <a:solidFill>
                  <a:srgbClr val="1A1A1A"/>
                </a:solidFill>
              </a:rPr>
              <a:t>a1 · b1 (serie) → VG 12</a:t>
            </a:r>
          </a:p>
          <a:p>
            <a:pPr algn="l" marL="256032" indent="-219456">
              <a:spcAft>
                <a:spcPts val="300"/>
              </a:spcAft>
              <a:buClr>
                <a:srgbClr val="16C78E"/>
              </a:buClr>
              <a:buChar char="•"/>
            </a:pPr>
            <a:r>
              <a:rPr sz="1400" b="0" i="0">
                <a:solidFill>
                  <a:srgbClr val="1A1A1A"/>
                </a:solidFill>
              </a:rPr>
              <a:t>II: A− directo; a0 → B−</a:t>
            </a:r>
          </a:p>
          <a:p>
            <a:pPr algn="l" marL="256032" indent="-219456">
              <a:spcAft>
                <a:spcPts val="300"/>
              </a:spcAft>
              <a:buClr>
                <a:srgbClr val="16C78E"/>
              </a:buClr>
              <a:buChar char="•"/>
            </a:pPr>
            <a:r>
              <a:rPr sz="1400" b="0" i="0">
                <a:solidFill>
                  <a:srgbClr val="1A1A1A"/>
                </a:solidFill>
              </a:rPr>
              <a:t>Meter-out en el avance; retorno libre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64240" cy="914400"/>
          </a:xfrm>
        </p:spPr>
        <p:txBody>
          <a:bodyPr/>
          <a:lstStyle/>
          <a:p>
            <a:r>
              <a:rPr b="1" sz="3000">
                <a:solidFill>
                  <a:srgbClr val="042254"/>
                </a:solidFill>
              </a:rPr>
              <a:t>PD 11 · Ej. 1 — Estampado y selección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2C950947-B5F0-4766-8BB1-5E62D9F0A48F}" type="slidenum">
              <a:rPr lang="es-PE"/>
              <a:t>18</a:t>
            </a:fld>
          </a:p>
        </p:txBody>
      </p:sp>
      <p:sp>
        <p:nvSpPr>
          <p:cNvPr id="4" name="Rounded Rectangle 3"/>
          <p:cNvSpPr/>
          <p:nvPr/>
        </p:nvSpPr>
        <p:spPr>
          <a:xfrm>
            <a:off x="548640" y="1417320"/>
            <a:ext cx="4572000" cy="4023360"/>
          </a:xfrm>
          <a:prstGeom prst="roundRect">
            <a:avLst>
              <a:gd name="adj" fmla="val 8000"/>
            </a:avLst>
          </a:prstGeom>
          <a:solidFill>
            <a:srgbClr val="EC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enunciados/pd11_estampado" descr="pd11_estampad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1182" y="1508760"/>
            <a:ext cx="3926915" cy="2377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3977639"/>
            <a:ext cx="4297680" cy="1417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</a:rPr>
              <a:t>Botón 'Iniciar estampado': A sujeta, B estampa, A y B se retraen, C entrega a la faja y regresa. En la faja, 3 botones independientes accionan los selectores D, E, F (sin finales de carrera).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40679" y="1371600"/>
            <a:ext cx="621792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0B7A53"/>
                </a:solidFill>
              </a:rPr>
              <a:t>Paso a paso</a:t>
            </a:r>
          </a:p>
        </p:txBody>
      </p:sp>
      <p:sp>
        <p:nvSpPr>
          <p:cNvPr id="8" name="Oval 7"/>
          <p:cNvSpPr/>
          <p:nvPr/>
        </p:nvSpPr>
        <p:spPr>
          <a:xfrm>
            <a:off x="5440679" y="1847088"/>
            <a:ext cx="384048" cy="384048"/>
          </a:xfrm>
          <a:prstGeom prst="ellipse">
            <a:avLst/>
          </a:prstGeom>
          <a:solidFill>
            <a:srgbClr val="16C7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599" y="1801368"/>
            <a:ext cx="5715000" cy="72237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</a:rPr>
              <a:t>Secuencia: A+ B+ (A− B−) C+ C−. Espacio-fase.</a:t>
            </a:r>
          </a:p>
        </p:txBody>
      </p:sp>
      <p:sp>
        <p:nvSpPr>
          <p:cNvPr id="10" name="Oval 9"/>
          <p:cNvSpPr/>
          <p:nvPr/>
        </p:nvSpPr>
        <p:spPr>
          <a:xfrm>
            <a:off x="5440679" y="2569464"/>
            <a:ext cx="384048" cy="384048"/>
          </a:xfrm>
          <a:prstGeom prst="ellipse">
            <a:avLst/>
          </a:prstGeom>
          <a:solidFill>
            <a:srgbClr val="16C7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599" y="2523744"/>
            <a:ext cx="5715000" cy="72237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</a:rPr>
              <a:t>Agrupa. ¿Puedes unir el último grupo con el primero?</a:t>
            </a:r>
          </a:p>
        </p:txBody>
      </p:sp>
      <p:sp>
        <p:nvSpPr>
          <p:cNvPr id="12" name="Oval 11"/>
          <p:cNvSpPr/>
          <p:nvPr/>
        </p:nvSpPr>
        <p:spPr>
          <a:xfrm>
            <a:off x="5440679" y="3291840"/>
            <a:ext cx="384048" cy="384048"/>
          </a:xfrm>
          <a:prstGeom prst="ellipse">
            <a:avLst/>
          </a:prstGeom>
          <a:solidFill>
            <a:srgbClr val="16C7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599" y="3246120"/>
            <a:ext cx="5715000" cy="72237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</a:rPr>
              <a:t>¿Qué señales disparan C+ y el arranque?</a:t>
            </a:r>
          </a:p>
        </p:txBody>
      </p:sp>
      <p:sp>
        <p:nvSpPr>
          <p:cNvPr id="14" name="Oval 13"/>
          <p:cNvSpPr/>
          <p:nvPr/>
        </p:nvSpPr>
        <p:spPr>
          <a:xfrm>
            <a:off x="5440679" y="4014215"/>
            <a:ext cx="384048" cy="384048"/>
          </a:xfrm>
          <a:prstGeom prst="ellipse">
            <a:avLst/>
          </a:prstGeom>
          <a:solidFill>
            <a:srgbClr val="16C7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599" y="3968496"/>
            <a:ext cx="5715000" cy="72237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</a:rPr>
              <a:t>Selectores D, E, F: ¿qué válvula usas si no hay finales de carrera?</a:t>
            </a:r>
          </a:p>
        </p:txBody>
      </p:sp>
      <p:sp>
        <p:nvSpPr>
          <p:cNvPr id="16" name="Oval 15"/>
          <p:cNvSpPr/>
          <p:nvPr/>
        </p:nvSpPr>
        <p:spPr>
          <a:xfrm>
            <a:off x="5440679" y="4736592"/>
            <a:ext cx="384048" cy="384048"/>
          </a:xfrm>
          <a:prstGeom prst="ellipse">
            <a:avLst/>
          </a:prstGeom>
          <a:solidFill>
            <a:srgbClr val="16C7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599" y="4690872"/>
            <a:ext cx="5715000" cy="72237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</a:rPr>
              <a:t>Dibuja dos esquemas: estación de estampado y faja.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64240" cy="914400"/>
          </a:xfrm>
        </p:spPr>
        <p:txBody>
          <a:bodyPr/>
          <a:lstStyle/>
          <a:p>
            <a:r>
              <a:rPr b="1" sz="3000">
                <a:solidFill>
                  <a:srgbClr val="042254"/>
                </a:solidFill>
              </a:rPr>
              <a:t>Solución · Estampado (2 grupos tras fusionar)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27496156-AF75-4A77-84D4-3A5309227CA8}" type="slidenum">
              <a:rPr lang="es-PE"/>
              <a:t>19</a:t>
            </a:fld>
          </a:p>
        </p:txBody>
      </p:sp>
      <p:pic>
        <p:nvPicPr>
          <p:cNvPr id="4" name="e2_1_estampado_ABC" descr="e2_1_estampado_AB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679" y="1280160"/>
            <a:ext cx="6955121" cy="4297680"/>
          </a:xfrm>
          <a:prstGeom prst="rect">
            <a:avLst/>
          </a:prstGeom>
        </p:spPr>
      </p:pic>
      <p:pic>
        <p:nvPicPr>
          <p:cNvPr id="5" name="fase_e2_1" descr="fase_e2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1767" y="1325880"/>
            <a:ext cx="3064664" cy="19202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229600" y="3337560"/>
            <a:ext cx="3429000" cy="2148840"/>
          </a:xfrm>
          <a:prstGeom prst="roundRect">
            <a:avLst>
              <a:gd name="adj" fmla="val 8000"/>
            </a:avLst>
          </a:prstGeom>
          <a:solidFill>
            <a:srgbClr val="E3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339327" y="3410712"/>
            <a:ext cx="3209544" cy="20025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19456">
              <a:spcAft>
                <a:spcPts val="300"/>
              </a:spcAft>
              <a:buClr>
                <a:srgbClr val="16C78E"/>
              </a:buClr>
              <a:buChar char="•"/>
            </a:pPr>
            <a:r>
              <a:rPr sz="1400" b="0" i="0">
                <a:solidFill>
                  <a:srgbClr val="1A1A1A"/>
                </a:solidFill>
              </a:rPr>
              <a:t>I = C− A+ B+ ; II = A− B− C+</a:t>
            </a:r>
          </a:p>
          <a:p>
            <a:pPr algn="l" marL="256032" indent="-219456">
              <a:spcAft>
                <a:spcPts val="300"/>
              </a:spcAft>
              <a:buClr>
                <a:srgbClr val="16C78E"/>
              </a:buClr>
              <a:buChar char="•"/>
            </a:pPr>
            <a:r>
              <a:rPr sz="1400" b="0" i="0">
                <a:solidFill>
                  <a:srgbClr val="1A1A1A"/>
                </a:solidFill>
              </a:rPr>
              <a:t>Reposo: línea I con aire (C− asegurado)</a:t>
            </a:r>
          </a:p>
          <a:p>
            <a:pPr algn="l" marL="256032" indent="-219456">
              <a:spcAft>
                <a:spcPts val="300"/>
              </a:spcAft>
              <a:buClr>
                <a:srgbClr val="16C78E"/>
              </a:buClr>
              <a:buChar char="•"/>
            </a:pPr>
            <a:r>
              <a:rPr sz="1400" b="0" i="0">
                <a:solidFill>
                  <a:srgbClr val="1A1A1A"/>
                </a:solidFill>
              </a:rPr>
              <a:t>S · c0 → A+ ; a1 → B+ ; b1 → II</a:t>
            </a:r>
          </a:p>
          <a:p>
            <a:pPr algn="l" marL="256032" indent="-219456">
              <a:spcAft>
                <a:spcPts val="300"/>
              </a:spcAft>
              <a:buClr>
                <a:srgbClr val="16C78E"/>
              </a:buClr>
              <a:buChar char="•"/>
            </a:pPr>
            <a:r>
              <a:rPr sz="1400" b="0" i="0">
                <a:solidFill>
                  <a:srgbClr val="1A1A1A"/>
                </a:solidFill>
              </a:rPr>
              <a:t>II: A−, B− directos; a0 · b0 → C+ ; c1 → I</a:t>
            </a:r>
          </a:p>
          <a:p>
            <a:pPr algn="l" marL="256032" indent="-219456">
              <a:spcAft>
                <a:spcPts val="300"/>
              </a:spcAft>
              <a:buClr>
                <a:srgbClr val="16C78E"/>
              </a:buClr>
              <a:buChar char="•"/>
            </a:pPr>
            <a:r>
              <a:rPr sz="1400" b="0" i="0">
                <a:solidFill>
                  <a:srgbClr val="1A1A1A"/>
                </a:solidFill>
              </a:rPr>
              <a:t>Sin fusionar serían 3 grupos (2 VG)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64240" cy="914400"/>
          </a:xfrm>
        </p:spPr>
        <p:txBody>
          <a:bodyPr/>
          <a:lstStyle/>
          <a:p>
            <a:r>
              <a:rPr b="1" sz="3000">
                <a:solidFill>
                  <a:srgbClr val="042254"/>
                </a:solidFill>
              </a:rPr>
              <a:t>Solución · Selectores D, E, F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4316ECAF-1846-4ACB-99C5-C8113DFAC824}" type="slidenum">
              <a:rPr lang="es-PE"/>
              <a:t>20</a:t>
            </a:fld>
          </a:p>
        </p:txBody>
      </p:sp>
      <p:pic>
        <p:nvPicPr>
          <p:cNvPr id="4" name="e2_1_selectores_DEF" descr="e2_1_selectores_DE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3470" y="1463040"/>
            <a:ext cx="9974580" cy="31089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4663440"/>
            <a:ext cx="11064240" cy="777240"/>
          </a:xfrm>
          <a:prstGeom prst="roundRect">
            <a:avLst>
              <a:gd name="adj" fmla="val 8000"/>
            </a:avLst>
          </a:prstGeom>
          <a:solidFill>
            <a:srgbClr val="E3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31520" y="4709160"/>
            <a:ext cx="10698480" cy="6858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</a:rPr>
              <a:t>Cada selector: 5/2 pulsador/resorte + cilindro de doble efecto (alternativa: 3/2 + simple efecto).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64240" cy="914400"/>
          </a:xfrm>
        </p:spPr>
        <p:txBody>
          <a:bodyPr/>
          <a:lstStyle/>
          <a:p>
            <a:r>
              <a:rPr b="1" sz="3000">
                <a:solidFill>
                  <a:srgbClr val="042254"/>
                </a:solidFill>
              </a:rPr>
              <a:t>Errores frecuentes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61533905-66A7-4321-A50D-74C2FD4A4CFF}" type="slidenum">
              <a:rPr lang="es-PE"/>
              <a:t>21</a:t>
            </a:fld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5440680" cy="1188720"/>
          </a:xfrm>
          <a:prstGeom prst="roundRect">
            <a:avLst>
              <a:gd name="adj" fmla="val 8000"/>
            </a:avLst>
          </a:prstGeom>
          <a:solidFill>
            <a:srgbClr val="EC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512064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C0392B"/>
                </a:solidFill>
              </a:rPr>
              <a:t>a0 dibujado sin accionar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965960"/>
            <a:ext cx="512064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A1A1A"/>
                </a:solidFill>
              </a:rPr>
              <a:t>En reposo el vástago pisa a0: se dibuja accionado.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463040"/>
            <a:ext cx="5440680" cy="1188720"/>
          </a:xfrm>
          <a:prstGeom prst="roundRect">
            <a:avLst>
              <a:gd name="adj" fmla="val 8000"/>
            </a:avLst>
          </a:prstGeom>
          <a:solidFill>
            <a:srgbClr val="E3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355080" y="1554480"/>
            <a:ext cx="512064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C0392B"/>
                </a:solidFill>
              </a:rPr>
              <a:t>Antirretorno al revés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1965960"/>
            <a:ext cx="512064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A1A1A"/>
                </a:solidFill>
              </a:rPr>
              <a:t>Frena el movimiento equivocado: paso libre HACIA el cilindro.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88920"/>
            <a:ext cx="5440680" cy="1188720"/>
          </a:xfrm>
          <a:prstGeom prst="roundRect">
            <a:avLst>
              <a:gd name="adj" fmla="val 8000"/>
            </a:avLst>
          </a:prstGeom>
          <a:solidFill>
            <a:srgbClr val="EC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31520" y="2880360"/>
            <a:ext cx="512064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C0392B"/>
                </a:solidFill>
              </a:rPr>
              <a:t>Monoestable con pulsos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291839"/>
            <a:ext cx="512064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A1A1A"/>
                </a:solidFill>
              </a:rPr>
              <a:t>El cilindro regresa al soltar: usa 5/2 biestable.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2788920"/>
            <a:ext cx="5440680" cy="1188720"/>
          </a:xfrm>
          <a:prstGeom prst="roundRect">
            <a:avLst>
              <a:gd name="adj" fmla="val 8000"/>
            </a:avLst>
          </a:prstGeom>
          <a:solidFill>
            <a:srgbClr val="E3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355080" y="2880360"/>
            <a:ext cx="512064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C0392B"/>
                </a:solidFill>
              </a:rPr>
              <a:t>Rodillos alimentados desde la fuente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3291839"/>
            <a:ext cx="512064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A1A1A"/>
                </a:solidFill>
              </a:rPr>
              <a:t>En cascada se alimentan desde la línea del grupo.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114800"/>
            <a:ext cx="5440680" cy="1188720"/>
          </a:xfrm>
          <a:prstGeom prst="roundRect">
            <a:avLst>
              <a:gd name="adj" fmla="val 8000"/>
            </a:avLst>
          </a:prstGeom>
          <a:solidFill>
            <a:srgbClr val="EC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31520" y="4206240"/>
            <a:ext cx="512064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C0392B"/>
                </a:solidFill>
              </a:rPr>
              <a:t>Arranque sin condición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512064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A1A1A"/>
                </a:solidFill>
              </a:rPr>
              <a:t>S debe ir en serie con el final del ciclo (a0, b0…).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4114800"/>
            <a:ext cx="5440680" cy="1188720"/>
          </a:xfrm>
          <a:prstGeom prst="roundRect">
            <a:avLst>
              <a:gd name="adj" fmla="val 8000"/>
            </a:avLst>
          </a:prstGeom>
          <a:solidFill>
            <a:srgbClr val="E3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355080" y="4206240"/>
            <a:ext cx="512064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C0392B"/>
                </a:solidFill>
              </a:rPr>
              <a:t>Etiquetas que no coinciden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4617720"/>
            <a:ext cx="512064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A1A1A"/>
                </a:solidFill>
              </a:rPr>
              <a:t>En FluidSim el rodillo 'a1' no actúa si la marca del cilindro se llama distinto.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64240" cy="914400"/>
          </a:xfrm>
        </p:spPr>
        <p:txBody>
          <a:bodyPr/>
          <a:lstStyle/>
          <a:p>
            <a:r>
              <a:rPr b="1" sz="3000">
                <a:solidFill>
                  <a:srgbClr val="042254"/>
                </a:solidFill>
              </a:rPr>
              <a:t>Lista de verificación de tu circuito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60D4BE09-A9CE-4965-BECE-9DE9F9A7AB00}" type="slidenum">
              <a:rPr lang="es-PE"/>
              <a:t>22</a:t>
            </a:fld>
          </a:p>
        </p:txBody>
      </p:sp>
      <p:sp>
        <p:nvSpPr>
          <p:cNvPr id="4" name="Rectangle 3"/>
          <p:cNvSpPr/>
          <p:nvPr/>
        </p:nvSpPr>
        <p:spPr>
          <a:xfrm>
            <a:off x="548640" y="1572768"/>
            <a:ext cx="411480" cy="411480"/>
          </a:xfrm>
          <a:prstGeom prst="rect">
            <a:avLst/>
          </a:prstGeom>
          <a:solidFill>
            <a:srgbClr val="E3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143000" y="1463040"/>
            <a:ext cx="4937760" cy="6858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A1A1A"/>
                </a:solidFill>
              </a:rPr>
              <a:t>Secuencia escrita y diagrama espacio-fase con las señales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532888"/>
            <a:ext cx="411480" cy="411480"/>
          </a:xfrm>
          <a:prstGeom prst="rect">
            <a:avLst/>
          </a:prstGeom>
          <a:solidFill>
            <a:srgbClr val="E3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143000" y="2423160"/>
            <a:ext cx="4937760" cy="6858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A1A1A"/>
                </a:solidFill>
              </a:rPr>
              <a:t>Esquema por niveles y en posición de reposo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493008"/>
            <a:ext cx="411480" cy="411480"/>
          </a:xfrm>
          <a:prstGeom prst="rect">
            <a:avLst/>
          </a:prstGeom>
          <a:solidFill>
            <a:srgbClr val="E3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143000" y="3383280"/>
            <a:ext cx="4937760" cy="6858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A1A1A"/>
                </a:solidFill>
              </a:rPr>
              <a:t>Nombres: A, B, C; VA, VB; a0, a1… también en el cilindro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453128"/>
            <a:ext cx="411480" cy="411480"/>
          </a:xfrm>
          <a:prstGeom prst="rect">
            <a:avLst/>
          </a:prstGeom>
          <a:solidFill>
            <a:srgbClr val="E3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143000" y="4343400"/>
            <a:ext cx="4937760" cy="6858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A1A1A"/>
                </a:solidFill>
              </a:rPr>
              <a:t>Válvulas de potencia adecuadas (memoria donde hay pulsos)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1572768"/>
            <a:ext cx="411480" cy="411480"/>
          </a:xfrm>
          <a:prstGeom prst="rect">
            <a:avLst/>
          </a:prstGeom>
          <a:solidFill>
            <a:srgbClr val="E3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766560" y="1463040"/>
            <a:ext cx="4937760" cy="6858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A1A1A"/>
                </a:solidFill>
              </a:rPr>
              <a:t>Reguladoras en el lugar y sentido correctos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2200" y="2532888"/>
            <a:ext cx="411480" cy="411480"/>
          </a:xfrm>
          <a:prstGeom prst="rect">
            <a:avLst/>
          </a:prstGeom>
          <a:solidFill>
            <a:srgbClr val="E3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766560" y="2423160"/>
            <a:ext cx="4937760" cy="6858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A1A1A"/>
                </a:solidFill>
              </a:rPr>
              <a:t>Señales bloqueadas resueltas (cascada o escamoteable)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72200" y="3493008"/>
            <a:ext cx="411480" cy="411480"/>
          </a:xfrm>
          <a:prstGeom prst="rect">
            <a:avLst/>
          </a:prstGeom>
          <a:solidFill>
            <a:srgbClr val="E3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766560" y="3383280"/>
            <a:ext cx="4937760" cy="6858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A1A1A"/>
                </a:solidFill>
              </a:rPr>
              <a:t>Condición de arranque y de seguridad cumplida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2200" y="4453128"/>
            <a:ext cx="411480" cy="411480"/>
          </a:xfrm>
          <a:prstGeom prst="rect">
            <a:avLst/>
          </a:prstGeom>
          <a:solidFill>
            <a:srgbClr val="E3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766560" y="4343400"/>
            <a:ext cx="4937760" cy="6858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A1A1A"/>
                </a:solidFill>
              </a:rPr>
              <a:t>Simulación verificada fase por fase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Tema de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Tema de Office">
  <a:themeElements>
    <a:clrScheme name="PUCP">
      <a:dk1>
        <a:srgbClr val="191919"/>
      </a:dk1>
      <a:lt1>
        <a:srgbClr val="FFFFFF"/>
      </a:lt1>
      <a:dk2>
        <a:srgbClr val="042354"/>
      </a:dk2>
      <a:lt2>
        <a:srgbClr val="E7EDED"/>
      </a:lt2>
      <a:accent1>
        <a:srgbClr val="2841DD"/>
      </a:accent1>
      <a:accent2>
        <a:srgbClr val="FF9929"/>
      </a:accent2>
      <a:accent3>
        <a:srgbClr val="7F32C8"/>
      </a:accent3>
      <a:accent4>
        <a:srgbClr val="F0AE19"/>
      </a:accent4>
      <a:accent5>
        <a:srgbClr val="0A7BC2"/>
      </a:accent5>
      <a:accent6>
        <a:srgbClr val="16C78E"/>
      </a:accent6>
      <a:hlink>
        <a:srgbClr val="004EA8"/>
      </a:hlink>
      <a:folHlink>
        <a:srgbClr val="C3094A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